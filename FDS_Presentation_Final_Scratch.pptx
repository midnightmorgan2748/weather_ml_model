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731520"/>
            <a:ext cx="10728655" cy="1645920"/>
          </a:xfrm>
          <a:prstGeom prst="rect">
            <a:avLst/>
          </a:prstGeom>
          <a:noFill/>
        </p:spPr>
        <p:txBody>
          <a:bodyPr wrap="square">
            <a:spAutoFit/>
          </a:bodyPr>
          <a:lstStyle/>
          <a:p>
            <a:r>
              <a:rPr sz="2800" b="1">
                <a:solidFill>
                  <a:srgbClr val="FFFFFF"/>
                </a:solidFill>
                <a:latin typeface="Arial"/>
              </a:rPr>
              <a:t>METEOROLOGICAL DATA ANALYTICS &amp; PREDICTIVE MODELING</a:t>
            </a:r>
          </a:p>
          <a:p>
            <a:r>
              <a:rPr sz="1500">
                <a:solidFill>
                  <a:srgbClr val="94A3B8"/>
                </a:solidFill>
                <a:latin typeface="Calibri"/>
              </a:rPr>
              <a:t>Foundations of Data Science (FDS) Course Project | End-to-End Empirical Investigation</a:t>
            </a:r>
          </a:p>
        </p:txBody>
      </p:sp>
      <p:sp>
        <p:nvSpPr>
          <p:cNvPr id="4" name="Rounded Rectangle 3"/>
          <p:cNvSpPr/>
          <p:nvPr/>
        </p:nvSpPr>
        <p:spPr>
          <a:xfrm>
            <a:off x="731520" y="2560320"/>
            <a:ext cx="5120640" cy="3474720"/>
          </a:xfrm>
          <a:prstGeom prst="roundRect">
            <a:avLst/>
          </a:prstGeom>
          <a:solidFill>
            <a:srgbClr val="1E293B"/>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l"/>
            <a:r>
              <a:rPr sz="1300" b="1">
                <a:solidFill>
                  <a:srgbClr val="2563EB"/>
                </a:solidFill>
                <a:latin typeface="Arial"/>
              </a:rPr>
              <a:t>★ TEAM LEAD &amp; PROBLEM FORMULATION</a:t>
            </a:r>
          </a:p>
          <a:p>
            <a:pPr algn="l"/>
            <a:r>
              <a:rPr sz="600" b="0">
                <a:latin typeface="Calibri"/>
              </a:rPr>
              <a:t/>
            </a:r>
          </a:p>
          <a:p>
            <a:pPr algn="l"/>
            <a:r>
              <a:rPr sz="1800" b="1">
                <a:solidFill>
                  <a:srgbClr val="FFFFFF"/>
                </a:solidFill>
                <a:latin typeface="Arial"/>
              </a:rPr>
              <a:t>DHANASRI RAGHAVENDER REDDY</a:t>
            </a:r>
          </a:p>
          <a:p>
            <a:pPr algn="l"/>
            <a:r>
              <a:rPr sz="1300" b="1">
                <a:solidFill>
                  <a:srgbClr val="D97706"/>
                </a:solidFill>
                <a:latin typeface="Calibri"/>
              </a:rPr>
              <a:t>Known as: Raghu  |  Roll No: 252U1R3024</a:t>
            </a:r>
          </a:p>
          <a:p>
            <a:pPr algn="l"/>
            <a:r>
              <a:rPr sz="1300" b="0">
                <a:solidFill>
                  <a:srgbClr val="CBD5E1"/>
                </a:solidFill>
                <a:latin typeface="Calibri"/>
              </a:rPr>
              <a:t>Designated Role: Data Product &amp; Problem Lead</a:t>
            </a:r>
          </a:p>
          <a:p>
            <a:pPr algn="l"/>
            <a:r>
              <a:rPr sz="1000" b="0">
                <a:latin typeface="Calibri"/>
              </a:rPr>
              <a:t/>
            </a:r>
          </a:p>
          <a:p>
            <a:pPr algn="l"/>
            <a:r>
              <a:rPr sz="1200" b="1">
                <a:solidFill>
                  <a:srgbClr val="FFFFFF"/>
                </a:solidFill>
                <a:latin typeface="Calibri"/>
              </a:rPr>
              <a:t>Core Project Contributions:</a:t>
            </a:r>
          </a:p>
          <a:p>
            <a:pPr algn="l"/>
            <a:r>
              <a:rPr sz="1150" b="0">
                <a:solidFill>
                  <a:srgbClr val="E2E8F0"/>
                </a:solidFill>
                <a:latin typeface="Calibri"/>
              </a:rPr>
              <a:t>• Project architecture, problem formulation &amp; hypothesis scope
• High-level dataset governance &amp; stakeholder alignment
• Grounding findings against 5 contemporary research papers
• Executive synthesis and final academic reporting</a:t>
            </a:r>
          </a:p>
        </p:txBody>
      </p:sp>
      <p:sp>
        <p:nvSpPr>
          <p:cNvPr id="5" name="Rounded Rectangle 4"/>
          <p:cNvSpPr/>
          <p:nvPr/>
        </p:nvSpPr>
        <p:spPr>
          <a:xfrm>
            <a:off x="6126480" y="2560320"/>
            <a:ext cx="5303520" cy="3474720"/>
          </a:xfrm>
          <a:prstGeom prst="roundRect">
            <a:avLst/>
          </a:prstGeom>
          <a:solidFill>
            <a:srgbClr val="1E293B"/>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l"/>
            <a:r>
              <a:rPr sz="1300" b="1">
                <a:solidFill>
                  <a:srgbClr val="94A3B8"/>
                </a:solidFill>
                <a:latin typeface="Arial"/>
              </a:rPr>
              <a:t>PROJECT TEAM MEMBERS &amp; ROLES</a:t>
            </a:r>
          </a:p>
          <a:p>
            <a:pPr algn="l"/>
            <a:r>
              <a:rPr sz="600" b="0">
                <a:latin typeface="Calibri"/>
              </a:rPr>
              <a:t/>
            </a:r>
          </a:p>
          <a:p>
            <a:pPr algn="l"/>
            <a:r>
              <a:rPr sz="1300" b="1">
                <a:solidFill>
                  <a:srgbClr val="7C3AED"/>
                </a:solidFill>
                <a:latin typeface="Calibri"/>
              </a:rPr>
              <a:t>1. KASAM PRANAV REDDY (252U1R3039)</a:t>
            </a:r>
          </a:p>
          <a:p>
            <a:pPr algn="l"/>
            <a:r>
              <a:rPr sz="1100" b="0">
                <a:solidFill>
                  <a:srgbClr val="CBD5E1"/>
                </a:solidFill>
                <a:latin typeface="Calibri"/>
              </a:rPr>
              <a:t>   Role: Visualization, Dashboard &amp; Data Storytelling Lead (Cells 1–8)</a:t>
            </a:r>
          </a:p>
          <a:p>
            <a:pPr algn="l"/>
            <a:r>
              <a:rPr sz="400" b="0">
                <a:latin typeface="Calibri"/>
              </a:rPr>
              <a:t/>
            </a:r>
          </a:p>
          <a:p>
            <a:pPr algn="l"/>
            <a:r>
              <a:rPr sz="1300" b="1">
                <a:solidFill>
                  <a:srgbClr val="059669"/>
                </a:solidFill>
                <a:latin typeface="Calibri"/>
              </a:rPr>
              <a:t>2. KUNCHAM LOKESH (252U1R3046)</a:t>
            </a:r>
          </a:p>
          <a:p>
            <a:pPr algn="l"/>
            <a:r>
              <a:rPr sz="1100" b="0">
                <a:solidFill>
                  <a:srgbClr val="CBD5E1"/>
                </a:solidFill>
                <a:latin typeface="Calibri"/>
              </a:rPr>
              <a:t>   Role: Storytelling &amp; Anomaly Detection Lead (Cells 9–14)</a:t>
            </a:r>
          </a:p>
          <a:p>
            <a:pPr algn="l"/>
            <a:r>
              <a:rPr sz="400" b="0">
                <a:latin typeface="Calibri"/>
              </a:rPr>
              <a:t/>
            </a:r>
          </a:p>
          <a:p>
            <a:pPr algn="l"/>
            <a:r>
              <a:rPr sz="1300" b="1">
                <a:solidFill>
                  <a:srgbClr val="D97706"/>
                </a:solidFill>
                <a:latin typeface="Calibri"/>
              </a:rPr>
              <a:t>3. KOTA SAI MANI RUPESH (252U1R3045)</a:t>
            </a:r>
          </a:p>
          <a:p>
            <a:pPr algn="l"/>
            <a:r>
              <a:rPr sz="1100" b="0">
                <a:solidFill>
                  <a:srgbClr val="CBD5E1"/>
                </a:solidFill>
                <a:latin typeface="Calibri"/>
              </a:rPr>
              <a:t>   Role: Data Preparation &amp; Feature Engineering Lead (Cells 15–33)</a:t>
            </a:r>
          </a:p>
          <a:p>
            <a:pPr algn="l"/>
            <a:r>
              <a:rPr sz="400" b="0">
                <a:latin typeface="Calibri"/>
              </a:rPr>
              <a:t/>
            </a:r>
          </a:p>
          <a:p>
            <a:pPr algn="l"/>
            <a:r>
              <a:rPr sz="1300" b="1">
                <a:solidFill>
                  <a:srgbClr val="E11D48"/>
                </a:solidFill>
                <a:latin typeface="Calibri"/>
              </a:rPr>
              <a:t>4. MANCHIKANTI VENKATA MOUNEESH KUMAR (252U1R3049)</a:t>
            </a:r>
          </a:p>
          <a:p>
            <a:pPr algn="l"/>
            <a:r>
              <a:rPr sz="1100" b="0">
                <a:solidFill>
                  <a:srgbClr val="CBD5E1"/>
                </a:solidFill>
                <a:latin typeface="Calibri"/>
              </a:rPr>
              <a:t>   Role: Statistical &amp; Predictive Analytics Lead (Cells 34–69)</a:t>
            </a:r>
          </a:p>
        </p:txBody>
      </p:sp>
      <p:sp>
        <p:nvSpPr>
          <p:cNvPr id="6" name="TextBox 5"/>
          <p:cNvSpPr txBox="1"/>
          <p:nvPr/>
        </p:nvSpPr>
        <p:spPr>
          <a:xfrm>
            <a:off x="731520" y="6217920"/>
            <a:ext cx="10728655" cy="365760"/>
          </a:xfrm>
          <a:prstGeom prst="rect">
            <a:avLst/>
          </a:prstGeom>
          <a:noFill/>
        </p:spPr>
        <p:txBody>
          <a:bodyPr wrap="none">
            <a:spAutoFit/>
          </a:bodyPr>
          <a:lstStyle/>
          <a:p>
            <a:r>
              <a:rPr sz="1100">
                <a:solidFill>
                  <a:srgbClr val="64748B"/>
                </a:solidFill>
              </a:rPr>
              <a:t>Department of Computer Science &amp; Engineering | Academic Year 2026 | Slide 1 of 20</a:t>
            </a:r>
          </a:p>
        </p:txBody>
      </p:sp>
    </p:spTree>
  </p:cSld>
  <p:clrMapOvr>
    <a:masterClrMapping/>
  </p:clrMapOvr>
  <p:transition spd="med" advClick="1">
    <p:fade/>
  </p:transition>
  <p:timing>
    <p:tnLst>
      <p:par>
        <p:cTn id="1" dur="indefinite" restart="always"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tgtEl>
                                    <p:spTgt spid="3"/>
                                  </p:tgtEl>
                                  <p:attrNameLst>
                                    <p:attrName>style.visibility</p:attrName>
                                  </p:attrNameLst>
                                </p:cBhvr>
                                <p:to>
                                  <p:strVal val="visible"/>
                                </p:to>
                              </p:set>
                              <p:animEffect transition="in" filter="fade">
                                <p:cBhvr>
                                  <p:cTn id="6" dur="500" fill="hold"/>
                                  <p:tgtEl>
                                    <p:spTgt spid="3"/>
                                  </p:tgtEl>
                                </p:cBhvr>
                              </p:animEffect>
                            </p:childTnLst>
                          </p:cTn>
                        </p:par>
                      </p:childTnLst>
                    </p:cTn>
                  </p:par>
                  <p:par>
                    <p:cTn id="7" fill="hold">
                      <p:stCondLst>
                        <p:cond delay="0"/>
                      </p:stCondLst>
                      <p:childTnLst>
                        <p:par>
                          <p:cTn id="8" fill="hold">
                            <p:stCondLst>
                              <p:cond delay="0"/>
                            </p:stCondLst>
                            <p:childTnLst>
                              <p:set>
                                <p:cBhvr>
                                  <p:cTn id="9" dur="1" fill="hold"/>
                                  <p:tgtEl>
                                    <p:spTgt spid="4"/>
                                  </p:tgtEl>
                                  <p:attrNameLst>
                                    <p:attrName>style.visibility</p:attrName>
                                  </p:attrNameLst>
                                </p:cBhvr>
                                <p:to>
                                  <p:strVal val="visible"/>
                                </p:to>
                              </p:set>
                              <p:animEffect transition="in" filter="fade">
                                <p:cBhvr>
                                  <p:cTn id="10" dur="500" fill="hold"/>
                                  <p:tgtEl>
                                    <p:spTgt spid="4"/>
                                  </p:tgtEl>
                                </p:cBhvr>
                              </p:animEffect>
                            </p:childTnLst>
                          </p:cTn>
                        </p:par>
                      </p:childTnLst>
                    </p:cTn>
                  </p:par>
                  <p:par>
                    <p:cTn id="11" fill="hold">
                      <p:stCondLst>
                        <p:cond delay="0"/>
                      </p:stCondLst>
                      <p:childTnLst>
                        <p:par>
                          <p:cTn id="12" fill="hold">
                            <p:stCondLst>
                              <p:cond delay="0"/>
                            </p:stCondLst>
                            <p:childTnLst>
                              <p:set>
                                <p:cBhvr>
                                  <p:cTn id="13" dur="1" fill="hold"/>
                                  <p:tgtEl>
                                    <p:spTgt spid="5"/>
                                  </p:tgtEl>
                                  <p:attrNameLst>
                                    <p:attrName>style.visibility</p:attrName>
                                  </p:attrNameLst>
                                </p:cBhvr>
                                <p:to>
                                  <p:strVal val="visible"/>
                                </p:to>
                              </p:set>
                              <p:animEffect transition="in" filter="fade">
                                <p:cBhvr>
                                  <p:cTn id="14" dur="500" fill="hold"/>
                                  <p:tgtEl>
                                    <p:spTgt spid="5"/>
                                  </p:tgtEl>
                                </p:cBhvr>
                              </p:animEffect>
                            </p:childTnLst>
                          </p:cTn>
                        </p:par>
                      </p:childTnLst>
                    </p:cTn>
                  </p:par>
                </p:childTnLst>
              </p:cTn>
              <p:prevCondLst>
                <p:cond evt="onPrev" delay="0">
                  <p:tgtEl>
                    <p:spTgt spid="0"/>
                  </p:tgtEl>
                </p:cond>
              </p:prevCondLst>
              <p:nextCondLst>
                <p:cond evt="onNext" delay="0">
                  <p:tgtEl>
                    <p:spTgt spid="0"/>
                  </p:tgtEl>
                </p:cond>
              </p:nextCondLst>
            </p:seq>
          </p:childTnLst>
        </p:cTn>
      </p:par>
    </p:tnLst>
    <p:bldLst>
      <p:bldSp spid="3" grpId="0" animBg="true"/>
      <p:bldSp spid="4" grpId="0" animBg="true"/>
      <p:bldSp spid="5" grpId="0" animBg="true"/>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4747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FFFFF"/>
                </a:solidFill>
                <a:latin typeface="Arial"/>
              </a:rPr>
              <a:t>PART 1: TEAM LEAD | DHANASRI RAGHAVENDER REDDY</a:t>
            </a:r>
          </a:p>
        </p:txBody>
      </p:sp>
      <p:sp>
        <p:nvSpPr>
          <p:cNvPr id="4" name="TextBox 3"/>
          <p:cNvSpPr txBox="1"/>
          <p:nvPr/>
        </p:nvSpPr>
        <p:spPr>
          <a:xfrm>
            <a:off x="731520" y="749808"/>
            <a:ext cx="10698480" cy="868680"/>
          </a:xfrm>
          <a:prstGeom prst="rect">
            <a:avLst/>
          </a:prstGeom>
          <a:noFill/>
        </p:spPr>
        <p:txBody>
          <a:bodyPr wrap="square" lIns="0" tIns="0" rIns="0" bIns="0">
            <a:spAutoFit/>
          </a:bodyPr>
          <a:lstStyle/>
          <a:p>
            <a:r>
              <a:rPr sz="2200" b="1">
                <a:solidFill>
                  <a:srgbClr val="0F172A"/>
                </a:solidFill>
                <a:latin typeface="Arial"/>
              </a:rPr>
              <a:t>Presentation Roadmap &amp; Agenda</a:t>
            </a:r>
          </a:p>
          <a:p>
            <a:r>
              <a:rPr sz="1300">
                <a:solidFill>
                  <a:srgbClr val="64748B"/>
                </a:solidFill>
                <a:latin typeface="Calibri"/>
              </a:rPr>
              <a:t>Structured end-to-end walkthrough from problem statement to research literature</a:t>
            </a:r>
          </a:p>
        </p:txBody>
      </p:sp>
      <p:sp>
        <p:nvSpPr>
          <p:cNvPr id="5" name="Rectangle 4"/>
          <p:cNvSpPr/>
          <p:nvPr/>
        </p:nvSpPr>
        <p:spPr>
          <a:xfrm>
            <a:off x="731520" y="166420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728655" cy="274320"/>
          </a:xfrm>
          <a:prstGeom prst="rect">
            <a:avLst/>
          </a:prstGeom>
          <a:noFill/>
        </p:spPr>
        <p:txBody>
          <a:bodyPr wrap="none" lIns="0" tIns="0" rIns="0" bIns="0">
            <a:spAutoFit/>
          </a:bodyPr>
          <a:lstStyle/>
          <a:p>
            <a:r>
              <a:rPr sz="1000">
                <a:solidFill>
                  <a:srgbClr val="64748B"/>
                </a:solidFill>
                <a:latin typeface="Calibri"/>
              </a:rPr>
              <a:t>Foundations of Data Science (FDS) Course Project | Team 252U1R</a:t>
            </a:r>
            <a:r>
              <a:t>                                                                                               </a:t>
            </a:r>
            <a:r>
              <a:rPr sz="1000" b="1">
                <a:solidFill>
                  <a:srgbClr val="2563EB"/>
                </a:solidFill>
                <a:latin typeface="Calibri"/>
              </a:rPr>
              <a:t>Slide 2 of 20</a:t>
            </a:r>
          </a:p>
        </p:txBody>
      </p:sp>
      <p:sp>
        <p:nvSpPr>
          <p:cNvPr id="7" name="Rounded Rectangle 6"/>
          <p:cNvSpPr/>
          <p:nvPr/>
        </p:nvSpPr>
        <p:spPr>
          <a:xfrm>
            <a:off x="731520" y="1920240"/>
            <a:ext cx="5257800" cy="12801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l"/>
            <a:r>
              <a:rPr sz="1300" b="1">
                <a:solidFill>
                  <a:srgbClr val="0F172A"/>
                </a:solidFill>
                <a:latin typeface="Arial"/>
              </a:rPr>
              <a:t>01. Problem Statement &amp; Dataset Brief</a:t>
            </a:r>
          </a:p>
          <a:p>
            <a:pPr algn="l"/>
            <a:r>
              <a:rPr sz="1100" b="1">
                <a:solidFill>
                  <a:srgbClr val="2563EB"/>
                </a:solidFill>
                <a:latin typeface="Calibri"/>
              </a:rPr>
              <a:t>Presenter: Dhanasri Raghavender Reddy (Raghu)</a:t>
            </a:r>
          </a:p>
          <a:p>
            <a:pPr algn="l"/>
            <a:r>
              <a:rPr sz="1100" b="0">
                <a:solidFill>
                  <a:srgbClr val="334155"/>
                </a:solidFill>
                <a:latin typeface="Calibri"/>
              </a:rPr>
              <a:t>Problem formulation, atmospheric questions, and raw dataset architecture.</a:t>
            </a:r>
          </a:p>
        </p:txBody>
      </p:sp>
      <p:sp>
        <p:nvSpPr>
          <p:cNvPr id="8" name="Rounded Rectangle 7"/>
          <p:cNvSpPr/>
          <p:nvPr/>
        </p:nvSpPr>
        <p:spPr>
          <a:xfrm>
            <a:off x="6172200" y="1920240"/>
            <a:ext cx="5257800" cy="12801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l"/>
            <a:r>
              <a:rPr sz="1300" b="1">
                <a:solidFill>
                  <a:srgbClr val="0F172A"/>
                </a:solidFill>
                <a:latin typeface="Arial"/>
              </a:rPr>
              <a:t>02. Initial Inspection &amp; df.describe()</a:t>
            </a:r>
          </a:p>
          <a:p>
            <a:pPr algn="l"/>
            <a:r>
              <a:rPr sz="1100" b="1">
                <a:solidFill>
                  <a:srgbClr val="7C3AED"/>
                </a:solidFill>
                <a:latin typeface="Calibri"/>
              </a:rPr>
              <a:t>Presenter: Kasam Pranav Reddy</a:t>
            </a:r>
          </a:p>
          <a:p>
            <a:pPr algn="l"/>
            <a:r>
              <a:rPr sz="1100" b="0">
                <a:solidFill>
                  <a:srgbClr val="334155"/>
                </a:solidFill>
                <a:latin typeface="Calibri"/>
              </a:rPr>
              <a:t>Loading dataset, verifying shape (30,711 x 12), schema, and summary statistics.</a:t>
            </a:r>
          </a:p>
        </p:txBody>
      </p:sp>
      <p:sp>
        <p:nvSpPr>
          <p:cNvPr id="9" name="Rounded Rectangle 8"/>
          <p:cNvSpPr/>
          <p:nvPr/>
        </p:nvSpPr>
        <p:spPr>
          <a:xfrm>
            <a:off x="731520" y="3337560"/>
            <a:ext cx="5257800" cy="12801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l"/>
            <a:r>
              <a:rPr sz="1300" b="1">
                <a:solidFill>
                  <a:srgbClr val="0F172A"/>
                </a:solidFill>
                <a:latin typeface="Arial"/>
              </a:rPr>
              <a:t>03. Storytelling &amp; Sensor Anomaly Audit</a:t>
            </a:r>
          </a:p>
          <a:p>
            <a:pPr algn="l"/>
            <a:r>
              <a:rPr sz="1100" b="1">
                <a:solidFill>
                  <a:srgbClr val="059669"/>
                </a:solidFill>
                <a:latin typeface="Calibri"/>
              </a:rPr>
              <a:t>Presenter: Kuncham Lokesh</a:t>
            </a:r>
          </a:p>
          <a:p>
            <a:pPr algn="l"/>
            <a:r>
              <a:rPr sz="1100" b="0">
                <a:solidFill>
                  <a:srgbClr val="334155"/>
                </a:solidFill>
                <a:latin typeface="Calibri"/>
              </a:rPr>
              <a:t>Summary counts, Rain/Snow counts, nulls, duplicates, Loud Cover 0s &amp; pressure 0s.</a:t>
            </a:r>
          </a:p>
        </p:txBody>
      </p:sp>
      <p:sp>
        <p:nvSpPr>
          <p:cNvPr id="10" name="Rounded Rectangle 9"/>
          <p:cNvSpPr/>
          <p:nvPr/>
        </p:nvSpPr>
        <p:spPr>
          <a:xfrm>
            <a:off x="6172200" y="3337560"/>
            <a:ext cx="5257800" cy="12801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l"/>
            <a:r>
              <a:rPr sz="1300" b="1">
                <a:solidFill>
                  <a:srgbClr val="0F172A"/>
                </a:solidFill>
                <a:latin typeface="Arial"/>
              </a:rPr>
              <a:t>04. Data Hygiene &amp; Feature Engineering</a:t>
            </a:r>
          </a:p>
          <a:p>
            <a:pPr algn="l"/>
            <a:r>
              <a:rPr sz="1100" b="1">
                <a:solidFill>
                  <a:srgbClr val="D97706"/>
                </a:solidFill>
                <a:latin typeface="Calibri"/>
              </a:rPr>
              <a:t>Presenter: Kota Sai Mani Rupesh</a:t>
            </a:r>
          </a:p>
          <a:p>
            <a:pPr algn="l"/>
            <a:r>
              <a:rPr sz="1100" b="0">
                <a:solidFill>
                  <a:srgbClr val="334155"/>
                </a:solidFill>
                <a:latin typeface="Calibri"/>
              </a:rPr>
              <a:t>Cleaning pipeline, temporal decomposition, Temp Diff, daytime flag, and IQR outliers.</a:t>
            </a:r>
          </a:p>
        </p:txBody>
      </p:sp>
      <p:sp>
        <p:nvSpPr>
          <p:cNvPr id="11" name="Rounded Rectangle 10"/>
          <p:cNvSpPr/>
          <p:nvPr/>
        </p:nvSpPr>
        <p:spPr>
          <a:xfrm>
            <a:off x="731520" y="4754880"/>
            <a:ext cx="5257800" cy="12801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l"/>
            <a:r>
              <a:rPr sz="1300" b="1">
                <a:solidFill>
                  <a:srgbClr val="0F172A"/>
                </a:solidFill>
                <a:latin typeface="Arial"/>
              </a:rPr>
              <a:t>05. Statistical Tests &amp; Machine Learning</a:t>
            </a:r>
          </a:p>
          <a:p>
            <a:pPr algn="l"/>
            <a:r>
              <a:rPr sz="1100" b="1">
                <a:solidFill>
                  <a:srgbClr val="E11D48"/>
                </a:solidFill>
                <a:latin typeface="Calibri"/>
              </a:rPr>
              <a:t>Presenter: Manchikanti Venkata Mouneesh Kumar</a:t>
            </a:r>
          </a:p>
          <a:p>
            <a:pPr algn="l"/>
            <a:r>
              <a:rPr sz="1100" b="0">
                <a:solidFill>
                  <a:srgbClr val="334155"/>
                </a:solidFill>
                <a:latin typeface="Calibri"/>
              </a:rPr>
              <a:t>Correlation matrix, t-tests, ANOVA, Linear Regression, Logistic Classifier, K-Means &amp; PCA.</a:t>
            </a:r>
          </a:p>
        </p:txBody>
      </p:sp>
      <p:sp>
        <p:nvSpPr>
          <p:cNvPr id="12" name="Rounded Rectangle 11"/>
          <p:cNvSpPr/>
          <p:nvPr/>
        </p:nvSpPr>
        <p:spPr>
          <a:xfrm>
            <a:off x="6172200" y="4754880"/>
            <a:ext cx="5257800" cy="12801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l"/>
            <a:r>
              <a:rPr sz="1300" b="1">
                <a:solidFill>
                  <a:srgbClr val="0F172A"/>
                </a:solidFill>
                <a:latin typeface="Arial"/>
              </a:rPr>
              <a:t>06. Academic Literature Review &amp; Wrap-up</a:t>
            </a:r>
          </a:p>
          <a:p>
            <a:pPr algn="l"/>
            <a:r>
              <a:rPr sz="1100" b="1">
                <a:solidFill>
                  <a:srgbClr val="4F46E5"/>
                </a:solidFill>
                <a:latin typeface="Calibri"/>
              </a:rPr>
              <a:t>Presenter: Dhanasri Raghavender Reddy (Raghu)</a:t>
            </a:r>
          </a:p>
          <a:p>
            <a:pPr algn="l"/>
            <a:r>
              <a:rPr sz="1100" b="0">
                <a:solidFill>
                  <a:srgbClr val="334155"/>
                </a:solidFill>
                <a:latin typeface="Calibri"/>
              </a:rPr>
              <a:t>Comparison against 5 peer-reviewed papers (Nature, ScienceDirect, MDPI, Wiley).</a:t>
            </a:r>
          </a:p>
        </p:txBody>
      </p:sp>
    </p:spTree>
  </p:cSld>
  <p:clrMapOvr>
    <a:masterClrMapping/>
  </p:clrMapOvr>
  <p:transition spd="med" advClick="1">
    <p:fade/>
  </p:transition>
  <p:timing>
    <p:tnLst>
      <p:par>
        <p:cTn id="1" dur="indefinite" restart="always"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tgtEl>
                                    <p:spTgt spid="3"/>
                                  </p:tgtEl>
                                  <p:attrNameLst>
                                    <p:attrName>style.visibility</p:attrName>
                                  </p:attrNameLst>
                                </p:cBhvr>
                                <p:to>
                                  <p:strVal val="visible"/>
                                </p:to>
                              </p:set>
                              <p:animEffect transition="in" filter="fade">
                                <p:cBhvr>
                                  <p:cTn id="6" dur="500" fill="hold"/>
                                  <p:tgtEl>
                                    <p:spTgt spid="3"/>
                                  </p:tgtEl>
                                </p:cBhvr>
                              </p:animEffect>
                            </p:childTnLst>
                          </p:cTn>
                        </p:par>
                      </p:childTnLst>
                    </p:cTn>
                  </p:par>
                  <p:par>
                    <p:cTn id="7" fill="hold">
                      <p:stCondLst>
                        <p:cond delay="0"/>
                      </p:stCondLst>
                      <p:childTnLst>
                        <p:par>
                          <p:cTn id="8" fill="hold">
                            <p:stCondLst>
                              <p:cond delay="0"/>
                            </p:stCondLst>
                            <p:childTnLst>
                              <p:set>
                                <p:cBhvr>
                                  <p:cTn id="9" dur="1" fill="hold"/>
                                  <p:tgtEl>
                                    <p:spTgt spid="4"/>
                                  </p:tgtEl>
                                  <p:attrNameLst>
                                    <p:attrName>style.visibility</p:attrName>
                                  </p:attrNameLst>
                                </p:cBhvr>
                                <p:to>
                                  <p:strVal val="visible"/>
                                </p:to>
                              </p:set>
                              <p:animEffect transition="in" filter="fade">
                                <p:cBhvr>
                                  <p:cTn id="10" dur="500" fill="hold"/>
                                  <p:tgtEl>
                                    <p:spTgt spid="4"/>
                                  </p:tgtEl>
                                </p:cBhvr>
                              </p:animEffect>
                            </p:childTnLst>
                          </p:cTn>
                        </p:par>
                      </p:childTnLst>
                    </p:cTn>
                  </p:par>
                  <p:par>
                    <p:cTn id="11" fill="hold">
                      <p:stCondLst>
                        <p:cond delay="0"/>
                      </p:stCondLst>
                      <p:childTnLst>
                        <p:par>
                          <p:cTn id="12" fill="hold">
                            <p:stCondLst>
                              <p:cond delay="0"/>
                            </p:stCondLst>
                            <p:childTnLst>
                              <p:set>
                                <p:cBhvr>
                                  <p:cTn id="13" dur="1" fill="hold"/>
                                  <p:tgtEl>
                                    <p:spTgt spid="7"/>
                                  </p:tgtEl>
                                  <p:attrNameLst>
                                    <p:attrName>style.visibility</p:attrName>
                                  </p:attrNameLst>
                                </p:cBhvr>
                                <p:to>
                                  <p:strVal val="visible"/>
                                </p:to>
                              </p:set>
                              <p:animEffect transition="in" filter="fade">
                                <p:cBhvr>
                                  <p:cTn id="14" dur="500" fill="hold"/>
                                  <p:tgtEl>
                                    <p:spTgt spid="7"/>
                                  </p:tgtEl>
                                </p:cBhvr>
                              </p:animEffect>
                            </p:childTnLst>
                          </p:cTn>
                        </p:par>
                      </p:childTnLst>
                    </p:cTn>
                  </p:par>
                  <p:par>
                    <p:cTn id="15" fill="hold">
                      <p:stCondLst>
                        <p:cond delay="0"/>
                      </p:stCondLst>
                      <p:childTnLst>
                        <p:par>
                          <p:cTn id="16" fill="hold">
                            <p:stCondLst>
                              <p:cond delay="0"/>
                            </p:stCondLst>
                            <p:childTnLst>
                              <p:set>
                                <p:cBhvr>
                                  <p:cTn id="17" dur="1" fill="hold"/>
                                  <p:tgtEl>
                                    <p:spTgt spid="8"/>
                                  </p:tgtEl>
                                  <p:attrNameLst>
                                    <p:attrName>style.visibility</p:attrName>
                                  </p:attrNameLst>
                                </p:cBhvr>
                                <p:to>
                                  <p:strVal val="visible"/>
                                </p:to>
                              </p:set>
                              <p:animEffect transition="in" filter="fade">
                                <p:cBhvr>
                                  <p:cTn id="18" dur="500" fill="hold"/>
                                  <p:tgtEl>
                                    <p:spTgt spid="8"/>
                                  </p:tgtEl>
                                </p:cBhvr>
                              </p:animEffect>
                            </p:childTnLst>
                          </p:cTn>
                        </p:par>
                      </p:childTnLst>
                    </p:cTn>
                  </p:par>
                  <p:par>
                    <p:cTn id="19" fill="hold">
                      <p:stCondLst>
                        <p:cond delay="0"/>
                      </p:stCondLst>
                      <p:childTnLst>
                        <p:par>
                          <p:cTn id="20" fill="hold">
                            <p:stCondLst>
                              <p:cond delay="0"/>
                            </p:stCondLst>
                            <p:childTnLst>
                              <p:set>
                                <p:cBhvr>
                                  <p:cTn id="21" dur="1" fill="hold"/>
                                  <p:tgtEl>
                                    <p:spTgt spid="9"/>
                                  </p:tgtEl>
                                  <p:attrNameLst>
                                    <p:attrName>style.visibility</p:attrName>
                                  </p:attrNameLst>
                                </p:cBhvr>
                                <p:to>
                                  <p:strVal val="visible"/>
                                </p:to>
                              </p:set>
                              <p:animEffect transition="in" filter="fade">
                                <p:cBhvr>
                                  <p:cTn id="22" dur="500" fill="hold"/>
                                  <p:tgtEl>
                                    <p:spTgt spid="9"/>
                                  </p:tgtEl>
                                </p:cBhvr>
                              </p:animEffect>
                            </p:childTnLst>
                          </p:cTn>
                        </p:par>
                      </p:childTnLst>
                    </p:cTn>
                  </p:par>
                  <p:par>
                    <p:cTn id="23" fill="hold">
                      <p:stCondLst>
                        <p:cond delay="0"/>
                      </p:stCondLst>
                      <p:childTnLst>
                        <p:par>
                          <p:cTn id="24" fill="hold">
                            <p:stCondLst>
                              <p:cond delay="0"/>
                            </p:stCondLst>
                            <p:childTnLst>
                              <p:set>
                                <p:cBhvr>
                                  <p:cTn id="25" dur="1" fill="hold"/>
                                  <p:tgtEl>
                                    <p:spTgt spid="10"/>
                                  </p:tgtEl>
                                  <p:attrNameLst>
                                    <p:attrName>style.visibility</p:attrName>
                                  </p:attrNameLst>
                                </p:cBhvr>
                                <p:to>
                                  <p:strVal val="visible"/>
                                </p:to>
                              </p:set>
                              <p:animEffect transition="in" filter="fade">
                                <p:cBhvr>
                                  <p:cTn id="26" dur="500" fill="hold"/>
                                  <p:tgtEl>
                                    <p:spTgt spid="10"/>
                                  </p:tgtEl>
                                </p:cBhvr>
                              </p:animEffect>
                            </p:childTnLst>
                          </p:cTn>
                        </p:par>
                      </p:childTnLst>
                    </p:cTn>
                  </p:par>
                  <p:par>
                    <p:cTn id="27" fill="hold">
                      <p:stCondLst>
                        <p:cond delay="0"/>
                      </p:stCondLst>
                      <p:childTnLst>
                        <p:par>
                          <p:cTn id="28" fill="hold">
                            <p:stCondLst>
                              <p:cond delay="0"/>
                            </p:stCondLst>
                            <p:childTnLst>
                              <p:set>
                                <p:cBhvr>
                                  <p:cTn id="29" dur="1" fill="hold"/>
                                  <p:tgtEl>
                                    <p:spTgt spid="11"/>
                                  </p:tgtEl>
                                  <p:attrNameLst>
                                    <p:attrName>style.visibility</p:attrName>
                                  </p:attrNameLst>
                                </p:cBhvr>
                                <p:to>
                                  <p:strVal val="visible"/>
                                </p:to>
                              </p:set>
                              <p:animEffect transition="in" filter="fade">
                                <p:cBhvr>
                                  <p:cTn id="30" dur="500" fill="hold"/>
                                  <p:tgtEl>
                                    <p:spTgt spid="11"/>
                                  </p:tgtEl>
                                </p:cBhvr>
                              </p:animEffect>
                            </p:childTnLst>
                          </p:cTn>
                        </p:par>
                      </p:childTnLst>
                    </p:cTn>
                  </p:par>
                  <p:par>
                    <p:cTn id="31" fill="hold">
                      <p:stCondLst>
                        <p:cond delay="0"/>
                      </p:stCondLst>
                      <p:childTnLst>
                        <p:par>
                          <p:cTn id="32" fill="hold">
                            <p:stCondLst>
                              <p:cond delay="0"/>
                            </p:stCondLst>
                            <p:childTnLst>
                              <p:set>
                                <p:cBhvr>
                                  <p:cTn id="33" dur="1" fill="hold"/>
                                  <p:tgtEl>
                                    <p:spTgt spid="12"/>
                                  </p:tgtEl>
                                  <p:attrNameLst>
                                    <p:attrName>style.visibility</p:attrName>
                                  </p:attrNameLst>
                                </p:cBhvr>
                                <p:to>
                                  <p:strVal val="visible"/>
                                </p:to>
                              </p:set>
                              <p:animEffect transition="in" filter="fade">
                                <p:cBhvr>
                                  <p:cTn id="34" dur="500" fill="hold"/>
                                  <p:tgtEl>
                                    <p:spTgt spid="12"/>
                                  </p:tgtEl>
                                </p:cBhvr>
                              </p:animEffect>
                            </p:childTnLst>
                          </p:cTn>
                        </p:par>
                      </p:childTnLst>
                    </p:cTn>
                  </p:par>
                </p:childTnLst>
              </p:cTn>
              <p:prevCondLst>
                <p:cond evt="onPrev" delay="0">
                  <p:tgtEl>
                    <p:spTgt spid="0"/>
                  </p:tgtEl>
                </p:cond>
              </p:prevCondLst>
              <p:nextCondLst>
                <p:cond evt="onNext" delay="0">
                  <p:tgtEl>
                    <p:spTgt spid="0"/>
                  </p:tgtEl>
                </p:cond>
              </p:nextCondLst>
            </p:seq>
          </p:childTnLst>
        </p:cTn>
      </p:par>
    </p:tnLst>
    <p:bldLst>
      <p:bldSp spid="3" grpId="0" animBg="true"/>
      <p:bldSp spid="4" grpId="0" animBg="true"/>
      <p:bldSp spid="7" grpId="0" animBg="true"/>
      <p:bldSp spid="8" grpId="0" animBg="true"/>
      <p:bldSp spid="9" grpId="0" animBg="true"/>
      <p:bldSp spid="10" grpId="0" animBg="true"/>
      <p:bldSp spid="11" grpId="0" animBg="true"/>
      <p:bldSp spid="12" grpId="0" animBg="true"/>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4747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FFFFF"/>
                </a:solidFill>
                <a:latin typeface="Arial"/>
              </a:rPr>
              <a:t>PART 1: TEAM LEAD | DHANASRI RAGHAVENDER REDDY</a:t>
            </a:r>
          </a:p>
        </p:txBody>
      </p:sp>
      <p:sp>
        <p:nvSpPr>
          <p:cNvPr id="4" name="TextBox 3"/>
          <p:cNvSpPr txBox="1"/>
          <p:nvPr/>
        </p:nvSpPr>
        <p:spPr>
          <a:xfrm>
            <a:off x="731520" y="749808"/>
            <a:ext cx="10698480" cy="868680"/>
          </a:xfrm>
          <a:prstGeom prst="rect">
            <a:avLst/>
          </a:prstGeom>
          <a:noFill/>
        </p:spPr>
        <p:txBody>
          <a:bodyPr wrap="square" lIns="0" tIns="0" rIns="0" bIns="0">
            <a:spAutoFit/>
          </a:bodyPr>
          <a:lstStyle/>
          <a:p>
            <a:r>
              <a:rPr sz="2200" b="1">
                <a:solidFill>
                  <a:srgbClr val="0F172A"/>
                </a:solidFill>
                <a:latin typeface="Arial"/>
              </a:rPr>
              <a:t>Problem Statement &amp; Analytical Objectives</a:t>
            </a:r>
          </a:p>
          <a:p>
            <a:r>
              <a:rPr sz="1300">
                <a:solidFill>
                  <a:srgbClr val="64748B"/>
                </a:solidFill>
                <a:latin typeface="Calibri"/>
              </a:rPr>
              <a:t>Understanding atmospheric thermodynamics and formulating empirical research questions</a:t>
            </a:r>
          </a:p>
        </p:txBody>
      </p:sp>
      <p:sp>
        <p:nvSpPr>
          <p:cNvPr id="5" name="Rectangle 4"/>
          <p:cNvSpPr/>
          <p:nvPr/>
        </p:nvSpPr>
        <p:spPr>
          <a:xfrm>
            <a:off x="731520" y="166420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728655" cy="274320"/>
          </a:xfrm>
          <a:prstGeom prst="rect">
            <a:avLst/>
          </a:prstGeom>
          <a:noFill/>
        </p:spPr>
        <p:txBody>
          <a:bodyPr wrap="none" lIns="0" tIns="0" rIns="0" bIns="0">
            <a:spAutoFit/>
          </a:bodyPr>
          <a:lstStyle/>
          <a:p>
            <a:r>
              <a:rPr sz="1000">
                <a:solidFill>
                  <a:srgbClr val="64748B"/>
                </a:solidFill>
                <a:latin typeface="Calibri"/>
              </a:rPr>
              <a:t>Foundations of Data Science (FDS) Course Project | Team 252U1R</a:t>
            </a:r>
            <a:r>
              <a:t>                                                                                               </a:t>
            </a:r>
            <a:r>
              <a:rPr sz="1000" b="1">
                <a:solidFill>
                  <a:srgbClr val="2563EB"/>
                </a:solidFill>
                <a:latin typeface="Calibri"/>
              </a:rPr>
              <a:t>Slide 3 of 20</a:t>
            </a:r>
          </a:p>
        </p:txBody>
      </p:sp>
      <p:sp>
        <p:nvSpPr>
          <p:cNvPr id="7" name="Rounded Rectangle 6"/>
          <p:cNvSpPr/>
          <p:nvPr/>
        </p:nvSpPr>
        <p:spPr>
          <a:xfrm>
            <a:off x="731520" y="1920240"/>
            <a:ext cx="5257800" cy="43891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l"/>
            <a:r>
              <a:rPr sz="1300" b="1">
                <a:solidFill>
                  <a:srgbClr val="2563EB"/>
                </a:solidFill>
                <a:latin typeface="Arial"/>
              </a:rPr>
              <a:t>THE CORE PROBLEM CHALLENGE</a:t>
            </a:r>
          </a:p>
          <a:p>
            <a:pPr algn="l"/>
            <a:r>
              <a:rPr sz="600" b="0">
                <a:latin typeface="Calibri"/>
              </a:rPr>
              <a:t/>
            </a:r>
          </a:p>
          <a:p>
            <a:pPr algn="l"/>
            <a:r>
              <a:rPr sz="1300" b="1">
                <a:solidFill>
                  <a:srgbClr val="0F172A"/>
                </a:solidFill>
                <a:latin typeface="Calibri"/>
              </a:rPr>
              <a:t>Atmospheric Disconnect in Perceived Comfort:</a:t>
            </a:r>
          </a:p>
          <a:p>
            <a:pPr algn="l"/>
            <a:r>
              <a:rPr sz="1200" b="0">
                <a:solidFill>
                  <a:srgbClr val="334155"/>
                </a:solidFill>
                <a:latin typeface="Calibri"/>
              </a:rPr>
              <a:t>Human thermal perception does not rely solely on ambient dry-bulb temperature. In reality, it is a non-linear thermodynamic function of convective wind-chill and evaporative moisture suppression.</a:t>
            </a:r>
          </a:p>
          <a:p>
            <a:pPr algn="l"/>
            <a:r>
              <a:rPr sz="800" b="0">
                <a:latin typeface="Calibri"/>
              </a:rPr>
              <a:t/>
            </a:r>
          </a:p>
          <a:p>
            <a:pPr algn="l"/>
            <a:r>
              <a:rPr sz="1300" b="1">
                <a:solidFill>
                  <a:srgbClr val="0F172A"/>
                </a:solidFill>
                <a:latin typeface="Calibri"/>
              </a:rPr>
              <a:t>Precipitation Phase Boundary Sensitivity:</a:t>
            </a:r>
          </a:p>
          <a:p>
            <a:pPr algn="l"/>
            <a:r>
              <a:rPr sz="1200" b="0">
                <a:solidFill>
                  <a:srgbClr val="334155"/>
                </a:solidFill>
                <a:latin typeface="Calibri"/>
              </a:rPr>
              <a:t>Distinguishing whether atmospheric moisture precipitates as rain or snow is critical for municipal infrastructure, aviation safety, and road ice hazards near 0°C.</a:t>
            </a:r>
          </a:p>
          <a:p>
            <a:pPr algn="l"/>
            <a:r>
              <a:rPr sz="800" b="0">
                <a:latin typeface="Calibri"/>
              </a:rPr>
              <a:t/>
            </a:r>
          </a:p>
          <a:p>
            <a:pPr algn="l"/>
            <a:r>
              <a:rPr sz="1300" b="1">
                <a:solidFill>
                  <a:srgbClr val="0F172A"/>
                </a:solidFill>
                <a:latin typeface="Calibri"/>
              </a:rPr>
              <a:t>Sensor Dropout Vulnerabilities:</a:t>
            </a:r>
          </a:p>
          <a:p>
            <a:pPr algn="l"/>
            <a:r>
              <a:rPr sz="1200" b="0">
                <a:solidFill>
                  <a:srgbClr val="334155"/>
                </a:solidFill>
                <a:latin typeface="Calibri"/>
              </a:rPr>
              <a:t>Automated weather stations routinely record faulty zero-readings and invariant noise that destabilize machine learning models if not audited.</a:t>
            </a:r>
          </a:p>
        </p:txBody>
      </p:sp>
      <p:sp>
        <p:nvSpPr>
          <p:cNvPr id="8" name="Rounded Rectangle 7"/>
          <p:cNvSpPr/>
          <p:nvPr/>
        </p:nvSpPr>
        <p:spPr>
          <a:xfrm>
            <a:off x="6172200" y="1920240"/>
            <a:ext cx="5257800" cy="43891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l"/>
            <a:r>
              <a:rPr sz="1300" b="1">
                <a:solidFill>
                  <a:srgbClr val="2563EB"/>
                </a:solidFill>
                <a:latin typeface="Arial"/>
              </a:rPr>
              <a:t>THREE CORE RESEARCH OBJECTIVES</a:t>
            </a:r>
          </a:p>
          <a:p>
            <a:pPr algn="l"/>
            <a:r>
              <a:rPr sz="800" b="0">
                <a:latin typeface="Calibri"/>
              </a:rPr>
              <a:t/>
            </a:r>
          </a:p>
          <a:p>
            <a:pPr algn="l"/>
            <a:r>
              <a:rPr sz="1300" b="1">
                <a:solidFill>
                  <a:srgbClr val="D97706"/>
                </a:solidFill>
                <a:latin typeface="Calibri"/>
              </a:rPr>
              <a:t>1. Apparent Temperature Regression Modeling:</a:t>
            </a:r>
          </a:p>
          <a:p>
            <a:pPr algn="l"/>
            <a:r>
              <a:rPr sz="1200" b="0">
                <a:solidFill>
                  <a:srgbClr val="334155"/>
                </a:solidFill>
                <a:latin typeface="Calibri"/>
              </a:rPr>
              <a:t>Can we model apparent ("feels like") temperature using ambient weather features with an R² &gt; 0.98 and root-mean-squared error below 1.5°C?</a:t>
            </a:r>
          </a:p>
          <a:p>
            <a:pPr algn="l"/>
            <a:r>
              <a:rPr sz="800" b="0">
                <a:latin typeface="Calibri"/>
              </a:rPr>
              <a:t/>
            </a:r>
          </a:p>
          <a:p>
            <a:pPr algn="l"/>
            <a:r>
              <a:rPr sz="1300" b="1">
                <a:solidFill>
                  <a:srgbClr val="D97706"/>
                </a:solidFill>
                <a:latin typeface="Calibri"/>
              </a:rPr>
              <a:t>2. High-Precision Precipitation Classification:</a:t>
            </a:r>
          </a:p>
          <a:p>
            <a:pPr algn="l"/>
            <a:r>
              <a:rPr sz="1200" b="0">
                <a:solidFill>
                  <a:srgbClr val="334155"/>
                </a:solidFill>
                <a:latin typeface="Calibri"/>
              </a:rPr>
              <a:t>Can an L2-regularized logistic classifier achieve &gt;99% precision and recall separating Rain from Snow events across multi-sensor telemetry?</a:t>
            </a:r>
          </a:p>
          <a:p>
            <a:pPr algn="l"/>
            <a:r>
              <a:rPr sz="800" b="0">
                <a:latin typeface="Calibri"/>
              </a:rPr>
              <a:t/>
            </a:r>
          </a:p>
          <a:p>
            <a:pPr algn="l"/>
            <a:r>
              <a:rPr sz="1300" b="1">
                <a:solidFill>
                  <a:srgbClr val="D97706"/>
                </a:solidFill>
                <a:latin typeface="Calibri"/>
              </a:rPr>
              <a:t>3. Unsupervised Climate Regime Discovery:</a:t>
            </a:r>
          </a:p>
          <a:p>
            <a:pPr algn="l"/>
            <a:r>
              <a:rPr sz="1200" b="0">
                <a:solidFill>
                  <a:srgbClr val="334155"/>
                </a:solidFill>
                <a:latin typeface="Calibri"/>
              </a:rPr>
              <a:t>Do unsupervised algorithms (K-Means &amp; PCA) automatically segregate natural weather states without access to human-labeled targets?</a:t>
            </a:r>
          </a:p>
        </p:txBody>
      </p:sp>
    </p:spTree>
  </p:cSld>
  <p:clrMapOvr>
    <a:masterClrMapping/>
  </p:clrMapOvr>
  <p:transition spd="med" advClick="1">
    <p:fade/>
  </p:transition>
  <p:timing>
    <p:tnLst>
      <p:par>
        <p:cTn id="1" dur="indefinite" restart="always"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tgtEl>
                                    <p:spTgt spid="3"/>
                                  </p:tgtEl>
                                  <p:attrNameLst>
                                    <p:attrName>style.visibility</p:attrName>
                                  </p:attrNameLst>
                                </p:cBhvr>
                                <p:to>
                                  <p:strVal val="visible"/>
                                </p:to>
                              </p:set>
                              <p:animEffect transition="in" filter="fade">
                                <p:cBhvr>
                                  <p:cTn id="6" dur="500" fill="hold"/>
                                  <p:tgtEl>
                                    <p:spTgt spid="3"/>
                                  </p:tgtEl>
                                </p:cBhvr>
                              </p:animEffect>
                            </p:childTnLst>
                          </p:cTn>
                        </p:par>
                      </p:childTnLst>
                    </p:cTn>
                  </p:par>
                  <p:par>
                    <p:cTn id="7" fill="hold">
                      <p:stCondLst>
                        <p:cond delay="0"/>
                      </p:stCondLst>
                      <p:childTnLst>
                        <p:par>
                          <p:cTn id="8" fill="hold">
                            <p:stCondLst>
                              <p:cond delay="0"/>
                            </p:stCondLst>
                            <p:childTnLst>
                              <p:set>
                                <p:cBhvr>
                                  <p:cTn id="9" dur="1" fill="hold"/>
                                  <p:tgtEl>
                                    <p:spTgt spid="4"/>
                                  </p:tgtEl>
                                  <p:attrNameLst>
                                    <p:attrName>style.visibility</p:attrName>
                                  </p:attrNameLst>
                                </p:cBhvr>
                                <p:to>
                                  <p:strVal val="visible"/>
                                </p:to>
                              </p:set>
                              <p:animEffect transition="in" filter="fade">
                                <p:cBhvr>
                                  <p:cTn id="10" dur="500" fill="hold"/>
                                  <p:tgtEl>
                                    <p:spTgt spid="4"/>
                                  </p:tgtEl>
                                </p:cBhvr>
                              </p:animEffect>
                            </p:childTnLst>
                          </p:cTn>
                        </p:par>
                      </p:childTnLst>
                    </p:cTn>
                  </p:par>
                  <p:par>
                    <p:cTn id="11" fill="hold">
                      <p:stCondLst>
                        <p:cond delay="0"/>
                      </p:stCondLst>
                      <p:childTnLst>
                        <p:par>
                          <p:cTn id="12" fill="hold">
                            <p:stCondLst>
                              <p:cond delay="0"/>
                            </p:stCondLst>
                            <p:childTnLst>
                              <p:set>
                                <p:cBhvr>
                                  <p:cTn id="13" dur="1" fill="hold"/>
                                  <p:tgtEl>
                                    <p:spTgt spid="7"/>
                                  </p:tgtEl>
                                  <p:attrNameLst>
                                    <p:attrName>style.visibility</p:attrName>
                                  </p:attrNameLst>
                                </p:cBhvr>
                                <p:to>
                                  <p:strVal val="visible"/>
                                </p:to>
                              </p:set>
                              <p:animEffect transition="in" filter="fade">
                                <p:cBhvr>
                                  <p:cTn id="14" dur="500" fill="hold"/>
                                  <p:tgtEl>
                                    <p:spTgt spid="7"/>
                                  </p:tgtEl>
                                </p:cBhvr>
                              </p:animEffect>
                            </p:childTnLst>
                          </p:cTn>
                        </p:par>
                      </p:childTnLst>
                    </p:cTn>
                  </p:par>
                  <p:par>
                    <p:cTn id="15" fill="hold">
                      <p:stCondLst>
                        <p:cond delay="0"/>
                      </p:stCondLst>
                      <p:childTnLst>
                        <p:par>
                          <p:cTn id="16" fill="hold">
                            <p:stCondLst>
                              <p:cond delay="0"/>
                            </p:stCondLst>
                            <p:childTnLst>
                              <p:set>
                                <p:cBhvr>
                                  <p:cTn id="17" dur="1" fill="hold"/>
                                  <p:tgtEl>
                                    <p:spTgt spid="8"/>
                                  </p:tgtEl>
                                  <p:attrNameLst>
                                    <p:attrName>style.visibility</p:attrName>
                                  </p:attrNameLst>
                                </p:cBhvr>
                                <p:to>
                                  <p:strVal val="visible"/>
                                </p:to>
                              </p:set>
                              <p:animEffect transition="in" filter="fade">
                                <p:cBhvr>
                                  <p:cTn id="18" dur="500" fill="hold"/>
                                  <p:tgtEl>
                                    <p:spTgt spid="8"/>
                                  </p:tgtEl>
                                </p:cBhvr>
                              </p:animEffect>
                            </p:childTnLst>
                          </p:cTn>
                        </p:par>
                      </p:childTnLst>
                    </p:cTn>
                  </p:par>
                </p:childTnLst>
              </p:cTn>
              <p:prevCondLst>
                <p:cond evt="onPrev" delay="0">
                  <p:tgtEl>
                    <p:spTgt spid="0"/>
                  </p:tgtEl>
                </p:cond>
              </p:prevCondLst>
              <p:nextCondLst>
                <p:cond evt="onNext" delay="0">
                  <p:tgtEl>
                    <p:spTgt spid="0"/>
                  </p:tgtEl>
                </p:cond>
              </p:nextCondLst>
            </p:seq>
          </p:childTnLst>
        </p:cTn>
      </p:par>
    </p:tnLst>
    <p:bldLst>
      <p:bldSp spid="3" grpId="0" animBg="true"/>
      <p:bldSp spid="4" grpId="0" animBg="true"/>
      <p:bldSp spid="7" grpId="0" animBg="true"/>
      <p:bldSp spid="8" grpId="0" animBg="true"/>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4747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FFFFF"/>
                </a:solidFill>
                <a:latin typeface="Arial"/>
              </a:rPr>
              <a:t>PART 1: TEAM LEAD | DHANASRI RAGHAVENDER REDDY</a:t>
            </a:r>
          </a:p>
        </p:txBody>
      </p:sp>
      <p:sp>
        <p:nvSpPr>
          <p:cNvPr id="4" name="TextBox 3"/>
          <p:cNvSpPr txBox="1"/>
          <p:nvPr/>
        </p:nvSpPr>
        <p:spPr>
          <a:xfrm>
            <a:off x="731520" y="749808"/>
            <a:ext cx="10698480" cy="868680"/>
          </a:xfrm>
          <a:prstGeom prst="rect">
            <a:avLst/>
          </a:prstGeom>
          <a:noFill/>
        </p:spPr>
        <p:txBody>
          <a:bodyPr wrap="square" lIns="0" tIns="0" rIns="0" bIns="0">
            <a:spAutoFit/>
          </a:bodyPr>
          <a:lstStyle/>
          <a:p>
            <a:r>
              <a:rPr sz="2200" b="1">
                <a:solidFill>
                  <a:srgbClr val="0F172A"/>
                </a:solidFill>
                <a:latin typeface="Arial"/>
              </a:rPr>
              <a:t>Dataset Architecture &amp; Sensor Logs Brief</a:t>
            </a:r>
          </a:p>
          <a:p>
            <a:r>
              <a:rPr sz="1300">
                <a:solidFill>
                  <a:srgbClr val="64748B"/>
                </a:solidFill>
                <a:latin typeface="Calibri"/>
              </a:rPr>
              <a:t>Overview of the historical weather dataset spanning hourly observations</a:t>
            </a:r>
          </a:p>
        </p:txBody>
      </p:sp>
      <p:sp>
        <p:nvSpPr>
          <p:cNvPr id="5" name="Rectangle 4"/>
          <p:cNvSpPr/>
          <p:nvPr/>
        </p:nvSpPr>
        <p:spPr>
          <a:xfrm>
            <a:off x="731520" y="166420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728655" cy="274320"/>
          </a:xfrm>
          <a:prstGeom prst="rect">
            <a:avLst/>
          </a:prstGeom>
          <a:noFill/>
        </p:spPr>
        <p:txBody>
          <a:bodyPr wrap="none" lIns="0" tIns="0" rIns="0" bIns="0">
            <a:spAutoFit/>
          </a:bodyPr>
          <a:lstStyle/>
          <a:p>
            <a:r>
              <a:rPr sz="1000">
                <a:solidFill>
                  <a:srgbClr val="64748B"/>
                </a:solidFill>
                <a:latin typeface="Calibri"/>
              </a:rPr>
              <a:t>Foundations of Data Science (FDS) Course Project | Team 252U1R</a:t>
            </a:r>
            <a:r>
              <a:t>                                                                                               </a:t>
            </a:r>
            <a:r>
              <a:rPr sz="1000" b="1">
                <a:solidFill>
                  <a:srgbClr val="2563EB"/>
                </a:solidFill>
                <a:latin typeface="Calibri"/>
              </a:rPr>
              <a:t>Slide 4 of 20</a:t>
            </a:r>
          </a:p>
        </p:txBody>
      </p:sp>
      <p:sp>
        <p:nvSpPr>
          <p:cNvPr id="7" name="Rounded Rectangle 6"/>
          <p:cNvSpPr/>
          <p:nvPr/>
        </p:nvSpPr>
        <p:spPr>
          <a:xfrm>
            <a:off x="731520" y="1920240"/>
            <a:ext cx="2468880" cy="1143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r>
              <a:rPr sz="3200" b="1">
                <a:solidFill>
                  <a:srgbClr val="2563EB"/>
                </a:solidFill>
                <a:latin typeface="Arial"/>
              </a:rPr>
              <a:t>30,711</a:t>
            </a:r>
          </a:p>
          <a:p>
            <a:pPr algn="ctr"/>
            <a:r>
              <a:rPr sz="1100" b="1">
                <a:solidFill>
                  <a:srgbClr val="0F172A"/>
                </a:solidFill>
                <a:latin typeface="Arial"/>
              </a:rPr>
              <a:t>TOTAL OBSERVATIONS</a:t>
            </a:r>
          </a:p>
          <a:p>
            <a:pPr algn="ctr"/>
            <a:r>
              <a:rPr sz="1000" b="0">
                <a:solidFill>
                  <a:srgbClr val="64748B"/>
                </a:solidFill>
                <a:latin typeface="Calibri"/>
              </a:rPr>
              <a:t>Hourly sensor readings</a:t>
            </a:r>
          </a:p>
        </p:txBody>
      </p:sp>
      <p:sp>
        <p:nvSpPr>
          <p:cNvPr id="8" name="Rounded Rectangle 7"/>
          <p:cNvSpPr/>
          <p:nvPr/>
        </p:nvSpPr>
        <p:spPr>
          <a:xfrm>
            <a:off x="3474720" y="1920240"/>
            <a:ext cx="2468880" cy="1143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r>
              <a:rPr sz="3200" b="1">
                <a:solidFill>
                  <a:srgbClr val="2563EB"/>
                </a:solidFill>
                <a:latin typeface="Arial"/>
              </a:rPr>
              <a:t>12</a:t>
            </a:r>
          </a:p>
          <a:p>
            <a:pPr algn="ctr"/>
            <a:r>
              <a:rPr sz="1100" b="1">
                <a:solidFill>
                  <a:srgbClr val="0F172A"/>
                </a:solidFill>
                <a:latin typeface="Arial"/>
              </a:rPr>
              <a:t>ORIGINAL ATTRIBUTES</a:t>
            </a:r>
          </a:p>
          <a:p>
            <a:pPr algn="ctr"/>
            <a:r>
              <a:rPr sz="1000" b="0">
                <a:solidFill>
                  <a:srgbClr val="64748B"/>
                </a:solidFill>
                <a:latin typeface="Calibri"/>
              </a:rPr>
              <a:t>Continuous &amp; categorical</a:t>
            </a:r>
          </a:p>
        </p:txBody>
      </p:sp>
      <p:sp>
        <p:nvSpPr>
          <p:cNvPr id="9" name="Rounded Rectangle 8"/>
          <p:cNvSpPr/>
          <p:nvPr/>
        </p:nvSpPr>
        <p:spPr>
          <a:xfrm>
            <a:off x="6217920" y="1920240"/>
            <a:ext cx="2468880" cy="1143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r>
              <a:rPr sz="3200" b="1">
                <a:solidFill>
                  <a:srgbClr val="2563EB"/>
                </a:solidFill>
                <a:latin typeface="Arial"/>
              </a:rPr>
              <a:t>2006–2016</a:t>
            </a:r>
          </a:p>
          <a:p>
            <a:pPr algn="ctr"/>
            <a:r>
              <a:rPr sz="1100" b="1">
                <a:solidFill>
                  <a:srgbClr val="0F172A"/>
                </a:solidFill>
                <a:latin typeface="Arial"/>
              </a:rPr>
              <a:t>TEMPORAL SPAN</a:t>
            </a:r>
          </a:p>
          <a:p>
            <a:pPr algn="ctr"/>
            <a:r>
              <a:rPr sz="1000" b="0">
                <a:solidFill>
                  <a:srgbClr val="64748B"/>
                </a:solidFill>
                <a:latin typeface="Calibri"/>
              </a:rPr>
              <a:t>Longitudinal weather logs</a:t>
            </a:r>
          </a:p>
        </p:txBody>
      </p:sp>
      <p:sp>
        <p:nvSpPr>
          <p:cNvPr id="10" name="Rounded Rectangle 9"/>
          <p:cNvSpPr/>
          <p:nvPr/>
        </p:nvSpPr>
        <p:spPr>
          <a:xfrm>
            <a:off x="8961120" y="1920240"/>
            <a:ext cx="2468880" cy="1143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r>
              <a:rPr sz="3200" b="1">
                <a:solidFill>
                  <a:srgbClr val="2563EB"/>
                </a:solidFill>
                <a:latin typeface="Arial"/>
              </a:rPr>
              <a:t>UTC</a:t>
            </a:r>
          </a:p>
          <a:p>
            <a:pPr algn="ctr"/>
            <a:r>
              <a:rPr sz="1100" b="1">
                <a:solidFill>
                  <a:srgbClr val="0F172A"/>
                </a:solidFill>
                <a:latin typeface="Arial"/>
              </a:rPr>
              <a:t>TIME STANDARD</a:t>
            </a:r>
          </a:p>
          <a:p>
            <a:pPr algn="ctr"/>
            <a:r>
              <a:rPr sz="1000" b="0">
                <a:solidFill>
                  <a:srgbClr val="64748B"/>
                </a:solidFill>
                <a:latin typeface="Calibri"/>
              </a:rPr>
              <a:t>Universal coordinated time</a:t>
            </a:r>
          </a:p>
        </p:txBody>
      </p:sp>
      <p:sp>
        <p:nvSpPr>
          <p:cNvPr id="11" name="Rounded Rectangle 10"/>
          <p:cNvSpPr/>
          <p:nvPr/>
        </p:nvSpPr>
        <p:spPr>
          <a:xfrm>
            <a:off x="731520" y="3246120"/>
            <a:ext cx="10728655" cy="30632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l"/>
            <a:r>
              <a:rPr sz="1300" b="1">
                <a:solidFill>
                  <a:srgbClr val="0F172A"/>
                </a:solidFill>
                <a:latin typeface="Arial"/>
              </a:rPr>
              <a:t>METEOROLOGICAL SENSOR VARIABLE DICTIONARY</a:t>
            </a:r>
          </a:p>
          <a:p>
            <a:pPr algn="l"/>
            <a:r>
              <a:rPr sz="600" b="0">
                <a:latin typeface="Calibri"/>
              </a:rPr>
              <a:t/>
            </a:r>
          </a:p>
          <a:p>
            <a:pPr algn="l"/>
            <a:r>
              <a:rPr sz="1150" b="1">
                <a:solidFill>
                  <a:srgbClr val="2563EB"/>
                </a:solidFill>
                <a:latin typeface="Calibri"/>
              </a:rPr>
              <a:t>• Formatted Date: </a:t>
            </a:r>
            <a:r>
              <a:rPr sz="1150" b="0">
                <a:solidFill>
                  <a:srgbClr val="334155"/>
                </a:solidFill>
                <a:latin typeface="Calibri"/>
              </a:rPr>
              <a:t>Timestamp of recording including UTC offset timezone string.
</a:t>
            </a:r>
            <a:r>
              <a:rPr sz="1150" b="1">
                <a:solidFill>
                  <a:srgbClr val="2563EB"/>
                </a:solidFill>
                <a:latin typeface="Calibri"/>
              </a:rPr>
              <a:t>• Summary &amp; Daily Summary: </a:t>
            </a:r>
            <a:r>
              <a:rPr sz="1150" b="0">
                <a:solidFill>
                  <a:srgbClr val="334155"/>
                </a:solidFill>
                <a:latin typeface="Calibri"/>
              </a:rPr>
              <a:t>Categorical sky/weather qualitative description (e.g. Partly Cloudy, Foggy, Overcast).
</a:t>
            </a:r>
            <a:r>
              <a:rPr sz="1150" b="1">
                <a:solidFill>
                  <a:srgbClr val="2563EB"/>
                </a:solidFill>
                <a:latin typeface="Calibri"/>
              </a:rPr>
              <a:t>• Precip Type: </a:t>
            </a:r>
            <a:r>
              <a:rPr sz="1150" b="0">
                <a:solidFill>
                  <a:srgbClr val="334155"/>
                </a:solidFill>
                <a:latin typeface="Calibri"/>
              </a:rPr>
              <a:t>Precipitation phase: rain or snow (binary phase indicator).
</a:t>
            </a:r>
            <a:r>
              <a:rPr sz="1150" b="1">
                <a:solidFill>
                  <a:srgbClr val="2563EB"/>
                </a:solidFill>
                <a:latin typeface="Calibri"/>
              </a:rPr>
              <a:t>• Temperature (C) &amp; Apparent Temperature (C): </a:t>
            </a:r>
            <a:r>
              <a:rPr sz="1150" b="0">
                <a:solidFill>
                  <a:srgbClr val="334155"/>
                </a:solidFill>
                <a:latin typeface="Calibri"/>
              </a:rPr>
              <a:t>Ambient dry-bulb temperature and human-perceived "feels like" temperature in Celsius.
</a:t>
            </a:r>
            <a:r>
              <a:rPr sz="1150" b="1">
                <a:solidFill>
                  <a:srgbClr val="2563EB"/>
                </a:solidFill>
                <a:latin typeface="Calibri"/>
              </a:rPr>
              <a:t>• Humidity: </a:t>
            </a:r>
            <a:r>
              <a:rPr sz="1150" b="0">
                <a:solidFill>
                  <a:srgbClr val="334155"/>
                </a:solidFill>
                <a:latin typeface="Calibri"/>
              </a:rPr>
              <a:t>Relative atmospheric humidity on a fractional scale [0.0, 1.0].
</a:t>
            </a:r>
            <a:r>
              <a:rPr sz="1150" b="1">
                <a:solidFill>
                  <a:srgbClr val="2563EB"/>
                </a:solidFill>
                <a:latin typeface="Calibri"/>
              </a:rPr>
              <a:t>• Wind Speed (km/h) &amp; Wind Bearing (degrees): </a:t>
            </a:r>
            <a:r>
              <a:rPr sz="1150" b="0">
                <a:solidFill>
                  <a:srgbClr val="334155"/>
                </a:solidFill>
                <a:latin typeface="Calibri"/>
              </a:rPr>
              <a:t>Velocity in kilometers per hour and compass heading angle in [0, 360°].
</a:t>
            </a:r>
            <a:r>
              <a:rPr sz="1150" b="1">
                <a:solidFill>
                  <a:srgbClr val="2563EB"/>
                </a:solidFill>
                <a:latin typeface="Calibri"/>
              </a:rPr>
              <a:t>• Visibility (km) &amp; Pressure (millibars): </a:t>
            </a:r>
            <a:r>
              <a:rPr sz="1150" b="0">
                <a:solidFill>
                  <a:srgbClr val="334155"/>
                </a:solidFill>
                <a:latin typeface="Calibri"/>
              </a:rPr>
              <a:t>Horizontal sight distance and barometric atmospheric pressure.
</a:t>
            </a:r>
            <a:r>
              <a:rPr sz="1150" b="1">
                <a:solidFill>
                  <a:srgbClr val="D97706"/>
                </a:solidFill>
                <a:latin typeface="Calibri"/>
              </a:rPr>
              <a:t>• Loud Cover: </a:t>
            </a:r>
            <a:r>
              <a:rPr sz="1150" b="0">
                <a:solidFill>
                  <a:srgbClr val="334155"/>
                </a:solidFill>
                <a:latin typeface="Calibri"/>
              </a:rPr>
              <a:t>A candidate cloud cover feature (suspected zero-variance artifact upon inspection).</a:t>
            </a:r>
          </a:p>
        </p:txBody>
      </p:sp>
    </p:spTree>
  </p:cSld>
  <p:clrMapOvr>
    <a:masterClrMapping/>
  </p:clrMapOvr>
  <p:transition spd="med" advClick="1">
    <p:fade/>
  </p:transition>
  <p:timing>
    <p:tnLst>
      <p:par>
        <p:cTn id="1" dur="indefinite" restart="always"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tgtEl>
                                    <p:spTgt spid="3"/>
                                  </p:tgtEl>
                                  <p:attrNameLst>
                                    <p:attrName>style.visibility</p:attrName>
                                  </p:attrNameLst>
                                </p:cBhvr>
                                <p:to>
                                  <p:strVal val="visible"/>
                                </p:to>
                              </p:set>
                              <p:animEffect transition="in" filter="fade">
                                <p:cBhvr>
                                  <p:cTn id="6" dur="500" fill="hold"/>
                                  <p:tgtEl>
                                    <p:spTgt spid="3"/>
                                  </p:tgtEl>
                                </p:cBhvr>
                              </p:animEffect>
                            </p:childTnLst>
                          </p:cTn>
                        </p:par>
                      </p:childTnLst>
                    </p:cTn>
                  </p:par>
                  <p:par>
                    <p:cTn id="7" fill="hold">
                      <p:stCondLst>
                        <p:cond delay="0"/>
                      </p:stCondLst>
                      <p:childTnLst>
                        <p:par>
                          <p:cTn id="8" fill="hold">
                            <p:stCondLst>
                              <p:cond delay="0"/>
                            </p:stCondLst>
                            <p:childTnLst>
                              <p:set>
                                <p:cBhvr>
                                  <p:cTn id="9" dur="1" fill="hold"/>
                                  <p:tgtEl>
                                    <p:spTgt spid="4"/>
                                  </p:tgtEl>
                                  <p:attrNameLst>
                                    <p:attrName>style.visibility</p:attrName>
                                  </p:attrNameLst>
                                </p:cBhvr>
                                <p:to>
                                  <p:strVal val="visible"/>
                                </p:to>
                              </p:set>
                              <p:animEffect transition="in" filter="fade">
                                <p:cBhvr>
                                  <p:cTn id="10" dur="500" fill="hold"/>
                                  <p:tgtEl>
                                    <p:spTgt spid="4"/>
                                  </p:tgtEl>
                                </p:cBhvr>
                              </p:animEffect>
                            </p:childTnLst>
                          </p:cTn>
                        </p:par>
                      </p:childTnLst>
                    </p:cTn>
                  </p:par>
                  <p:par>
                    <p:cTn id="11" fill="hold">
                      <p:stCondLst>
                        <p:cond delay="0"/>
                      </p:stCondLst>
                      <p:childTnLst>
                        <p:par>
                          <p:cTn id="12" fill="hold">
                            <p:stCondLst>
                              <p:cond delay="0"/>
                            </p:stCondLst>
                            <p:childTnLst>
                              <p:set>
                                <p:cBhvr>
                                  <p:cTn id="13" dur="1" fill="hold"/>
                                  <p:tgtEl>
                                    <p:spTgt spid="7"/>
                                  </p:tgtEl>
                                  <p:attrNameLst>
                                    <p:attrName>style.visibility</p:attrName>
                                  </p:attrNameLst>
                                </p:cBhvr>
                                <p:to>
                                  <p:strVal val="visible"/>
                                </p:to>
                              </p:set>
                              <p:animEffect transition="in" filter="fade">
                                <p:cBhvr>
                                  <p:cTn id="14" dur="500" fill="hold"/>
                                  <p:tgtEl>
                                    <p:spTgt spid="7"/>
                                  </p:tgtEl>
                                </p:cBhvr>
                              </p:animEffect>
                            </p:childTnLst>
                          </p:cTn>
                        </p:par>
                      </p:childTnLst>
                    </p:cTn>
                  </p:par>
                  <p:par>
                    <p:cTn id="15" fill="hold">
                      <p:stCondLst>
                        <p:cond delay="0"/>
                      </p:stCondLst>
                      <p:childTnLst>
                        <p:par>
                          <p:cTn id="16" fill="hold">
                            <p:stCondLst>
                              <p:cond delay="0"/>
                            </p:stCondLst>
                            <p:childTnLst>
                              <p:set>
                                <p:cBhvr>
                                  <p:cTn id="17" dur="1" fill="hold"/>
                                  <p:tgtEl>
                                    <p:spTgt spid="8"/>
                                  </p:tgtEl>
                                  <p:attrNameLst>
                                    <p:attrName>style.visibility</p:attrName>
                                  </p:attrNameLst>
                                </p:cBhvr>
                                <p:to>
                                  <p:strVal val="visible"/>
                                </p:to>
                              </p:set>
                              <p:animEffect transition="in" filter="fade">
                                <p:cBhvr>
                                  <p:cTn id="18" dur="500" fill="hold"/>
                                  <p:tgtEl>
                                    <p:spTgt spid="8"/>
                                  </p:tgtEl>
                                </p:cBhvr>
                              </p:animEffect>
                            </p:childTnLst>
                          </p:cTn>
                        </p:par>
                      </p:childTnLst>
                    </p:cTn>
                  </p:par>
                  <p:par>
                    <p:cTn id="19" fill="hold">
                      <p:stCondLst>
                        <p:cond delay="0"/>
                      </p:stCondLst>
                      <p:childTnLst>
                        <p:par>
                          <p:cTn id="20" fill="hold">
                            <p:stCondLst>
                              <p:cond delay="0"/>
                            </p:stCondLst>
                            <p:childTnLst>
                              <p:set>
                                <p:cBhvr>
                                  <p:cTn id="21" dur="1" fill="hold"/>
                                  <p:tgtEl>
                                    <p:spTgt spid="9"/>
                                  </p:tgtEl>
                                  <p:attrNameLst>
                                    <p:attrName>style.visibility</p:attrName>
                                  </p:attrNameLst>
                                </p:cBhvr>
                                <p:to>
                                  <p:strVal val="visible"/>
                                </p:to>
                              </p:set>
                              <p:animEffect transition="in" filter="fade">
                                <p:cBhvr>
                                  <p:cTn id="22" dur="500" fill="hold"/>
                                  <p:tgtEl>
                                    <p:spTgt spid="9"/>
                                  </p:tgtEl>
                                </p:cBhvr>
                              </p:animEffect>
                            </p:childTnLst>
                          </p:cTn>
                        </p:par>
                      </p:childTnLst>
                    </p:cTn>
                  </p:par>
                  <p:par>
                    <p:cTn id="23" fill="hold">
                      <p:stCondLst>
                        <p:cond delay="0"/>
                      </p:stCondLst>
                      <p:childTnLst>
                        <p:par>
                          <p:cTn id="24" fill="hold">
                            <p:stCondLst>
                              <p:cond delay="0"/>
                            </p:stCondLst>
                            <p:childTnLst>
                              <p:set>
                                <p:cBhvr>
                                  <p:cTn id="25" dur="1" fill="hold"/>
                                  <p:tgtEl>
                                    <p:spTgt spid="10"/>
                                  </p:tgtEl>
                                  <p:attrNameLst>
                                    <p:attrName>style.visibility</p:attrName>
                                  </p:attrNameLst>
                                </p:cBhvr>
                                <p:to>
                                  <p:strVal val="visible"/>
                                </p:to>
                              </p:set>
                              <p:animEffect transition="in" filter="fade">
                                <p:cBhvr>
                                  <p:cTn id="26" dur="500" fill="hold"/>
                                  <p:tgtEl>
                                    <p:spTgt spid="10"/>
                                  </p:tgtEl>
                                </p:cBhvr>
                              </p:animEffect>
                            </p:childTnLst>
                          </p:cTn>
                        </p:par>
                      </p:childTnLst>
                    </p:cTn>
                  </p:par>
                  <p:par>
                    <p:cTn id="27" fill="hold">
                      <p:stCondLst>
                        <p:cond delay="0"/>
                      </p:stCondLst>
                      <p:childTnLst>
                        <p:par>
                          <p:cTn id="28" fill="hold">
                            <p:stCondLst>
                              <p:cond delay="0"/>
                            </p:stCondLst>
                            <p:childTnLst>
                              <p:set>
                                <p:cBhvr>
                                  <p:cTn id="29" dur="1" fill="hold"/>
                                  <p:tgtEl>
                                    <p:spTgt spid="11"/>
                                  </p:tgtEl>
                                  <p:attrNameLst>
                                    <p:attrName>style.visibility</p:attrName>
                                  </p:attrNameLst>
                                </p:cBhvr>
                                <p:to>
                                  <p:strVal val="visible"/>
                                </p:to>
                              </p:set>
                              <p:animEffect transition="in" filter="fade">
                                <p:cBhvr>
                                  <p:cTn id="30" dur="500" fill="hold"/>
                                  <p:tgtEl>
                                    <p:spTgt spid="11"/>
                                  </p:tgtEl>
                                </p:cBhvr>
                              </p:animEffect>
                            </p:childTnLst>
                          </p:cTn>
                        </p:par>
                      </p:childTnLst>
                    </p:cTn>
                  </p:par>
                </p:childTnLst>
              </p:cTn>
              <p:prevCondLst>
                <p:cond evt="onPrev" delay="0">
                  <p:tgtEl>
                    <p:spTgt spid="0"/>
                  </p:tgtEl>
                </p:cond>
              </p:prevCondLst>
              <p:nextCondLst>
                <p:cond evt="onNext" delay="0">
                  <p:tgtEl>
                    <p:spTgt spid="0"/>
                  </p:tgtEl>
                </p:cond>
              </p:nextCondLst>
            </p:seq>
          </p:childTnLst>
        </p:cTn>
      </p:par>
    </p:tnLst>
    <p:bldLst>
      <p:bldSp spid="3" grpId="0" animBg="true"/>
      <p:bldSp spid="4" grpId="0" animBg="true"/>
      <p:bldSp spid="7" grpId="0" animBg="true"/>
      <p:bldSp spid="8" grpId="0" animBg="true"/>
      <p:bldSp spid="9" grpId="0" animBg="true"/>
      <p:bldSp spid="10" grpId="0" animBg="true"/>
      <p:bldSp spid="11" grpId="0" animBg="true"/>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47472"/>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FFFFF"/>
                </a:solidFill>
                <a:latin typeface="Arial"/>
              </a:rPr>
              <a:t>PART 2: DATA VISUALIZATION | KASAM PRANAV REDDY</a:t>
            </a:r>
          </a:p>
        </p:txBody>
      </p:sp>
      <p:sp>
        <p:nvSpPr>
          <p:cNvPr id="4" name="TextBox 3"/>
          <p:cNvSpPr txBox="1"/>
          <p:nvPr/>
        </p:nvSpPr>
        <p:spPr>
          <a:xfrm>
            <a:off x="731520" y="749808"/>
            <a:ext cx="10698480" cy="868680"/>
          </a:xfrm>
          <a:prstGeom prst="rect">
            <a:avLst/>
          </a:prstGeom>
          <a:noFill/>
        </p:spPr>
        <p:txBody>
          <a:bodyPr wrap="square" lIns="0" tIns="0" rIns="0" bIns="0">
            <a:spAutoFit/>
          </a:bodyPr>
          <a:lstStyle/>
          <a:p>
            <a:r>
              <a:rPr sz="2200" b="1">
                <a:solidFill>
                  <a:srgbClr val="0F172A"/>
                </a:solidFill>
                <a:latin typeface="Arial"/>
              </a:rPr>
              <a:t>Raw Ingestion &amp; Schema Profiling (Notebook Cells 1–7)</a:t>
            </a:r>
          </a:p>
          <a:p>
            <a:r>
              <a:rPr sz="1300">
                <a:solidFill>
                  <a:srgbClr val="64748B"/>
                </a:solidFill>
                <a:latin typeface="Calibri"/>
              </a:rPr>
              <a:t>Loading the weather dataframe, inspecting column datatypes, and initial inspection</a:t>
            </a:r>
          </a:p>
        </p:txBody>
      </p:sp>
      <p:sp>
        <p:nvSpPr>
          <p:cNvPr id="5" name="Rectangle 4"/>
          <p:cNvSpPr/>
          <p:nvPr/>
        </p:nvSpPr>
        <p:spPr>
          <a:xfrm>
            <a:off x="731520" y="166420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728655" cy="274320"/>
          </a:xfrm>
          <a:prstGeom prst="rect">
            <a:avLst/>
          </a:prstGeom>
          <a:noFill/>
        </p:spPr>
        <p:txBody>
          <a:bodyPr wrap="none" lIns="0" tIns="0" rIns="0" bIns="0">
            <a:spAutoFit/>
          </a:bodyPr>
          <a:lstStyle/>
          <a:p>
            <a:r>
              <a:rPr sz="1000">
                <a:solidFill>
                  <a:srgbClr val="64748B"/>
                </a:solidFill>
                <a:latin typeface="Calibri"/>
              </a:rPr>
              <a:t>Foundations of Data Science (FDS) Course Project | Team 252U1R</a:t>
            </a:r>
            <a:r>
              <a:t>                                                                                               </a:t>
            </a:r>
            <a:r>
              <a:rPr sz="1000" b="1">
                <a:solidFill>
                  <a:srgbClr val="7C3AED"/>
                </a:solidFill>
                <a:latin typeface="Calibri"/>
              </a:rPr>
              <a:t>Slide 5 of 20</a:t>
            </a:r>
          </a:p>
        </p:txBody>
      </p:sp>
      <p:sp>
        <p:nvSpPr>
          <p:cNvPr id="7" name="Rounded Rectangle 6"/>
          <p:cNvSpPr/>
          <p:nvPr/>
        </p:nvSpPr>
        <p:spPr>
          <a:xfrm>
            <a:off x="731520" y="1920240"/>
            <a:ext cx="5257800" cy="43891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l"/>
            <a:r>
              <a:rPr sz="1300" b="1">
                <a:solidFill>
                  <a:srgbClr val="7C3AED"/>
                </a:solidFill>
                <a:latin typeface="Arial"/>
              </a:rPr>
              <a:t>PYTHON ENVIRONMENT &amp; LOADING (CELLS 1–4)</a:t>
            </a:r>
          </a:p>
          <a:p>
            <a:pPr algn="l"/>
            <a:r>
              <a:rPr sz="600" b="0">
                <a:latin typeface="Calibri"/>
              </a:rPr>
              <a:t/>
            </a:r>
          </a:p>
          <a:p>
            <a:pPr algn="l"/>
            <a:r>
              <a:rPr sz="1200" b="1">
                <a:solidFill>
                  <a:srgbClr val="0F172A"/>
                </a:solidFill>
                <a:latin typeface="Calibri"/>
              </a:rPr>
              <a:t>Execution Script in Cell 1–3:</a:t>
            </a:r>
          </a:p>
          <a:p>
            <a:pPr algn="l"/>
            <a:r>
              <a:rPr sz="1100" b="0">
                <a:solidFill>
                  <a:srgbClr val="0F172A"/>
                </a:solidFill>
                <a:latin typeface="Consolas"/>
              </a:rPr>
              <a:t>import pandas as pd
import numpy as np
import matplotlib.pyplot as plt
import seaborn as sns
df = pd.read_csv("weatherHistory.csv")</a:t>
            </a:r>
          </a:p>
          <a:p>
            <a:pPr algn="l"/>
            <a:r>
              <a:rPr sz="800" b="0">
                <a:latin typeface="Calibri"/>
              </a:rPr>
              <a:t/>
            </a:r>
          </a:p>
          <a:p>
            <a:pPr algn="l"/>
            <a:r>
              <a:rPr sz="1200" b="1">
                <a:solidFill>
                  <a:srgbClr val="0F172A"/>
                </a:solidFill>
                <a:latin typeface="Calibri"/>
              </a:rPr>
              <a:t>Cell 4 Output: DataFrame Shape</a:t>
            </a:r>
          </a:p>
          <a:p>
            <a:pPr algn="l"/>
            <a:r>
              <a:rPr sz="1150" b="0">
                <a:solidFill>
                  <a:srgbClr val="334155"/>
                </a:solidFill>
                <a:latin typeface="Calibri"/>
              </a:rPr>
              <a:t>df.shape -&gt; (30,711, 12)
• Confirmed loading of exactly 30,711 rows and 12 columns.
• Sufficient sample size to conduct asymptotic parametric tests and robust 80/20 train/test splits.</a:t>
            </a:r>
          </a:p>
          <a:p>
            <a:pPr algn="l"/>
            <a:r>
              <a:rPr sz="800" b="0">
                <a:latin typeface="Calibri"/>
              </a:rPr>
              <a:t/>
            </a:r>
          </a:p>
          <a:p>
            <a:pPr algn="l"/>
            <a:r>
              <a:rPr sz="1200" b="1">
                <a:solidFill>
                  <a:srgbClr val="0F172A"/>
                </a:solidFill>
                <a:latin typeface="Calibri"/>
              </a:rPr>
              <a:t>Styling Configuration (Cell 2):</a:t>
            </a:r>
          </a:p>
          <a:p>
            <a:pPr algn="l"/>
            <a:r>
              <a:rPr sz="1150" b="0">
                <a:solidFill>
                  <a:srgbClr val="334155"/>
                </a:solidFill>
                <a:latin typeface="Calibri"/>
              </a:rPr>
              <a:t>Configured sns.set_style("whitegrid") and figure canvas dimensions (10, 5) for consistent visual storytelling.</a:t>
            </a:r>
          </a:p>
        </p:txBody>
      </p:sp>
      <p:sp>
        <p:nvSpPr>
          <p:cNvPr id="8" name="Rounded Rectangle 7"/>
          <p:cNvSpPr/>
          <p:nvPr/>
        </p:nvSpPr>
        <p:spPr>
          <a:xfrm>
            <a:off x="6172200" y="1920240"/>
            <a:ext cx="5257800" cy="43891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l"/>
            <a:r>
              <a:rPr sz="1300" b="1">
                <a:solidFill>
                  <a:srgbClr val="7C3AED"/>
                </a:solidFill>
                <a:latin typeface="Arial"/>
              </a:rPr>
              <a:t>DATATYPES &amp; ATTRIBUTE CLASSIFICATION (CELLS 5–7)</a:t>
            </a:r>
          </a:p>
          <a:p>
            <a:pPr algn="l"/>
            <a:r>
              <a:rPr sz="600" b="0">
                <a:latin typeface="Calibri"/>
              </a:rPr>
              <a:t/>
            </a:r>
          </a:p>
          <a:p>
            <a:pPr algn="l"/>
            <a:r>
              <a:rPr sz="1200" b="1">
                <a:solidFill>
                  <a:srgbClr val="0F172A"/>
                </a:solidFill>
                <a:latin typeface="Calibri"/>
              </a:rPr>
              <a:t>Verification of Column dtypes (Cell 6):</a:t>
            </a:r>
          </a:p>
          <a:p>
            <a:pPr algn="l"/>
            <a:r>
              <a:rPr sz="1100" b="0">
                <a:solidFill>
                  <a:srgbClr val="334155"/>
                </a:solidFill>
                <a:latin typeface="Calibri"/>
              </a:rPr>
              <a:t>• Formatted Date: object (string timestamp, requires datetime parsing)
• Summary: object (categorical text)
• Precip Type: object (binary phase string)
• Temperature (C): float64 (continuous)
• Apparent Temperature (C): float64 (continuous target)
• Humidity: float64 (continuous ratio)
• Wind Speed (km/h): float64 (continuous)
• Wind Bearing (degrees): float64 (continuous angular)
• Visibility (km): float64 (continuous)
• Loud Cover: float64 (suspect zero variance)
• Pressure (millibars): float64 (continuous barometric)
• Daily Summary: object (multiline qualitative)</a:t>
            </a:r>
          </a:p>
          <a:p>
            <a:pPr algn="l"/>
            <a:r>
              <a:rPr sz="600" b="0">
                <a:latin typeface="Calibri"/>
              </a:rPr>
              <a:t/>
            </a:r>
          </a:p>
          <a:p>
            <a:pPr algn="l"/>
            <a:r>
              <a:rPr sz="1200" b="1">
                <a:solidFill>
                  <a:srgbClr val="7C3AED"/>
                </a:solidFill>
                <a:latin typeface="Calibri"/>
              </a:rPr>
              <a:t>Key Inspection Takeaway:</a:t>
            </a:r>
          </a:p>
          <a:p>
            <a:pPr algn="l"/>
            <a:r>
              <a:rPr sz="1150" b="0">
                <a:solidFill>
                  <a:srgbClr val="334155"/>
                </a:solidFill>
                <a:latin typeface="Calibri"/>
              </a:rPr>
              <a:t>7 continuous numerical variables are ready for mathematical modeling; timestamps require UTC transformation.</a:t>
            </a:r>
          </a:p>
        </p:txBody>
      </p:sp>
    </p:spTree>
  </p:cSld>
  <p:clrMapOvr>
    <a:masterClrMapping/>
  </p:clrMapOvr>
  <p:transition spd="med" advClick="1">
    <p:fade/>
  </p:transition>
  <p:timing>
    <p:tnLst>
      <p:par>
        <p:cTn id="1" dur="indefinite" restart="always"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tgtEl>
                                    <p:spTgt spid="3"/>
                                  </p:tgtEl>
                                  <p:attrNameLst>
                                    <p:attrName>style.visibility</p:attrName>
                                  </p:attrNameLst>
                                </p:cBhvr>
                                <p:to>
                                  <p:strVal val="visible"/>
                                </p:to>
                              </p:set>
                              <p:animEffect transition="in" filter="fade">
                                <p:cBhvr>
                                  <p:cTn id="6" dur="500" fill="hold"/>
                                  <p:tgtEl>
                                    <p:spTgt spid="3"/>
                                  </p:tgtEl>
                                </p:cBhvr>
                              </p:animEffect>
                            </p:childTnLst>
                          </p:cTn>
                        </p:par>
                      </p:childTnLst>
                    </p:cTn>
                  </p:par>
                  <p:par>
                    <p:cTn id="7" fill="hold">
                      <p:stCondLst>
                        <p:cond delay="0"/>
                      </p:stCondLst>
                      <p:childTnLst>
                        <p:par>
                          <p:cTn id="8" fill="hold">
                            <p:stCondLst>
                              <p:cond delay="0"/>
                            </p:stCondLst>
                            <p:childTnLst>
                              <p:set>
                                <p:cBhvr>
                                  <p:cTn id="9" dur="1" fill="hold"/>
                                  <p:tgtEl>
                                    <p:spTgt spid="4"/>
                                  </p:tgtEl>
                                  <p:attrNameLst>
                                    <p:attrName>style.visibility</p:attrName>
                                  </p:attrNameLst>
                                </p:cBhvr>
                                <p:to>
                                  <p:strVal val="visible"/>
                                </p:to>
                              </p:set>
                              <p:animEffect transition="in" filter="fade">
                                <p:cBhvr>
                                  <p:cTn id="10" dur="500" fill="hold"/>
                                  <p:tgtEl>
                                    <p:spTgt spid="4"/>
                                  </p:tgtEl>
                                </p:cBhvr>
                              </p:animEffect>
                            </p:childTnLst>
                          </p:cTn>
                        </p:par>
                      </p:childTnLst>
                    </p:cTn>
                  </p:par>
                  <p:par>
                    <p:cTn id="11" fill="hold">
                      <p:stCondLst>
                        <p:cond delay="0"/>
                      </p:stCondLst>
                      <p:childTnLst>
                        <p:par>
                          <p:cTn id="12" fill="hold">
                            <p:stCondLst>
                              <p:cond delay="0"/>
                            </p:stCondLst>
                            <p:childTnLst>
                              <p:set>
                                <p:cBhvr>
                                  <p:cTn id="13" dur="1" fill="hold"/>
                                  <p:tgtEl>
                                    <p:spTgt spid="7"/>
                                  </p:tgtEl>
                                  <p:attrNameLst>
                                    <p:attrName>style.visibility</p:attrName>
                                  </p:attrNameLst>
                                </p:cBhvr>
                                <p:to>
                                  <p:strVal val="visible"/>
                                </p:to>
                              </p:set>
                              <p:animEffect transition="in" filter="fade">
                                <p:cBhvr>
                                  <p:cTn id="14" dur="500" fill="hold"/>
                                  <p:tgtEl>
                                    <p:spTgt spid="7"/>
                                  </p:tgtEl>
                                </p:cBhvr>
                              </p:animEffect>
                            </p:childTnLst>
                          </p:cTn>
                        </p:par>
                      </p:childTnLst>
                    </p:cTn>
                  </p:par>
                  <p:par>
                    <p:cTn id="15" fill="hold">
                      <p:stCondLst>
                        <p:cond delay="0"/>
                      </p:stCondLst>
                      <p:childTnLst>
                        <p:par>
                          <p:cTn id="16" fill="hold">
                            <p:stCondLst>
                              <p:cond delay="0"/>
                            </p:stCondLst>
                            <p:childTnLst>
                              <p:set>
                                <p:cBhvr>
                                  <p:cTn id="17" dur="1" fill="hold"/>
                                  <p:tgtEl>
                                    <p:spTgt spid="8"/>
                                  </p:tgtEl>
                                  <p:attrNameLst>
                                    <p:attrName>style.visibility</p:attrName>
                                  </p:attrNameLst>
                                </p:cBhvr>
                                <p:to>
                                  <p:strVal val="visible"/>
                                </p:to>
                              </p:set>
                              <p:animEffect transition="in" filter="fade">
                                <p:cBhvr>
                                  <p:cTn id="18" dur="500" fill="hold"/>
                                  <p:tgtEl>
                                    <p:spTgt spid="8"/>
                                  </p:tgtEl>
                                </p:cBhvr>
                              </p:animEffect>
                            </p:childTnLst>
                          </p:cTn>
                        </p:par>
                      </p:childTnLst>
                    </p:cTn>
                  </p:par>
                </p:childTnLst>
              </p:cTn>
              <p:prevCondLst>
                <p:cond evt="onPrev" delay="0">
                  <p:tgtEl>
                    <p:spTgt spid="0"/>
                  </p:tgtEl>
                </p:cond>
              </p:prevCondLst>
              <p:nextCondLst>
                <p:cond evt="onNext" delay="0">
                  <p:tgtEl>
                    <p:spTgt spid="0"/>
                  </p:tgtEl>
                </p:cond>
              </p:nextCondLst>
            </p:seq>
          </p:childTnLst>
        </p:cTn>
      </p:par>
    </p:tnLst>
    <p:bldLst>
      <p:bldSp spid="3" grpId="0" animBg="true"/>
      <p:bldSp spid="4" grpId="0" animBg="true"/>
      <p:bldSp spid="7" grpId="0" animBg="true"/>
      <p:bldSp spid="8" grpId="0" animBg="true"/>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47472"/>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FFFFF"/>
                </a:solidFill>
                <a:latin typeface="Arial"/>
              </a:rPr>
              <a:t>PART 2: DATA VISUALIZATION | KASAM PRANAV REDDY</a:t>
            </a:r>
          </a:p>
        </p:txBody>
      </p:sp>
      <p:sp>
        <p:nvSpPr>
          <p:cNvPr id="4" name="TextBox 3"/>
          <p:cNvSpPr txBox="1"/>
          <p:nvPr/>
        </p:nvSpPr>
        <p:spPr>
          <a:xfrm>
            <a:off x="731520" y="749808"/>
            <a:ext cx="10698480" cy="868680"/>
          </a:xfrm>
          <a:prstGeom prst="rect">
            <a:avLst/>
          </a:prstGeom>
          <a:noFill/>
        </p:spPr>
        <p:txBody>
          <a:bodyPr wrap="square" lIns="0" tIns="0" rIns="0" bIns="0">
            <a:spAutoFit/>
          </a:bodyPr>
          <a:lstStyle/>
          <a:p>
            <a:r>
              <a:rPr sz="2200" b="1">
                <a:solidFill>
                  <a:srgbClr val="0F172A"/>
                </a:solidFill>
                <a:latin typeface="Arial"/>
              </a:rPr>
              <a:t>Descriptive Statistical Profiling (Notebook Cell 8)</a:t>
            </a:r>
          </a:p>
          <a:p>
            <a:r>
              <a:rPr sz="1300">
                <a:solidFill>
                  <a:srgbClr val="64748B"/>
                </a:solidFill>
                <a:latin typeface="Calibri"/>
              </a:rPr>
              <a:t>Parametric distribution properties and early detection of physical data anomalies</a:t>
            </a:r>
          </a:p>
        </p:txBody>
      </p:sp>
      <p:sp>
        <p:nvSpPr>
          <p:cNvPr id="5" name="Rectangle 4"/>
          <p:cNvSpPr/>
          <p:nvPr/>
        </p:nvSpPr>
        <p:spPr>
          <a:xfrm>
            <a:off x="731520" y="166420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728655" cy="274320"/>
          </a:xfrm>
          <a:prstGeom prst="rect">
            <a:avLst/>
          </a:prstGeom>
          <a:noFill/>
        </p:spPr>
        <p:txBody>
          <a:bodyPr wrap="none" lIns="0" tIns="0" rIns="0" bIns="0">
            <a:spAutoFit/>
          </a:bodyPr>
          <a:lstStyle/>
          <a:p>
            <a:r>
              <a:rPr sz="1000">
                <a:solidFill>
                  <a:srgbClr val="64748B"/>
                </a:solidFill>
                <a:latin typeface="Calibri"/>
              </a:rPr>
              <a:t>Foundations of Data Science (FDS) Course Project | Team 252U1R</a:t>
            </a:r>
            <a:r>
              <a:t>                                                                                               </a:t>
            </a:r>
            <a:r>
              <a:rPr sz="1000" b="1">
                <a:solidFill>
                  <a:srgbClr val="7C3AED"/>
                </a:solidFill>
                <a:latin typeface="Calibri"/>
              </a:rPr>
              <a:t>Slide 6 of 20</a:t>
            </a:r>
          </a:p>
        </p:txBody>
      </p:sp>
      <p:graphicFrame>
        <p:nvGraphicFramePr>
          <p:cNvPr id="7" name="Table 6"/>
          <p:cNvGraphicFramePr>
            <a:graphicFrameLocks noGrp="1"/>
          </p:cNvGraphicFramePr>
          <p:nvPr/>
        </p:nvGraphicFramePr>
        <p:xfrm>
          <a:off x="731520" y="1920240"/>
          <a:ext cx="10728655" cy="2560320"/>
        </p:xfrm>
        <a:graphic>
          <a:graphicData uri="http://schemas.openxmlformats.org/drawingml/2006/table">
            <a:tbl>
              <a:tblPr firstRow="1" bandRow="1">
                <a:tableStyleId>{5C22544A-7EE6-4342-B048-85BDC9FD1C3A}</a:tableStyleId>
              </a:tblPr>
              <a:tblGrid>
                <a:gridCol w="1341081"/>
                <a:gridCol w="1341081"/>
                <a:gridCol w="1341081"/>
                <a:gridCol w="1341081"/>
                <a:gridCol w="1341081"/>
                <a:gridCol w="1341081"/>
                <a:gridCol w="1341081"/>
                <a:gridCol w="1341088"/>
              </a:tblGrid>
              <a:tr h="320040">
                <a:tc>
                  <a:txBody>
                    <a:bodyPr/>
                    <a:lstStyle/>
                    <a:p>
                      <a:pPr algn="ctr"/>
                      <a:r>
                        <a:rPr sz="1100" b="1">
                          <a:solidFill>
                            <a:srgbClr val="FFFFFF"/>
                          </a:solidFill>
                          <a:latin typeface="Arial"/>
                        </a:rPr>
                        <a:t>Metric / Attribute</a:t>
                      </a:r>
                    </a:p>
                  </a:txBody>
                  <a:tcPr>
                    <a:solidFill>
                      <a:srgbClr val="0F172A"/>
                    </a:solidFill>
                  </a:tcPr>
                </a:tc>
                <a:tc>
                  <a:txBody>
                    <a:bodyPr/>
                    <a:lstStyle/>
                    <a:p>
                      <a:pPr algn="ctr"/>
                      <a:r>
                        <a:rPr sz="1100" b="1">
                          <a:solidFill>
                            <a:srgbClr val="FFFFFF"/>
                          </a:solidFill>
                          <a:latin typeface="Arial"/>
                        </a:rPr>
                        <a:t>Mean (μ)</a:t>
                      </a:r>
                    </a:p>
                  </a:txBody>
                  <a:tcPr>
                    <a:solidFill>
                      <a:srgbClr val="0F172A"/>
                    </a:solidFill>
                  </a:tcPr>
                </a:tc>
                <a:tc>
                  <a:txBody>
                    <a:bodyPr/>
                    <a:lstStyle/>
                    <a:p>
                      <a:pPr algn="ctr"/>
                      <a:r>
                        <a:rPr sz="1100" b="1">
                          <a:solidFill>
                            <a:srgbClr val="FFFFFF"/>
                          </a:solidFill>
                          <a:latin typeface="Arial"/>
                        </a:rPr>
                        <a:t>Std Dev (σ)</a:t>
                      </a:r>
                    </a:p>
                  </a:txBody>
                  <a:tcPr>
                    <a:solidFill>
                      <a:srgbClr val="0F172A"/>
                    </a:solidFill>
                  </a:tcPr>
                </a:tc>
                <a:tc>
                  <a:txBody>
                    <a:bodyPr/>
                    <a:lstStyle/>
                    <a:p>
                      <a:pPr algn="ctr"/>
                      <a:r>
                        <a:rPr sz="1100" b="1">
                          <a:solidFill>
                            <a:srgbClr val="FFFFFF"/>
                          </a:solidFill>
                          <a:latin typeface="Arial"/>
                        </a:rPr>
                        <a:t>Min</a:t>
                      </a:r>
                    </a:p>
                  </a:txBody>
                  <a:tcPr>
                    <a:solidFill>
                      <a:srgbClr val="0F172A"/>
                    </a:solidFill>
                  </a:tcPr>
                </a:tc>
                <a:tc>
                  <a:txBody>
                    <a:bodyPr/>
                    <a:lstStyle/>
                    <a:p>
                      <a:pPr algn="ctr"/>
                      <a:r>
                        <a:rPr sz="1100" b="1">
                          <a:solidFill>
                            <a:srgbClr val="FFFFFF"/>
                          </a:solidFill>
                          <a:latin typeface="Arial"/>
                        </a:rPr>
                        <a:t>25% (Q1)</a:t>
                      </a:r>
                    </a:p>
                  </a:txBody>
                  <a:tcPr>
                    <a:solidFill>
                      <a:srgbClr val="0F172A"/>
                    </a:solidFill>
                  </a:tcPr>
                </a:tc>
                <a:tc>
                  <a:txBody>
                    <a:bodyPr/>
                    <a:lstStyle/>
                    <a:p>
                      <a:pPr algn="ctr"/>
                      <a:r>
                        <a:rPr sz="1100" b="1">
                          <a:solidFill>
                            <a:srgbClr val="FFFFFF"/>
                          </a:solidFill>
                          <a:latin typeface="Arial"/>
                        </a:rPr>
                        <a:t>Median</a:t>
                      </a:r>
                    </a:p>
                  </a:txBody>
                  <a:tcPr>
                    <a:solidFill>
                      <a:srgbClr val="0F172A"/>
                    </a:solidFill>
                  </a:tcPr>
                </a:tc>
                <a:tc>
                  <a:txBody>
                    <a:bodyPr/>
                    <a:lstStyle/>
                    <a:p>
                      <a:pPr algn="ctr"/>
                      <a:r>
                        <a:rPr sz="1100" b="1">
                          <a:solidFill>
                            <a:srgbClr val="FFFFFF"/>
                          </a:solidFill>
                          <a:latin typeface="Arial"/>
                        </a:rPr>
                        <a:t>75% (Q3)</a:t>
                      </a:r>
                    </a:p>
                  </a:txBody>
                  <a:tcPr>
                    <a:solidFill>
                      <a:srgbClr val="0F172A"/>
                    </a:solidFill>
                  </a:tcPr>
                </a:tc>
                <a:tc>
                  <a:txBody>
                    <a:bodyPr/>
                    <a:lstStyle/>
                    <a:p>
                      <a:pPr algn="ctr"/>
                      <a:r>
                        <a:rPr sz="1100" b="1">
                          <a:solidFill>
                            <a:srgbClr val="FFFFFF"/>
                          </a:solidFill>
                          <a:latin typeface="Arial"/>
                        </a:rPr>
                        <a:t>Max</a:t>
                      </a:r>
                    </a:p>
                  </a:txBody>
                  <a:tcPr>
                    <a:solidFill>
                      <a:srgbClr val="0F172A"/>
                    </a:solidFill>
                  </a:tcPr>
                </a:tc>
              </a:tr>
              <a:tr h="320040">
                <a:tc>
                  <a:txBody>
                    <a:bodyPr/>
                    <a:lstStyle/>
                    <a:p>
                      <a:pPr algn="l"/>
                      <a:r>
                        <a:rPr sz="1050" b="1">
                          <a:solidFill>
                            <a:srgbClr val="0F172A"/>
                          </a:solidFill>
                          <a:latin typeface="Calibri"/>
                        </a:rPr>
                        <a:t>Temperature (°C)</a:t>
                      </a:r>
                    </a:p>
                  </a:txBody>
                  <a:tcPr>
                    <a:solidFill>
                      <a:srgbClr val="FFFFFF"/>
                    </a:solidFill>
                  </a:tcPr>
                </a:tc>
                <a:tc>
                  <a:txBody>
                    <a:bodyPr/>
                    <a:lstStyle/>
                    <a:p>
                      <a:pPr algn="ctr"/>
                      <a:r>
                        <a:rPr sz="1050">
                          <a:solidFill>
                            <a:srgbClr val="334155"/>
                          </a:solidFill>
                          <a:latin typeface="Calibri"/>
                        </a:rPr>
                        <a:t>11.70</a:t>
                      </a:r>
                    </a:p>
                  </a:txBody>
                  <a:tcPr>
                    <a:solidFill>
                      <a:srgbClr val="FFFFFF"/>
                    </a:solidFill>
                  </a:tcPr>
                </a:tc>
                <a:tc>
                  <a:txBody>
                    <a:bodyPr/>
                    <a:lstStyle/>
                    <a:p>
                      <a:pPr algn="ctr"/>
                      <a:r>
                        <a:rPr sz="1050">
                          <a:solidFill>
                            <a:srgbClr val="334155"/>
                          </a:solidFill>
                          <a:latin typeface="Calibri"/>
                        </a:rPr>
                        <a:t>9.60</a:t>
                      </a:r>
                    </a:p>
                  </a:txBody>
                  <a:tcPr>
                    <a:solidFill>
                      <a:srgbClr val="FFFFFF"/>
                    </a:solidFill>
                  </a:tcPr>
                </a:tc>
                <a:tc>
                  <a:txBody>
                    <a:bodyPr/>
                    <a:lstStyle/>
                    <a:p>
                      <a:pPr algn="ctr"/>
                      <a:r>
                        <a:rPr sz="1050">
                          <a:solidFill>
                            <a:srgbClr val="334155"/>
                          </a:solidFill>
                          <a:latin typeface="Calibri"/>
                        </a:rPr>
                        <a:t>-21.82</a:t>
                      </a:r>
                    </a:p>
                  </a:txBody>
                  <a:tcPr>
                    <a:solidFill>
                      <a:srgbClr val="FFFFFF"/>
                    </a:solidFill>
                  </a:tcPr>
                </a:tc>
                <a:tc>
                  <a:txBody>
                    <a:bodyPr/>
                    <a:lstStyle/>
                    <a:p>
                      <a:pPr algn="l"/>
                      <a:r>
                        <a:rPr sz="1050">
                          <a:solidFill>
                            <a:srgbClr val="334155"/>
                          </a:solidFill>
                          <a:latin typeface="Calibri"/>
                        </a:rPr>
                        <a:t>4.38</a:t>
                      </a:r>
                    </a:p>
                  </a:txBody>
                  <a:tcPr>
                    <a:solidFill>
                      <a:srgbClr val="FFFFFF"/>
                    </a:solidFill>
                  </a:tcPr>
                </a:tc>
                <a:tc>
                  <a:txBody>
                    <a:bodyPr/>
                    <a:lstStyle/>
                    <a:p>
                      <a:pPr algn="l"/>
                      <a:r>
                        <a:rPr sz="1050">
                          <a:solidFill>
                            <a:srgbClr val="334155"/>
                          </a:solidFill>
                          <a:latin typeface="Calibri"/>
                        </a:rPr>
                        <a:t>11.78</a:t>
                      </a:r>
                    </a:p>
                  </a:txBody>
                  <a:tcPr>
                    <a:solidFill>
                      <a:srgbClr val="FFFFFF"/>
                    </a:solidFill>
                  </a:tcPr>
                </a:tc>
                <a:tc>
                  <a:txBody>
                    <a:bodyPr/>
                    <a:lstStyle/>
                    <a:p>
                      <a:pPr algn="l"/>
                      <a:r>
                        <a:rPr sz="1050">
                          <a:solidFill>
                            <a:srgbClr val="334155"/>
                          </a:solidFill>
                          <a:latin typeface="Calibri"/>
                        </a:rPr>
                        <a:t>18.89</a:t>
                      </a:r>
                    </a:p>
                  </a:txBody>
                  <a:tcPr>
                    <a:solidFill>
                      <a:srgbClr val="FFFFFF"/>
                    </a:solidFill>
                  </a:tcPr>
                </a:tc>
                <a:tc>
                  <a:txBody>
                    <a:bodyPr/>
                    <a:lstStyle/>
                    <a:p>
                      <a:pPr algn="l"/>
                      <a:r>
                        <a:rPr sz="1050">
                          <a:solidFill>
                            <a:srgbClr val="334155"/>
                          </a:solidFill>
                          <a:latin typeface="Calibri"/>
                        </a:rPr>
                        <a:t>39.91</a:t>
                      </a:r>
                    </a:p>
                  </a:txBody>
                  <a:tcPr>
                    <a:solidFill>
                      <a:srgbClr val="FFFFFF"/>
                    </a:solidFill>
                  </a:tcPr>
                </a:tc>
              </a:tr>
              <a:tr h="320040">
                <a:tc>
                  <a:txBody>
                    <a:bodyPr/>
                    <a:lstStyle/>
                    <a:p>
                      <a:pPr algn="l"/>
                      <a:r>
                        <a:rPr sz="1050" b="1">
                          <a:solidFill>
                            <a:srgbClr val="0F172A"/>
                          </a:solidFill>
                          <a:latin typeface="Calibri"/>
                        </a:rPr>
                        <a:t>Apparent Temp (°C)</a:t>
                      </a:r>
                    </a:p>
                  </a:txBody>
                  <a:tcPr>
                    <a:solidFill>
                      <a:srgbClr val="F1F5F9"/>
                    </a:solidFill>
                  </a:tcPr>
                </a:tc>
                <a:tc>
                  <a:txBody>
                    <a:bodyPr/>
                    <a:lstStyle/>
                    <a:p>
                      <a:pPr algn="ctr"/>
                      <a:r>
                        <a:rPr sz="1050">
                          <a:solidFill>
                            <a:srgbClr val="334155"/>
                          </a:solidFill>
                          <a:latin typeface="Calibri"/>
                        </a:rPr>
                        <a:t>10.56</a:t>
                      </a:r>
                    </a:p>
                  </a:txBody>
                  <a:tcPr>
                    <a:solidFill>
                      <a:srgbClr val="F1F5F9"/>
                    </a:solidFill>
                  </a:tcPr>
                </a:tc>
                <a:tc>
                  <a:txBody>
                    <a:bodyPr/>
                    <a:lstStyle/>
                    <a:p>
                      <a:pPr algn="ctr"/>
                      <a:r>
                        <a:rPr sz="1050">
                          <a:solidFill>
                            <a:srgbClr val="334155"/>
                          </a:solidFill>
                          <a:latin typeface="Calibri"/>
                        </a:rPr>
                        <a:t>10.74</a:t>
                      </a:r>
                    </a:p>
                  </a:txBody>
                  <a:tcPr>
                    <a:solidFill>
                      <a:srgbClr val="F1F5F9"/>
                    </a:solidFill>
                  </a:tcPr>
                </a:tc>
                <a:tc>
                  <a:txBody>
                    <a:bodyPr/>
                    <a:lstStyle/>
                    <a:p>
                      <a:pPr algn="ctr"/>
                      <a:r>
                        <a:rPr sz="1050">
                          <a:solidFill>
                            <a:srgbClr val="334155"/>
                          </a:solidFill>
                          <a:latin typeface="Calibri"/>
                        </a:rPr>
                        <a:t>-27.72</a:t>
                      </a:r>
                    </a:p>
                  </a:txBody>
                  <a:tcPr>
                    <a:solidFill>
                      <a:srgbClr val="F1F5F9"/>
                    </a:solidFill>
                  </a:tcPr>
                </a:tc>
                <a:tc>
                  <a:txBody>
                    <a:bodyPr/>
                    <a:lstStyle/>
                    <a:p>
                      <a:pPr algn="l"/>
                      <a:r>
                        <a:rPr sz="1050">
                          <a:solidFill>
                            <a:srgbClr val="334155"/>
                          </a:solidFill>
                          <a:latin typeface="Calibri"/>
                        </a:rPr>
                        <a:t>2.22</a:t>
                      </a:r>
                    </a:p>
                  </a:txBody>
                  <a:tcPr>
                    <a:solidFill>
                      <a:srgbClr val="F1F5F9"/>
                    </a:solidFill>
                  </a:tcPr>
                </a:tc>
                <a:tc>
                  <a:txBody>
                    <a:bodyPr/>
                    <a:lstStyle/>
                    <a:p>
                      <a:pPr algn="l"/>
                      <a:r>
                        <a:rPr sz="1050">
                          <a:solidFill>
                            <a:srgbClr val="334155"/>
                          </a:solidFill>
                          <a:latin typeface="Calibri"/>
                        </a:rPr>
                        <a:t>11.78</a:t>
                      </a:r>
                    </a:p>
                  </a:txBody>
                  <a:tcPr>
                    <a:solidFill>
                      <a:srgbClr val="F1F5F9"/>
                    </a:solidFill>
                  </a:tcPr>
                </a:tc>
                <a:tc>
                  <a:txBody>
                    <a:bodyPr/>
                    <a:lstStyle/>
                    <a:p>
                      <a:pPr algn="l"/>
                      <a:r>
                        <a:rPr sz="1050">
                          <a:solidFill>
                            <a:srgbClr val="334155"/>
                          </a:solidFill>
                          <a:latin typeface="Calibri"/>
                        </a:rPr>
                        <a:t>18.89</a:t>
                      </a:r>
                    </a:p>
                  </a:txBody>
                  <a:tcPr>
                    <a:solidFill>
                      <a:srgbClr val="F1F5F9"/>
                    </a:solidFill>
                  </a:tcPr>
                </a:tc>
                <a:tc>
                  <a:txBody>
                    <a:bodyPr/>
                    <a:lstStyle/>
                    <a:p>
                      <a:pPr algn="l"/>
                      <a:r>
                        <a:rPr sz="1050">
                          <a:solidFill>
                            <a:srgbClr val="334155"/>
                          </a:solidFill>
                          <a:latin typeface="Calibri"/>
                        </a:rPr>
                        <a:t>39.35</a:t>
                      </a:r>
                    </a:p>
                  </a:txBody>
                  <a:tcPr>
                    <a:solidFill>
                      <a:srgbClr val="F1F5F9"/>
                    </a:solidFill>
                  </a:tcPr>
                </a:tc>
              </a:tr>
              <a:tr h="320040">
                <a:tc>
                  <a:txBody>
                    <a:bodyPr/>
                    <a:lstStyle/>
                    <a:p>
                      <a:pPr algn="l"/>
                      <a:r>
                        <a:rPr sz="1050" b="1">
                          <a:solidFill>
                            <a:srgbClr val="0F172A"/>
                          </a:solidFill>
                          <a:latin typeface="Calibri"/>
                        </a:rPr>
                        <a:t>Humidity (0–1)</a:t>
                      </a:r>
                    </a:p>
                  </a:txBody>
                  <a:tcPr>
                    <a:solidFill>
                      <a:srgbClr val="FFFFFF"/>
                    </a:solidFill>
                  </a:tcPr>
                </a:tc>
                <a:tc>
                  <a:txBody>
                    <a:bodyPr/>
                    <a:lstStyle/>
                    <a:p>
                      <a:pPr algn="ctr"/>
                      <a:r>
                        <a:rPr sz="1050">
                          <a:solidFill>
                            <a:srgbClr val="334155"/>
                          </a:solidFill>
                          <a:latin typeface="Calibri"/>
                        </a:rPr>
                        <a:t>0.72</a:t>
                      </a:r>
                    </a:p>
                  </a:txBody>
                  <a:tcPr>
                    <a:solidFill>
                      <a:srgbClr val="FFFFFF"/>
                    </a:solidFill>
                  </a:tcPr>
                </a:tc>
                <a:tc>
                  <a:txBody>
                    <a:bodyPr/>
                    <a:lstStyle/>
                    <a:p>
                      <a:pPr algn="ctr"/>
                      <a:r>
                        <a:rPr sz="1050">
                          <a:solidFill>
                            <a:srgbClr val="334155"/>
                          </a:solidFill>
                          <a:latin typeface="Calibri"/>
                        </a:rPr>
                        <a:t>0.20</a:t>
                      </a:r>
                    </a:p>
                  </a:txBody>
                  <a:tcPr>
                    <a:solidFill>
                      <a:srgbClr val="FFFFFF"/>
                    </a:solidFill>
                  </a:tcPr>
                </a:tc>
                <a:tc>
                  <a:txBody>
                    <a:bodyPr/>
                    <a:lstStyle/>
                    <a:p>
                      <a:pPr algn="ctr"/>
                      <a:r>
                        <a:rPr sz="1050">
                          <a:solidFill>
                            <a:srgbClr val="334155"/>
                          </a:solidFill>
                          <a:latin typeface="Calibri"/>
                        </a:rPr>
                        <a:t>0.00</a:t>
                      </a:r>
                    </a:p>
                  </a:txBody>
                  <a:tcPr>
                    <a:solidFill>
                      <a:srgbClr val="FFFFFF"/>
                    </a:solidFill>
                  </a:tcPr>
                </a:tc>
                <a:tc>
                  <a:txBody>
                    <a:bodyPr/>
                    <a:lstStyle/>
                    <a:p>
                      <a:pPr algn="l"/>
                      <a:r>
                        <a:rPr sz="1050">
                          <a:solidFill>
                            <a:srgbClr val="334155"/>
                          </a:solidFill>
                          <a:latin typeface="Calibri"/>
                        </a:rPr>
                        <a:t>0.60</a:t>
                      </a:r>
                    </a:p>
                  </a:txBody>
                  <a:tcPr>
                    <a:solidFill>
                      <a:srgbClr val="FFFFFF"/>
                    </a:solidFill>
                  </a:tcPr>
                </a:tc>
                <a:tc>
                  <a:txBody>
                    <a:bodyPr/>
                    <a:lstStyle/>
                    <a:p>
                      <a:pPr algn="l"/>
                      <a:r>
                        <a:rPr sz="1050">
                          <a:solidFill>
                            <a:srgbClr val="334155"/>
                          </a:solidFill>
                          <a:latin typeface="Calibri"/>
                        </a:rPr>
                        <a:t>0.78</a:t>
                      </a:r>
                    </a:p>
                  </a:txBody>
                  <a:tcPr>
                    <a:solidFill>
                      <a:srgbClr val="FFFFFF"/>
                    </a:solidFill>
                  </a:tcPr>
                </a:tc>
                <a:tc>
                  <a:txBody>
                    <a:bodyPr/>
                    <a:lstStyle/>
                    <a:p>
                      <a:pPr algn="l"/>
                      <a:r>
                        <a:rPr sz="1050">
                          <a:solidFill>
                            <a:srgbClr val="334155"/>
                          </a:solidFill>
                          <a:latin typeface="Calibri"/>
                        </a:rPr>
                        <a:t>0.89</a:t>
                      </a:r>
                    </a:p>
                  </a:txBody>
                  <a:tcPr>
                    <a:solidFill>
                      <a:srgbClr val="FFFFFF"/>
                    </a:solidFill>
                  </a:tcPr>
                </a:tc>
                <a:tc>
                  <a:txBody>
                    <a:bodyPr/>
                    <a:lstStyle/>
                    <a:p>
                      <a:pPr algn="l"/>
                      <a:r>
                        <a:rPr sz="1050">
                          <a:solidFill>
                            <a:srgbClr val="334155"/>
                          </a:solidFill>
                          <a:latin typeface="Calibri"/>
                        </a:rPr>
                        <a:t>1.00</a:t>
                      </a:r>
                    </a:p>
                  </a:txBody>
                  <a:tcPr>
                    <a:solidFill>
                      <a:srgbClr val="FFFFFF"/>
                    </a:solidFill>
                  </a:tcPr>
                </a:tc>
              </a:tr>
              <a:tr h="320040">
                <a:tc>
                  <a:txBody>
                    <a:bodyPr/>
                    <a:lstStyle/>
                    <a:p>
                      <a:pPr algn="l"/>
                      <a:r>
                        <a:rPr sz="1050" b="1">
                          <a:solidFill>
                            <a:srgbClr val="0F172A"/>
                          </a:solidFill>
                          <a:latin typeface="Calibri"/>
                        </a:rPr>
                        <a:t>Wind Speed (km/h)</a:t>
                      </a:r>
                    </a:p>
                  </a:txBody>
                  <a:tcPr>
                    <a:solidFill>
                      <a:srgbClr val="F1F5F9"/>
                    </a:solidFill>
                  </a:tcPr>
                </a:tc>
                <a:tc>
                  <a:txBody>
                    <a:bodyPr/>
                    <a:lstStyle/>
                    <a:p>
                      <a:pPr algn="ctr"/>
                      <a:r>
                        <a:rPr sz="1050">
                          <a:solidFill>
                            <a:srgbClr val="334155"/>
                          </a:solidFill>
                          <a:latin typeface="Calibri"/>
                        </a:rPr>
                        <a:t>10.82</a:t>
                      </a:r>
                    </a:p>
                  </a:txBody>
                  <a:tcPr>
                    <a:solidFill>
                      <a:srgbClr val="F1F5F9"/>
                    </a:solidFill>
                  </a:tcPr>
                </a:tc>
                <a:tc>
                  <a:txBody>
                    <a:bodyPr/>
                    <a:lstStyle/>
                    <a:p>
                      <a:pPr algn="ctr"/>
                      <a:r>
                        <a:rPr sz="1050">
                          <a:solidFill>
                            <a:srgbClr val="334155"/>
                          </a:solidFill>
                          <a:latin typeface="Calibri"/>
                        </a:rPr>
                        <a:t>6.92</a:t>
                      </a:r>
                    </a:p>
                  </a:txBody>
                  <a:tcPr>
                    <a:solidFill>
                      <a:srgbClr val="F1F5F9"/>
                    </a:solidFill>
                  </a:tcPr>
                </a:tc>
                <a:tc>
                  <a:txBody>
                    <a:bodyPr/>
                    <a:lstStyle/>
                    <a:p>
                      <a:pPr algn="ctr"/>
                      <a:r>
                        <a:rPr sz="1050">
                          <a:solidFill>
                            <a:srgbClr val="334155"/>
                          </a:solidFill>
                          <a:latin typeface="Calibri"/>
                        </a:rPr>
                        <a:t>0.00</a:t>
                      </a:r>
                    </a:p>
                  </a:txBody>
                  <a:tcPr>
                    <a:solidFill>
                      <a:srgbClr val="F1F5F9"/>
                    </a:solidFill>
                  </a:tcPr>
                </a:tc>
                <a:tc>
                  <a:txBody>
                    <a:bodyPr/>
                    <a:lstStyle/>
                    <a:p>
                      <a:pPr algn="l"/>
                      <a:r>
                        <a:rPr sz="1050">
                          <a:solidFill>
                            <a:srgbClr val="334155"/>
                          </a:solidFill>
                          <a:latin typeface="Calibri"/>
                        </a:rPr>
                        <a:t>5.80</a:t>
                      </a:r>
                    </a:p>
                  </a:txBody>
                  <a:tcPr>
                    <a:solidFill>
                      <a:srgbClr val="F1F5F9"/>
                    </a:solidFill>
                  </a:tcPr>
                </a:tc>
                <a:tc>
                  <a:txBody>
                    <a:bodyPr/>
                    <a:lstStyle/>
                    <a:p>
                      <a:pPr algn="l"/>
                      <a:r>
                        <a:rPr sz="1050">
                          <a:solidFill>
                            <a:srgbClr val="334155"/>
                          </a:solidFill>
                          <a:latin typeface="Calibri"/>
                        </a:rPr>
                        <a:t>9.97</a:t>
                      </a:r>
                    </a:p>
                  </a:txBody>
                  <a:tcPr>
                    <a:solidFill>
                      <a:srgbClr val="F1F5F9"/>
                    </a:solidFill>
                  </a:tcPr>
                </a:tc>
                <a:tc>
                  <a:txBody>
                    <a:bodyPr/>
                    <a:lstStyle/>
                    <a:p>
                      <a:pPr algn="l"/>
                      <a:r>
                        <a:rPr sz="1050">
                          <a:solidFill>
                            <a:srgbClr val="334155"/>
                          </a:solidFill>
                          <a:latin typeface="Calibri"/>
                        </a:rPr>
                        <a:t>14.14</a:t>
                      </a:r>
                    </a:p>
                  </a:txBody>
                  <a:tcPr>
                    <a:solidFill>
                      <a:srgbClr val="F1F5F9"/>
                    </a:solidFill>
                  </a:tcPr>
                </a:tc>
                <a:tc>
                  <a:txBody>
                    <a:bodyPr/>
                    <a:lstStyle/>
                    <a:p>
                      <a:pPr algn="l"/>
                      <a:r>
                        <a:rPr sz="1050">
                          <a:solidFill>
                            <a:srgbClr val="334155"/>
                          </a:solidFill>
                          <a:latin typeface="Calibri"/>
                        </a:rPr>
                        <a:t>63.85</a:t>
                      </a:r>
                    </a:p>
                  </a:txBody>
                  <a:tcPr>
                    <a:solidFill>
                      <a:srgbClr val="F1F5F9"/>
                    </a:solidFill>
                  </a:tcPr>
                </a:tc>
              </a:tr>
              <a:tr h="320040">
                <a:tc>
                  <a:txBody>
                    <a:bodyPr/>
                    <a:lstStyle/>
                    <a:p>
                      <a:pPr algn="l"/>
                      <a:r>
                        <a:rPr sz="1050" b="1">
                          <a:solidFill>
                            <a:srgbClr val="0F172A"/>
                          </a:solidFill>
                          <a:latin typeface="Calibri"/>
                        </a:rPr>
                        <a:t>Wind Bearing (deg)</a:t>
                      </a:r>
                    </a:p>
                  </a:txBody>
                  <a:tcPr>
                    <a:solidFill>
                      <a:srgbClr val="FFFFFF"/>
                    </a:solidFill>
                  </a:tcPr>
                </a:tc>
                <a:tc>
                  <a:txBody>
                    <a:bodyPr/>
                    <a:lstStyle/>
                    <a:p>
                      <a:pPr algn="ctr"/>
                      <a:r>
                        <a:rPr sz="1050">
                          <a:solidFill>
                            <a:srgbClr val="334155"/>
                          </a:solidFill>
                          <a:latin typeface="Calibri"/>
                        </a:rPr>
                        <a:t>187.4°</a:t>
                      </a:r>
                    </a:p>
                  </a:txBody>
                  <a:tcPr>
                    <a:solidFill>
                      <a:srgbClr val="FFFFFF"/>
                    </a:solidFill>
                  </a:tcPr>
                </a:tc>
                <a:tc>
                  <a:txBody>
                    <a:bodyPr/>
                    <a:lstStyle/>
                    <a:p>
                      <a:pPr algn="ctr"/>
                      <a:r>
                        <a:rPr sz="1050">
                          <a:solidFill>
                            <a:srgbClr val="334155"/>
                          </a:solidFill>
                          <a:latin typeface="Calibri"/>
                        </a:rPr>
                        <a:t>107.5°</a:t>
                      </a:r>
                    </a:p>
                  </a:txBody>
                  <a:tcPr>
                    <a:solidFill>
                      <a:srgbClr val="FFFFFF"/>
                    </a:solidFill>
                  </a:tcPr>
                </a:tc>
                <a:tc>
                  <a:txBody>
                    <a:bodyPr/>
                    <a:lstStyle/>
                    <a:p>
                      <a:pPr algn="ctr"/>
                      <a:r>
                        <a:rPr sz="1050">
                          <a:solidFill>
                            <a:srgbClr val="334155"/>
                          </a:solidFill>
                          <a:latin typeface="Calibri"/>
                        </a:rPr>
                        <a:t>0.0°</a:t>
                      </a:r>
                    </a:p>
                  </a:txBody>
                  <a:tcPr>
                    <a:solidFill>
                      <a:srgbClr val="FFFFFF"/>
                    </a:solidFill>
                  </a:tcPr>
                </a:tc>
                <a:tc>
                  <a:txBody>
                    <a:bodyPr/>
                    <a:lstStyle/>
                    <a:p>
                      <a:pPr algn="l"/>
                      <a:r>
                        <a:rPr sz="1050">
                          <a:solidFill>
                            <a:srgbClr val="334155"/>
                          </a:solidFill>
                          <a:latin typeface="Calibri"/>
                        </a:rPr>
                        <a:t>112.0°</a:t>
                      </a:r>
                    </a:p>
                  </a:txBody>
                  <a:tcPr>
                    <a:solidFill>
                      <a:srgbClr val="FFFFFF"/>
                    </a:solidFill>
                  </a:tcPr>
                </a:tc>
                <a:tc>
                  <a:txBody>
                    <a:bodyPr/>
                    <a:lstStyle/>
                    <a:p>
                      <a:pPr algn="l"/>
                      <a:r>
                        <a:rPr sz="1050">
                          <a:solidFill>
                            <a:srgbClr val="334155"/>
                          </a:solidFill>
                          <a:latin typeface="Calibri"/>
                        </a:rPr>
                        <a:t>180.0°</a:t>
                      </a:r>
                    </a:p>
                  </a:txBody>
                  <a:tcPr>
                    <a:solidFill>
                      <a:srgbClr val="FFFFFF"/>
                    </a:solidFill>
                  </a:tcPr>
                </a:tc>
                <a:tc>
                  <a:txBody>
                    <a:bodyPr/>
                    <a:lstStyle/>
                    <a:p>
                      <a:pPr algn="l"/>
                      <a:r>
                        <a:rPr sz="1050">
                          <a:solidFill>
                            <a:srgbClr val="334155"/>
                          </a:solidFill>
                          <a:latin typeface="Calibri"/>
                        </a:rPr>
                        <a:t>290.0°</a:t>
                      </a:r>
                    </a:p>
                  </a:txBody>
                  <a:tcPr>
                    <a:solidFill>
                      <a:srgbClr val="FFFFFF"/>
                    </a:solidFill>
                  </a:tcPr>
                </a:tc>
                <a:tc>
                  <a:txBody>
                    <a:bodyPr/>
                    <a:lstStyle/>
                    <a:p>
                      <a:pPr algn="l"/>
                      <a:r>
                        <a:rPr sz="1050">
                          <a:solidFill>
                            <a:srgbClr val="334155"/>
                          </a:solidFill>
                          <a:latin typeface="Calibri"/>
                        </a:rPr>
                        <a:t>359.0°</a:t>
                      </a:r>
                    </a:p>
                  </a:txBody>
                  <a:tcPr>
                    <a:solidFill>
                      <a:srgbClr val="FFFFFF"/>
                    </a:solidFill>
                  </a:tcPr>
                </a:tc>
              </a:tr>
              <a:tr h="320040">
                <a:tc>
                  <a:txBody>
                    <a:bodyPr/>
                    <a:lstStyle/>
                    <a:p>
                      <a:pPr algn="l"/>
                      <a:r>
                        <a:rPr sz="1050" b="1">
                          <a:solidFill>
                            <a:srgbClr val="0F172A"/>
                          </a:solidFill>
                          <a:latin typeface="Calibri"/>
                        </a:rPr>
                        <a:t>Visibility (km)</a:t>
                      </a:r>
                    </a:p>
                  </a:txBody>
                  <a:tcPr>
                    <a:solidFill>
                      <a:srgbClr val="F1F5F9"/>
                    </a:solidFill>
                  </a:tcPr>
                </a:tc>
                <a:tc>
                  <a:txBody>
                    <a:bodyPr/>
                    <a:lstStyle/>
                    <a:p>
                      <a:pPr algn="ctr"/>
                      <a:r>
                        <a:rPr sz="1050">
                          <a:solidFill>
                            <a:srgbClr val="334155"/>
                          </a:solidFill>
                          <a:latin typeface="Calibri"/>
                        </a:rPr>
                        <a:t>10.37</a:t>
                      </a:r>
                    </a:p>
                  </a:txBody>
                  <a:tcPr>
                    <a:solidFill>
                      <a:srgbClr val="F1F5F9"/>
                    </a:solidFill>
                  </a:tcPr>
                </a:tc>
                <a:tc>
                  <a:txBody>
                    <a:bodyPr/>
                    <a:lstStyle/>
                    <a:p>
                      <a:pPr algn="ctr"/>
                      <a:r>
                        <a:rPr sz="1050">
                          <a:solidFill>
                            <a:srgbClr val="334155"/>
                          </a:solidFill>
                          <a:latin typeface="Calibri"/>
                        </a:rPr>
                        <a:t>4.20</a:t>
                      </a:r>
                    </a:p>
                  </a:txBody>
                  <a:tcPr>
                    <a:solidFill>
                      <a:srgbClr val="F1F5F9"/>
                    </a:solidFill>
                  </a:tcPr>
                </a:tc>
                <a:tc>
                  <a:txBody>
                    <a:bodyPr/>
                    <a:lstStyle/>
                    <a:p>
                      <a:pPr algn="ctr"/>
                      <a:r>
                        <a:rPr sz="1050">
                          <a:solidFill>
                            <a:srgbClr val="334155"/>
                          </a:solidFill>
                          <a:latin typeface="Calibri"/>
                        </a:rPr>
                        <a:t>0.00</a:t>
                      </a:r>
                    </a:p>
                  </a:txBody>
                  <a:tcPr>
                    <a:solidFill>
                      <a:srgbClr val="F1F5F9"/>
                    </a:solidFill>
                  </a:tcPr>
                </a:tc>
                <a:tc>
                  <a:txBody>
                    <a:bodyPr/>
                    <a:lstStyle/>
                    <a:p>
                      <a:pPr algn="l"/>
                      <a:r>
                        <a:rPr sz="1050">
                          <a:solidFill>
                            <a:srgbClr val="334155"/>
                          </a:solidFill>
                          <a:latin typeface="Calibri"/>
                        </a:rPr>
                        <a:t>8.34</a:t>
                      </a:r>
                    </a:p>
                  </a:txBody>
                  <a:tcPr>
                    <a:solidFill>
                      <a:srgbClr val="F1F5F9"/>
                    </a:solidFill>
                  </a:tcPr>
                </a:tc>
                <a:tc>
                  <a:txBody>
                    <a:bodyPr/>
                    <a:lstStyle/>
                    <a:p>
                      <a:pPr algn="l"/>
                      <a:r>
                        <a:rPr sz="1050">
                          <a:solidFill>
                            <a:srgbClr val="334155"/>
                          </a:solidFill>
                          <a:latin typeface="Calibri"/>
                        </a:rPr>
                        <a:t>10.05</a:t>
                      </a:r>
                    </a:p>
                  </a:txBody>
                  <a:tcPr>
                    <a:solidFill>
                      <a:srgbClr val="F1F5F9"/>
                    </a:solidFill>
                  </a:tcPr>
                </a:tc>
                <a:tc>
                  <a:txBody>
                    <a:bodyPr/>
                    <a:lstStyle/>
                    <a:p>
                      <a:pPr algn="l"/>
                      <a:r>
                        <a:rPr sz="1050">
                          <a:solidFill>
                            <a:srgbClr val="334155"/>
                          </a:solidFill>
                          <a:latin typeface="Calibri"/>
                        </a:rPr>
                        <a:t>14.81</a:t>
                      </a:r>
                    </a:p>
                  </a:txBody>
                  <a:tcPr>
                    <a:solidFill>
                      <a:srgbClr val="F1F5F9"/>
                    </a:solidFill>
                  </a:tcPr>
                </a:tc>
                <a:tc>
                  <a:txBody>
                    <a:bodyPr/>
                    <a:lstStyle/>
                    <a:p>
                      <a:pPr algn="l"/>
                      <a:r>
                        <a:rPr sz="1050">
                          <a:solidFill>
                            <a:srgbClr val="334155"/>
                          </a:solidFill>
                          <a:latin typeface="Calibri"/>
                        </a:rPr>
                        <a:t>16.10</a:t>
                      </a:r>
                    </a:p>
                  </a:txBody>
                  <a:tcPr>
                    <a:solidFill>
                      <a:srgbClr val="F1F5F9"/>
                    </a:solidFill>
                  </a:tcPr>
                </a:tc>
              </a:tr>
              <a:tr h="320040">
                <a:tc>
                  <a:txBody>
                    <a:bodyPr/>
                    <a:lstStyle/>
                    <a:p>
                      <a:pPr algn="l"/>
                      <a:r>
                        <a:rPr sz="1050" b="1">
                          <a:solidFill>
                            <a:srgbClr val="0F172A"/>
                          </a:solidFill>
                          <a:latin typeface="Calibri"/>
                        </a:rPr>
                        <a:t>Pressure (mbar)</a:t>
                      </a:r>
                    </a:p>
                  </a:txBody>
                  <a:tcPr>
                    <a:solidFill>
                      <a:srgbClr val="FFFFFF"/>
                    </a:solidFill>
                  </a:tcPr>
                </a:tc>
                <a:tc>
                  <a:txBody>
                    <a:bodyPr/>
                    <a:lstStyle/>
                    <a:p>
                      <a:pPr algn="ctr"/>
                      <a:r>
                        <a:rPr sz="1050">
                          <a:solidFill>
                            <a:srgbClr val="334155"/>
                          </a:solidFill>
                          <a:latin typeface="Calibri"/>
                        </a:rPr>
                        <a:t>1003.2</a:t>
                      </a:r>
                    </a:p>
                  </a:txBody>
                  <a:tcPr>
                    <a:solidFill>
                      <a:srgbClr val="FFFFFF"/>
                    </a:solidFill>
                  </a:tcPr>
                </a:tc>
                <a:tc>
                  <a:txBody>
                    <a:bodyPr/>
                    <a:lstStyle/>
                    <a:p>
                      <a:pPr algn="ctr"/>
                      <a:r>
                        <a:rPr sz="1050">
                          <a:solidFill>
                            <a:srgbClr val="334155"/>
                          </a:solidFill>
                          <a:latin typeface="Calibri"/>
                        </a:rPr>
                        <a:t>117.0</a:t>
                      </a:r>
                    </a:p>
                  </a:txBody>
                  <a:tcPr>
                    <a:solidFill>
                      <a:srgbClr val="FFFFFF"/>
                    </a:solidFill>
                  </a:tcPr>
                </a:tc>
                <a:tc>
                  <a:txBody>
                    <a:bodyPr/>
                    <a:lstStyle/>
                    <a:p>
                      <a:pPr algn="ctr"/>
                      <a:r>
                        <a:rPr sz="1050">
                          <a:solidFill>
                            <a:srgbClr val="334155"/>
                          </a:solidFill>
                          <a:latin typeface="Calibri"/>
                        </a:rPr>
                        <a:t>0.00 ⚠</a:t>
                      </a:r>
                    </a:p>
                  </a:txBody>
                  <a:tcPr>
                    <a:solidFill>
                      <a:srgbClr val="FFFFFF"/>
                    </a:solidFill>
                  </a:tcPr>
                </a:tc>
                <a:tc>
                  <a:txBody>
                    <a:bodyPr/>
                    <a:lstStyle/>
                    <a:p>
                      <a:pPr algn="l"/>
                      <a:r>
                        <a:rPr sz="1050">
                          <a:solidFill>
                            <a:srgbClr val="334155"/>
                          </a:solidFill>
                          <a:latin typeface="Calibri"/>
                        </a:rPr>
                        <a:t>1011.9</a:t>
                      </a:r>
                    </a:p>
                  </a:txBody>
                  <a:tcPr>
                    <a:solidFill>
                      <a:srgbClr val="FFFFFF"/>
                    </a:solidFill>
                  </a:tcPr>
                </a:tc>
                <a:tc>
                  <a:txBody>
                    <a:bodyPr/>
                    <a:lstStyle/>
                    <a:p>
                      <a:pPr algn="l"/>
                      <a:r>
                        <a:rPr sz="1050">
                          <a:solidFill>
                            <a:srgbClr val="334155"/>
                          </a:solidFill>
                          <a:latin typeface="Calibri"/>
                        </a:rPr>
                        <a:t>1016.4</a:t>
                      </a:r>
                    </a:p>
                  </a:txBody>
                  <a:tcPr>
                    <a:solidFill>
                      <a:srgbClr val="FFFFFF"/>
                    </a:solidFill>
                  </a:tcPr>
                </a:tc>
                <a:tc>
                  <a:txBody>
                    <a:bodyPr/>
                    <a:lstStyle/>
                    <a:p>
                      <a:pPr algn="l"/>
                      <a:r>
                        <a:rPr sz="1050">
                          <a:solidFill>
                            <a:srgbClr val="334155"/>
                          </a:solidFill>
                          <a:latin typeface="Calibri"/>
                        </a:rPr>
                        <a:t>1021.1</a:t>
                      </a:r>
                    </a:p>
                  </a:txBody>
                  <a:tcPr>
                    <a:solidFill>
                      <a:srgbClr val="FFFFFF"/>
                    </a:solidFill>
                  </a:tcPr>
                </a:tc>
                <a:tc>
                  <a:txBody>
                    <a:bodyPr/>
                    <a:lstStyle/>
                    <a:p>
                      <a:pPr algn="l"/>
                      <a:r>
                        <a:rPr sz="1050">
                          <a:solidFill>
                            <a:srgbClr val="334155"/>
                          </a:solidFill>
                          <a:latin typeface="Calibri"/>
                        </a:rPr>
                        <a:t>1046.4</a:t>
                      </a:r>
                    </a:p>
                  </a:txBody>
                  <a:tcPr>
                    <a:solidFill>
                      <a:srgbClr val="FFFFFF"/>
                    </a:solidFill>
                  </a:tcPr>
                </a:tc>
              </a:tr>
            </a:tbl>
          </a:graphicData>
        </a:graphic>
      </p:graphicFrame>
      <p:sp>
        <p:nvSpPr>
          <p:cNvPr id="8" name="Rounded Rectangle 7"/>
          <p:cNvSpPr/>
          <p:nvPr/>
        </p:nvSpPr>
        <p:spPr>
          <a:xfrm>
            <a:off x="731520" y="4663440"/>
            <a:ext cx="10728655" cy="16459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l"/>
            <a:r>
              <a:rPr sz="1200" b="1">
                <a:solidFill>
                  <a:srgbClr val="0F172A"/>
                </a:solidFill>
                <a:latin typeface="Arial"/>
              </a:rPr>
              <a:t>CRITICAL INSIGHTS EXTRACTED FROM DF.DESCRIBE():</a:t>
            </a:r>
          </a:p>
          <a:p>
            <a:pPr algn="l"/>
            <a:r>
              <a:rPr sz="1150" b="1">
                <a:solidFill>
                  <a:srgbClr val="7C3AED"/>
                </a:solidFill>
                <a:latin typeface="Calibri"/>
              </a:rPr>
              <a:t>1. Perceived Temperature Spread: </a:t>
            </a:r>
            <a:r>
              <a:rPr sz="1150" b="0">
                <a:solidFill>
                  <a:srgbClr val="334155"/>
                </a:solidFill>
                <a:latin typeface="Calibri"/>
              </a:rPr>
              <a:t>Apparent Temperature has a higher standard deviation (10.74°C) and drops to -27.72°C compared to ambient minimum (-21.82°C), proving wind chill amplifies extreme cold.
</a:t>
            </a:r>
            <a:r>
              <a:rPr sz="1150" b="1">
                <a:solidFill>
                  <a:srgbClr val="7C3AED"/>
                </a:solidFill>
                <a:latin typeface="Calibri"/>
              </a:rPr>
              <a:t>2. High Atmospheric Moisture: </a:t>
            </a:r>
            <a:r>
              <a:rPr sz="1150" b="0">
                <a:solidFill>
                  <a:srgbClr val="334155"/>
                </a:solidFill>
                <a:latin typeface="Calibri"/>
              </a:rPr>
              <a:t>Median humidity is 0.78 with 75th percentile at 0.89, establishing that high saturation dominates the observation climate.
</a:t>
            </a:r>
            <a:r>
              <a:rPr sz="1150" b="1">
                <a:solidFill>
                  <a:srgbClr val="D97706"/>
                </a:solidFill>
                <a:latin typeface="Calibri"/>
              </a:rPr>
              <a:t>3. Severe Barometric Anomaly Discovered: </a:t>
            </a:r>
            <a:r>
              <a:rPr sz="1150" b="0">
                <a:solidFill>
                  <a:srgbClr val="334155"/>
                </a:solidFill>
                <a:latin typeface="Calibri"/>
              </a:rPr>
              <a:t>Pressure exhibits a minimum of 0.00 mbar while Q1 is 1,011.9 mbar. A surface pressure of zero is physically impossible, signaling faulty sensor readings that need immediate correction.</a:t>
            </a:r>
          </a:p>
        </p:txBody>
      </p:sp>
    </p:spTree>
  </p:cSld>
  <p:clrMapOvr>
    <a:masterClrMapping/>
  </p:clrMapOvr>
  <p:transition spd="med" advClick="1">
    <p:fade/>
  </p:transition>
  <p:timing>
    <p:tnLst>
      <p:par>
        <p:cTn id="1" dur="indefinite" restart="always"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tgtEl>
                                    <p:spTgt spid="3"/>
                                  </p:tgtEl>
                                  <p:attrNameLst>
                                    <p:attrName>style.visibility</p:attrName>
                                  </p:attrNameLst>
                                </p:cBhvr>
                                <p:to>
                                  <p:strVal val="visible"/>
                                </p:to>
                              </p:set>
                              <p:animEffect transition="in" filter="fade">
                                <p:cBhvr>
                                  <p:cTn id="6" dur="500" fill="hold"/>
                                  <p:tgtEl>
                                    <p:spTgt spid="3"/>
                                  </p:tgtEl>
                                </p:cBhvr>
                              </p:animEffect>
                            </p:childTnLst>
                          </p:cTn>
                        </p:par>
                      </p:childTnLst>
                    </p:cTn>
                  </p:par>
                  <p:par>
                    <p:cTn id="7" fill="hold">
                      <p:stCondLst>
                        <p:cond delay="0"/>
                      </p:stCondLst>
                      <p:childTnLst>
                        <p:par>
                          <p:cTn id="8" fill="hold">
                            <p:stCondLst>
                              <p:cond delay="0"/>
                            </p:stCondLst>
                            <p:childTnLst>
                              <p:set>
                                <p:cBhvr>
                                  <p:cTn id="9" dur="1" fill="hold"/>
                                  <p:tgtEl>
                                    <p:spTgt spid="4"/>
                                  </p:tgtEl>
                                  <p:attrNameLst>
                                    <p:attrName>style.visibility</p:attrName>
                                  </p:attrNameLst>
                                </p:cBhvr>
                                <p:to>
                                  <p:strVal val="visible"/>
                                </p:to>
                              </p:set>
                              <p:animEffect transition="in" filter="fade">
                                <p:cBhvr>
                                  <p:cTn id="10" dur="500" fill="hold"/>
                                  <p:tgtEl>
                                    <p:spTgt spid="4"/>
                                  </p:tgtEl>
                                </p:cBhvr>
                              </p:animEffect>
                            </p:childTnLst>
                          </p:cTn>
                        </p:par>
                      </p:childTnLst>
                    </p:cTn>
                  </p:par>
                  <p:par>
                    <p:cTn id="11" fill="hold">
                      <p:stCondLst>
                        <p:cond delay="0"/>
                      </p:stCondLst>
                      <p:childTnLst>
                        <p:par>
                          <p:cTn id="12" fill="hold">
                            <p:stCondLst>
                              <p:cond delay="0"/>
                            </p:stCondLst>
                            <p:childTnLst>
                              <p:set>
                                <p:cBhvr>
                                  <p:cTn id="13" dur="1" fill="hold"/>
                                  <p:tgtEl>
                                    <p:spTgt spid="7"/>
                                  </p:tgtEl>
                                  <p:attrNameLst>
                                    <p:attrName>style.visibility</p:attrName>
                                  </p:attrNameLst>
                                </p:cBhvr>
                                <p:to>
                                  <p:strVal val="visible"/>
                                </p:to>
                              </p:set>
                              <p:animEffect transition="in" filter="fade">
                                <p:cBhvr>
                                  <p:cTn id="14" dur="500" fill="hold"/>
                                  <p:tgtEl>
                                    <p:spTgt spid="7"/>
                                  </p:tgtEl>
                                </p:cBhvr>
                              </p:animEffect>
                            </p:childTnLst>
                          </p:cTn>
                        </p:par>
                      </p:childTnLst>
                    </p:cTn>
                  </p:par>
                  <p:par>
                    <p:cTn id="15" fill="hold">
                      <p:stCondLst>
                        <p:cond delay="0"/>
                      </p:stCondLst>
                      <p:childTnLst>
                        <p:par>
                          <p:cTn id="16" fill="hold">
                            <p:stCondLst>
                              <p:cond delay="0"/>
                            </p:stCondLst>
                            <p:childTnLst>
                              <p:set>
                                <p:cBhvr>
                                  <p:cTn id="17" dur="1" fill="hold"/>
                                  <p:tgtEl>
                                    <p:spTgt spid="8"/>
                                  </p:tgtEl>
                                  <p:attrNameLst>
                                    <p:attrName>style.visibility</p:attrName>
                                  </p:attrNameLst>
                                </p:cBhvr>
                                <p:to>
                                  <p:strVal val="visible"/>
                                </p:to>
                              </p:set>
                              <p:animEffect transition="in" filter="fade">
                                <p:cBhvr>
                                  <p:cTn id="18" dur="500" fill="hold"/>
                                  <p:tgtEl>
                                    <p:spTgt spid="8"/>
                                  </p:tgtEl>
                                </p:cBhvr>
                              </p:animEffect>
                            </p:childTnLst>
                          </p:cTn>
                        </p:par>
                      </p:childTnLst>
                    </p:cTn>
                  </p:par>
                </p:childTnLst>
              </p:cTn>
              <p:prevCondLst>
                <p:cond evt="onPrev" delay="0">
                  <p:tgtEl>
                    <p:spTgt spid="0"/>
                  </p:tgtEl>
                </p:cond>
              </p:prevCondLst>
              <p:nextCondLst>
                <p:cond evt="onNext" delay="0">
                  <p:tgtEl>
                    <p:spTgt spid="0"/>
                  </p:tgtEl>
                </p:cond>
              </p:nextCondLst>
            </p:seq>
          </p:childTnLst>
        </p:cTn>
      </p:par>
    </p:tnLst>
    <p:bldLst>
      <p:bldSp spid="3" grpId="0" animBg="true"/>
      <p:bldSp spid="4" grpId="0" animBg="true"/>
      <p:bldSp spid="7" grpId="0" animBg="true"/>
      <p:bldSp spid="8" grpId="0" animBg="true"/>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4747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FFFFF"/>
                </a:solidFill>
                <a:latin typeface="Arial"/>
              </a:rPr>
              <a:t>PART 3: DATA STORYTELLING | KUNCHAM LOKESH</a:t>
            </a:r>
          </a:p>
        </p:txBody>
      </p:sp>
      <p:sp>
        <p:nvSpPr>
          <p:cNvPr id="4" name="TextBox 3"/>
          <p:cNvSpPr txBox="1"/>
          <p:nvPr/>
        </p:nvSpPr>
        <p:spPr>
          <a:xfrm>
            <a:off x="731520" y="749808"/>
            <a:ext cx="10698480" cy="868680"/>
          </a:xfrm>
          <a:prstGeom prst="rect">
            <a:avLst/>
          </a:prstGeom>
          <a:noFill/>
        </p:spPr>
        <p:txBody>
          <a:bodyPr wrap="square" lIns="0" tIns="0" rIns="0" bIns="0">
            <a:spAutoFit/>
          </a:bodyPr>
          <a:lstStyle/>
          <a:p>
            <a:r>
              <a:rPr sz="2200" b="1">
                <a:solidFill>
                  <a:srgbClr val="0F172A"/>
                </a:solidFill>
                <a:latin typeface="Arial"/>
              </a:rPr>
              <a:t>Weather Summary Labels &amp; Precipitation Counts (Cells 9–10)</a:t>
            </a:r>
          </a:p>
          <a:p>
            <a:r>
              <a:rPr sz="1300">
                <a:solidFill>
                  <a:srgbClr val="64748B"/>
                </a:solidFill>
                <a:latin typeface="Calibri"/>
              </a:rPr>
              <a:t>Examining empirical weather condition frequencies and class balance for precipitation</a:t>
            </a:r>
          </a:p>
        </p:txBody>
      </p:sp>
      <p:sp>
        <p:nvSpPr>
          <p:cNvPr id="5" name="Rectangle 4"/>
          <p:cNvSpPr/>
          <p:nvPr/>
        </p:nvSpPr>
        <p:spPr>
          <a:xfrm>
            <a:off x="731520" y="166420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728655" cy="274320"/>
          </a:xfrm>
          <a:prstGeom prst="rect">
            <a:avLst/>
          </a:prstGeom>
          <a:noFill/>
        </p:spPr>
        <p:txBody>
          <a:bodyPr wrap="none" lIns="0" tIns="0" rIns="0" bIns="0">
            <a:spAutoFit/>
          </a:bodyPr>
          <a:lstStyle/>
          <a:p>
            <a:r>
              <a:rPr sz="1000">
                <a:solidFill>
                  <a:srgbClr val="64748B"/>
                </a:solidFill>
                <a:latin typeface="Calibri"/>
              </a:rPr>
              <a:t>Foundations of Data Science (FDS) Course Project | Team 252U1R</a:t>
            </a:r>
            <a:r>
              <a:t>                                                                                               </a:t>
            </a:r>
            <a:r>
              <a:rPr sz="1000" b="1">
                <a:solidFill>
                  <a:srgbClr val="059669"/>
                </a:solidFill>
                <a:latin typeface="Calibri"/>
              </a:rPr>
              <a:t>Slide 7 of 20</a:t>
            </a:r>
          </a:p>
        </p:txBody>
      </p:sp>
      <p:sp>
        <p:nvSpPr>
          <p:cNvPr id="7" name="Rounded Rectangle 6"/>
          <p:cNvSpPr/>
          <p:nvPr/>
        </p:nvSpPr>
        <p:spPr>
          <a:xfrm>
            <a:off x="731520" y="1920240"/>
            <a:ext cx="5257800" cy="43891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l"/>
            <a:r>
              <a:rPr sz="1300" b="1">
                <a:solidFill>
                  <a:srgbClr val="059669"/>
                </a:solidFill>
                <a:latin typeface="Arial"/>
              </a:rPr>
              <a:t>WEATHER SUMMARY LABEL DISTRIBUTION (CELL 9)</a:t>
            </a:r>
          </a:p>
          <a:p>
            <a:pPr algn="l"/>
            <a:r>
              <a:rPr sz="600" b="0">
                <a:latin typeface="Calibri"/>
              </a:rPr>
              <a:t/>
            </a:r>
          </a:p>
          <a:p>
            <a:pPr algn="l"/>
            <a:r>
              <a:rPr sz="1200" b="1">
                <a:solidFill>
                  <a:srgbClr val="0F172A"/>
                </a:solidFill>
                <a:latin typeface="Calibri"/>
              </a:rPr>
              <a:t>Top Observed Weather Conditions:</a:t>
            </a:r>
          </a:p>
          <a:p>
            <a:pPr algn="l"/>
            <a:r>
              <a:rPr sz="1150" b="0">
                <a:solidFill>
                  <a:srgbClr val="334155"/>
                </a:solidFill>
                <a:latin typeface="Calibri"/>
              </a:rPr>
              <a:t>• Partly Cloudy: 10,440 instances (34.0% — Most Common)
• Mostly Cloudy: 7,978 instances (26.0%)
• Overcast: 5,185 instances (16.9%)
• Clear: 4,371 instances (14.2%)
• Foggy: 1,844 instances (6.0%)
• Breezy / Overcast / Rain: Remaining 2.9%</a:t>
            </a:r>
          </a:p>
          <a:p>
            <a:pPr algn="l"/>
            <a:r>
              <a:rPr sz="800" b="0">
                <a:latin typeface="Calibri"/>
              </a:rPr>
              <a:t/>
            </a:r>
          </a:p>
          <a:p>
            <a:pPr algn="l"/>
            <a:r>
              <a:rPr sz="1200" b="1">
                <a:solidFill>
                  <a:srgbClr val="059669"/>
                </a:solidFill>
                <a:latin typeface="Calibri"/>
              </a:rPr>
              <a:t>Storytelling Conclusion on Cloudiness:</a:t>
            </a:r>
          </a:p>
          <a:p>
            <a:pPr algn="l"/>
            <a:r>
              <a:rPr sz="1150" b="0">
                <a:solidFill>
                  <a:srgbClr val="334155"/>
                </a:solidFill>
                <a:latin typeface="Calibri"/>
              </a:rPr>
              <a:t>Cloud cover (Partly Cloudy + Mostly Cloudy + Overcast) accounts for over 76.9% of all hourly logs, confirming a persistently cloudy temperate region.</a:t>
            </a:r>
          </a:p>
        </p:txBody>
      </p:sp>
      <p:sp>
        <p:nvSpPr>
          <p:cNvPr id="8" name="Rounded Rectangle 7"/>
          <p:cNvSpPr/>
          <p:nvPr/>
        </p:nvSpPr>
        <p:spPr>
          <a:xfrm>
            <a:off x="6172200" y="1920240"/>
            <a:ext cx="5257800" cy="43891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l"/>
            <a:r>
              <a:rPr sz="1300" b="1">
                <a:solidFill>
                  <a:srgbClr val="059669"/>
                </a:solidFill>
                <a:latin typeface="Arial"/>
              </a:rPr>
              <a:t>PRECIPITATION TYPE ANALYSIS (CELL 10)</a:t>
            </a:r>
          </a:p>
          <a:p>
            <a:pPr algn="l"/>
            <a:r>
              <a:rPr sz="600" b="0">
                <a:latin typeface="Calibri"/>
              </a:rPr>
              <a:t/>
            </a:r>
          </a:p>
          <a:p>
            <a:pPr algn="l"/>
            <a:r>
              <a:rPr sz="1200" b="1">
                <a:solidFill>
                  <a:srgbClr val="0F172A"/>
                </a:solidFill>
                <a:latin typeface="Calibri"/>
              </a:rPr>
              <a:t>Precipitation Frequencies (df["Precip Type"]):</a:t>
            </a:r>
          </a:p>
          <a:p>
            <a:pPr algn="l"/>
            <a:r>
              <a:rPr sz="1200" b="0">
                <a:solidFill>
                  <a:srgbClr val="334155"/>
                </a:solidFill>
                <a:latin typeface="Calibri"/>
              </a:rPr>
              <a:t>• Rain: 26,929 observations (87.7% of precipitation events)
• Snow: 3,782 observations (12.3% of precipitation events)
• Missing / NaN: 0 missing values (100% complete records)</a:t>
            </a:r>
          </a:p>
          <a:p>
            <a:pPr algn="l"/>
            <a:r>
              <a:rPr sz="1000" b="0">
                <a:latin typeface="Calibri"/>
              </a:rPr>
              <a:t/>
            </a:r>
          </a:p>
          <a:p>
            <a:pPr algn="l"/>
            <a:r>
              <a:rPr sz="1200" b="1">
                <a:solidFill>
                  <a:srgbClr val="0F172A"/>
                </a:solidFill>
                <a:latin typeface="Calibri"/>
              </a:rPr>
              <a:t>Machine Learning Implications:</a:t>
            </a:r>
          </a:p>
          <a:p>
            <a:pPr algn="l"/>
            <a:r>
              <a:rPr sz="1150" b="0">
                <a:solidFill>
                  <a:srgbClr val="334155"/>
                </a:solidFill>
                <a:latin typeface="Calibri"/>
              </a:rPr>
              <a:t>• Severe class imbalance exists (~7.1 : 1 rain-to-snow ratio).
• Any supervised classification model must use stratified sampling to avoid evaluating on distorted test sets.
• The 0 missing values confirm that precipitation is an exceptionally clean target feature.</a:t>
            </a:r>
          </a:p>
        </p:txBody>
      </p:sp>
    </p:spTree>
  </p:cSld>
  <p:clrMapOvr>
    <a:masterClrMapping/>
  </p:clrMapOvr>
  <p:transition spd="med" advClick="1">
    <p:fade/>
  </p:transition>
  <p:timing>
    <p:tnLst>
      <p:par>
        <p:cTn id="1" dur="indefinite" restart="always"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tgtEl>
                                    <p:spTgt spid="3"/>
                                  </p:tgtEl>
                                  <p:attrNameLst>
                                    <p:attrName>style.visibility</p:attrName>
                                  </p:attrNameLst>
                                </p:cBhvr>
                                <p:to>
                                  <p:strVal val="visible"/>
                                </p:to>
                              </p:set>
                              <p:animEffect transition="in" filter="fade">
                                <p:cBhvr>
                                  <p:cTn id="6" dur="500" fill="hold"/>
                                  <p:tgtEl>
                                    <p:spTgt spid="3"/>
                                  </p:tgtEl>
                                </p:cBhvr>
                              </p:animEffect>
                            </p:childTnLst>
                          </p:cTn>
                        </p:par>
                      </p:childTnLst>
                    </p:cTn>
                  </p:par>
                  <p:par>
                    <p:cTn id="7" fill="hold">
                      <p:stCondLst>
                        <p:cond delay="0"/>
                      </p:stCondLst>
                      <p:childTnLst>
                        <p:par>
                          <p:cTn id="8" fill="hold">
                            <p:stCondLst>
                              <p:cond delay="0"/>
                            </p:stCondLst>
                            <p:childTnLst>
                              <p:set>
                                <p:cBhvr>
                                  <p:cTn id="9" dur="1" fill="hold"/>
                                  <p:tgtEl>
                                    <p:spTgt spid="4"/>
                                  </p:tgtEl>
                                  <p:attrNameLst>
                                    <p:attrName>style.visibility</p:attrName>
                                  </p:attrNameLst>
                                </p:cBhvr>
                                <p:to>
                                  <p:strVal val="visible"/>
                                </p:to>
                              </p:set>
                              <p:animEffect transition="in" filter="fade">
                                <p:cBhvr>
                                  <p:cTn id="10" dur="500" fill="hold"/>
                                  <p:tgtEl>
                                    <p:spTgt spid="4"/>
                                  </p:tgtEl>
                                </p:cBhvr>
                              </p:animEffect>
                            </p:childTnLst>
                          </p:cTn>
                        </p:par>
                      </p:childTnLst>
                    </p:cTn>
                  </p:par>
                  <p:par>
                    <p:cTn id="11" fill="hold">
                      <p:stCondLst>
                        <p:cond delay="0"/>
                      </p:stCondLst>
                      <p:childTnLst>
                        <p:par>
                          <p:cTn id="12" fill="hold">
                            <p:stCondLst>
                              <p:cond delay="0"/>
                            </p:stCondLst>
                            <p:childTnLst>
                              <p:set>
                                <p:cBhvr>
                                  <p:cTn id="13" dur="1" fill="hold"/>
                                  <p:tgtEl>
                                    <p:spTgt spid="7"/>
                                  </p:tgtEl>
                                  <p:attrNameLst>
                                    <p:attrName>style.visibility</p:attrName>
                                  </p:attrNameLst>
                                </p:cBhvr>
                                <p:to>
                                  <p:strVal val="visible"/>
                                </p:to>
                              </p:set>
                              <p:animEffect transition="in" filter="fade">
                                <p:cBhvr>
                                  <p:cTn id="14" dur="500" fill="hold"/>
                                  <p:tgtEl>
                                    <p:spTgt spid="7"/>
                                  </p:tgtEl>
                                </p:cBhvr>
                              </p:animEffect>
                            </p:childTnLst>
                          </p:cTn>
                        </p:par>
                      </p:childTnLst>
                    </p:cTn>
                  </p:par>
                  <p:par>
                    <p:cTn id="15" fill="hold">
                      <p:stCondLst>
                        <p:cond delay="0"/>
                      </p:stCondLst>
                      <p:childTnLst>
                        <p:par>
                          <p:cTn id="16" fill="hold">
                            <p:stCondLst>
                              <p:cond delay="0"/>
                            </p:stCondLst>
                            <p:childTnLst>
                              <p:set>
                                <p:cBhvr>
                                  <p:cTn id="17" dur="1" fill="hold"/>
                                  <p:tgtEl>
                                    <p:spTgt spid="8"/>
                                  </p:tgtEl>
                                  <p:attrNameLst>
                                    <p:attrName>style.visibility</p:attrName>
                                  </p:attrNameLst>
                                </p:cBhvr>
                                <p:to>
                                  <p:strVal val="visible"/>
                                </p:to>
                              </p:set>
                              <p:animEffect transition="in" filter="fade">
                                <p:cBhvr>
                                  <p:cTn id="18" dur="500" fill="hold"/>
                                  <p:tgtEl>
                                    <p:spTgt spid="8"/>
                                  </p:tgtEl>
                                </p:cBhvr>
                              </p:animEffect>
                            </p:childTnLst>
                          </p:cTn>
                        </p:par>
                      </p:childTnLst>
                    </p:cTn>
                  </p:par>
                </p:childTnLst>
              </p:cTn>
              <p:prevCondLst>
                <p:cond evt="onPrev" delay="0">
                  <p:tgtEl>
                    <p:spTgt spid="0"/>
                  </p:tgtEl>
                </p:cond>
              </p:prevCondLst>
              <p:nextCondLst>
                <p:cond evt="onNext" delay="0">
                  <p:tgtEl>
                    <p:spTgt spid="0"/>
                  </p:tgtEl>
                </p:cond>
              </p:nextCondLst>
            </p:seq>
          </p:childTnLst>
        </p:cTn>
      </p:par>
    </p:tnLst>
    <p:bldLst>
      <p:bldSp spid="3" grpId="0" animBg="true"/>
      <p:bldSp spid="4" grpId="0" animBg="true"/>
      <p:bldSp spid="7" grpId="0" animBg="true"/>
      <p:bldSp spid="8" grpId="0" animBg="true"/>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47472"/>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FFFFF"/>
                </a:solidFill>
                <a:latin typeface="Arial"/>
              </a:rPr>
              <a:t>PART 3: DATA STORYTELLING | KUNCHAM LOKESH</a:t>
            </a:r>
          </a:p>
        </p:txBody>
      </p:sp>
      <p:sp>
        <p:nvSpPr>
          <p:cNvPr id="4" name="TextBox 3"/>
          <p:cNvSpPr txBox="1"/>
          <p:nvPr/>
        </p:nvSpPr>
        <p:spPr>
          <a:xfrm>
            <a:off x="731520" y="749808"/>
            <a:ext cx="10698480" cy="868680"/>
          </a:xfrm>
          <a:prstGeom prst="rect">
            <a:avLst/>
          </a:prstGeom>
          <a:noFill/>
        </p:spPr>
        <p:txBody>
          <a:bodyPr wrap="square" lIns="0" tIns="0" rIns="0" bIns="0">
            <a:spAutoFit/>
          </a:bodyPr>
          <a:lstStyle/>
          <a:p>
            <a:r>
              <a:rPr sz="2200" b="1">
                <a:solidFill>
                  <a:srgbClr val="0F172A"/>
                </a:solidFill>
                <a:latin typeface="Arial"/>
              </a:rPr>
              <a:t>Data Integrity, Invariant Noise &amp; Physical Anomalies (Cells 11–14)</a:t>
            </a:r>
          </a:p>
          <a:p>
            <a:r>
              <a:rPr sz="1300">
                <a:solidFill>
                  <a:srgbClr val="64748B"/>
                </a:solidFill>
                <a:latin typeface="Calibri"/>
              </a:rPr>
              <a:t>Auditing nulls, verifying duplicates, and uncovering zero-pressure sensor failures</a:t>
            </a:r>
          </a:p>
        </p:txBody>
      </p:sp>
      <p:sp>
        <p:nvSpPr>
          <p:cNvPr id="5" name="Rectangle 4"/>
          <p:cNvSpPr/>
          <p:nvPr/>
        </p:nvSpPr>
        <p:spPr>
          <a:xfrm>
            <a:off x="731520" y="166420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728655" cy="274320"/>
          </a:xfrm>
          <a:prstGeom prst="rect">
            <a:avLst/>
          </a:prstGeom>
          <a:noFill/>
        </p:spPr>
        <p:txBody>
          <a:bodyPr wrap="none" lIns="0" tIns="0" rIns="0" bIns="0">
            <a:spAutoFit/>
          </a:bodyPr>
          <a:lstStyle/>
          <a:p>
            <a:r>
              <a:rPr sz="1000">
                <a:solidFill>
                  <a:srgbClr val="64748B"/>
                </a:solidFill>
                <a:latin typeface="Calibri"/>
              </a:rPr>
              <a:t>Foundations of Data Science (FDS) Course Project | Team 252U1R</a:t>
            </a:r>
            <a:r>
              <a:t>                                                                                               </a:t>
            </a:r>
            <a:r>
              <a:rPr sz="1000" b="1">
                <a:solidFill>
                  <a:srgbClr val="059669"/>
                </a:solidFill>
                <a:latin typeface="Calibri"/>
              </a:rPr>
              <a:t>Slide 8 of 20</a:t>
            </a:r>
          </a:p>
        </p:txBody>
      </p:sp>
      <p:sp>
        <p:nvSpPr>
          <p:cNvPr id="7" name="Rounded Rectangle 6"/>
          <p:cNvSpPr/>
          <p:nvPr/>
        </p:nvSpPr>
        <p:spPr>
          <a:xfrm>
            <a:off x="731520" y="1920240"/>
            <a:ext cx="2468880" cy="12344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r>
              <a:rPr sz="3200" b="1">
                <a:solidFill>
                  <a:srgbClr val="059669"/>
                </a:solidFill>
                <a:latin typeface="Arial"/>
              </a:rPr>
              <a:t>0</a:t>
            </a:r>
          </a:p>
          <a:p>
            <a:pPr algn="ctr"/>
            <a:r>
              <a:rPr sz="1100" b="1">
                <a:solidFill>
                  <a:srgbClr val="0F172A"/>
                </a:solidFill>
                <a:latin typeface="Arial"/>
              </a:rPr>
              <a:t>DUPLICATES</a:t>
            </a:r>
          </a:p>
          <a:p>
            <a:pPr algn="ctr"/>
            <a:r>
              <a:rPr sz="1000" b="0">
                <a:solidFill>
                  <a:srgbClr val="64748B"/>
                </a:solidFill>
                <a:latin typeface="Calibri"/>
              </a:rPr>
              <a:t>df.duplicated().sum()</a:t>
            </a:r>
          </a:p>
        </p:txBody>
      </p:sp>
      <p:sp>
        <p:nvSpPr>
          <p:cNvPr id="8" name="Rounded Rectangle 7"/>
          <p:cNvSpPr/>
          <p:nvPr/>
        </p:nvSpPr>
        <p:spPr>
          <a:xfrm>
            <a:off x="3474720" y="1920240"/>
            <a:ext cx="2468880" cy="12344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r>
              <a:rPr sz="3200" b="1">
                <a:solidFill>
                  <a:srgbClr val="059669"/>
                </a:solidFill>
                <a:latin typeface="Arial"/>
              </a:rPr>
              <a:t>0</a:t>
            </a:r>
          </a:p>
          <a:p>
            <a:pPr algn="ctr"/>
            <a:r>
              <a:rPr sz="1100" b="1">
                <a:solidFill>
                  <a:srgbClr val="0F172A"/>
                </a:solidFill>
                <a:latin typeface="Arial"/>
              </a:rPr>
              <a:t>MISSING VALUES</a:t>
            </a:r>
          </a:p>
          <a:p>
            <a:pPr algn="ctr"/>
            <a:r>
              <a:rPr sz="1000" b="0">
                <a:solidFill>
                  <a:srgbClr val="64748B"/>
                </a:solidFill>
                <a:latin typeface="Calibri"/>
              </a:rPr>
              <a:t>df.isnull().sum()</a:t>
            </a:r>
          </a:p>
        </p:txBody>
      </p:sp>
      <p:sp>
        <p:nvSpPr>
          <p:cNvPr id="9" name="Rounded Rectangle 8"/>
          <p:cNvSpPr/>
          <p:nvPr/>
        </p:nvSpPr>
        <p:spPr>
          <a:xfrm>
            <a:off x="6217920" y="1920240"/>
            <a:ext cx="2468880" cy="12344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r>
              <a:rPr sz="3200" b="1">
                <a:solidFill>
                  <a:srgbClr val="D97706"/>
                </a:solidFill>
                <a:latin typeface="Arial"/>
              </a:rPr>
              <a:t>99.997%</a:t>
            </a:r>
          </a:p>
          <a:p>
            <a:pPr algn="ctr"/>
            <a:r>
              <a:rPr sz="1100" b="1">
                <a:solidFill>
                  <a:srgbClr val="0F172A"/>
                </a:solidFill>
                <a:latin typeface="Arial"/>
              </a:rPr>
              <a:t>LOUD COVER ZEROS</a:t>
            </a:r>
          </a:p>
          <a:p>
            <a:pPr algn="ctr"/>
            <a:r>
              <a:rPr sz="1000" b="0">
                <a:solidFill>
                  <a:srgbClr val="64748B"/>
                </a:solidFill>
                <a:latin typeface="Calibri"/>
              </a:rPr>
              <a:t>Carries 0 variance</a:t>
            </a:r>
          </a:p>
        </p:txBody>
      </p:sp>
      <p:sp>
        <p:nvSpPr>
          <p:cNvPr id="10" name="Rounded Rectangle 9"/>
          <p:cNvSpPr/>
          <p:nvPr/>
        </p:nvSpPr>
        <p:spPr>
          <a:xfrm>
            <a:off x="8961120" y="1920240"/>
            <a:ext cx="2468880" cy="12344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r>
              <a:rPr sz="3200" b="1">
                <a:solidFill>
                  <a:srgbClr val="E11D48"/>
                </a:solidFill>
                <a:latin typeface="Arial"/>
              </a:rPr>
              <a:t>502</a:t>
            </a:r>
          </a:p>
          <a:p>
            <a:pPr algn="ctr"/>
            <a:r>
              <a:rPr sz="1100" b="1">
                <a:solidFill>
                  <a:srgbClr val="0F172A"/>
                </a:solidFill>
                <a:latin typeface="Arial"/>
              </a:rPr>
              <a:t>PRESSURE = 0 ANOMALIES</a:t>
            </a:r>
          </a:p>
          <a:p>
            <a:pPr algn="ctr"/>
            <a:r>
              <a:rPr sz="1000" b="0">
                <a:solidFill>
                  <a:srgbClr val="64748B"/>
                </a:solidFill>
                <a:latin typeface="Calibri"/>
              </a:rPr>
              <a:t>Physically impossible</a:t>
            </a:r>
          </a:p>
        </p:txBody>
      </p:sp>
      <p:sp>
        <p:nvSpPr>
          <p:cNvPr id="11" name="Rounded Rectangle 10"/>
          <p:cNvSpPr/>
          <p:nvPr/>
        </p:nvSpPr>
        <p:spPr>
          <a:xfrm>
            <a:off x="731520" y="3337560"/>
            <a:ext cx="10728655" cy="29718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l"/>
            <a:r>
              <a:rPr sz="1300" b="1">
                <a:solidFill>
                  <a:srgbClr val="0F172A"/>
                </a:solidFill>
                <a:latin typeface="Arial"/>
              </a:rPr>
              <a:t>CRITICAL DATA INTEGRITY FINDINGS</a:t>
            </a:r>
          </a:p>
          <a:p>
            <a:pPr algn="l"/>
            <a:r>
              <a:rPr sz="600" b="0">
                <a:latin typeface="Calibri"/>
              </a:rPr>
              <a:t/>
            </a:r>
          </a:p>
          <a:p>
            <a:pPr algn="l"/>
            <a:r>
              <a:rPr sz="1200" b="1">
                <a:solidFill>
                  <a:srgbClr val="059669"/>
                </a:solidFill>
                <a:latin typeface="Calibri"/>
              </a:rPr>
              <a:t>1. Cell 12: Duplicate Verification: </a:t>
            </a:r>
            <a:r>
              <a:rPr sz="1150" b="0">
                <a:solidFill>
                  <a:srgbClr val="334155"/>
                </a:solidFill>
                <a:latin typeface="Calibri"/>
              </a:rPr>
              <a:t>The dataset contains exactly 0 duplicate rows. Every timestamp represents a distinct hourly reading.
</a:t>
            </a:r>
            <a:r>
              <a:rPr sz="1200" b="1">
                <a:solidFill>
                  <a:srgbClr val="D97706"/>
                </a:solidFill>
                <a:latin typeface="Calibri"/>
              </a:rPr>
              <a:t>2. Cell 13: The "Loud Cover" Invariant Column: </a:t>
            </a:r>
            <a:r>
              <a:rPr sz="1150" b="0">
                <a:solidFill>
                  <a:srgbClr val="334155"/>
                </a:solidFill>
                <a:latin typeface="Calibri"/>
              </a:rPr>
              <a:t>(df["Loud Cover"] == 0).mean() yielded 0.999967 (99.997%). Because Loud Cover has zero mathematical variance, it carries zero mutual information for predictive modeling. Retaining it would cause matrix singularity in regression.
</a:t>
            </a:r>
            <a:r>
              <a:rPr sz="1200" b="1">
                <a:solidFill>
                  <a:srgbClr val="E11D48"/>
                </a:solidFill>
                <a:latin typeface="Calibri"/>
              </a:rPr>
              <a:t>3. Cell 14: The 502 Impossible Zero-Pressure Readings: </a:t>
            </a:r>
            <a:r>
              <a:rPr sz="1150" b="0">
                <a:solidFill>
                  <a:srgbClr val="334155"/>
                </a:solidFill>
                <a:latin typeface="Calibri"/>
              </a:rPr>
              <a:t>(df["Pressure (millibars)"] == 0).sum() yielded exactly 502 rows. Mean atmospheric pressure at sea level is ~1,013 mbar. A reading of 0.0 mbar indicates a complete vacuum, physically impossible in Earth surface meteorology. These represent sensor transmission dropouts requiring median imputation.</a:t>
            </a:r>
          </a:p>
        </p:txBody>
      </p:sp>
    </p:spTree>
  </p:cSld>
  <p:clrMapOvr>
    <a:masterClrMapping/>
  </p:clrMapOvr>
  <p:transition spd="med" advClick="1">
    <p:fade/>
  </p:transition>
  <p:timing>
    <p:tnLst>
      <p:par>
        <p:cTn id="1" dur="indefinite" restart="always"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tgtEl>
                                    <p:spTgt spid="3"/>
                                  </p:tgtEl>
                                  <p:attrNameLst>
                                    <p:attrName>style.visibility</p:attrName>
                                  </p:attrNameLst>
                                </p:cBhvr>
                                <p:to>
                                  <p:strVal val="visible"/>
                                </p:to>
                              </p:set>
                              <p:animEffect transition="in" filter="fade">
                                <p:cBhvr>
                                  <p:cTn id="6" dur="500" fill="hold"/>
                                  <p:tgtEl>
                                    <p:spTgt spid="3"/>
                                  </p:tgtEl>
                                </p:cBhvr>
                              </p:animEffect>
                            </p:childTnLst>
                          </p:cTn>
                        </p:par>
                      </p:childTnLst>
                    </p:cTn>
                  </p:par>
                  <p:par>
                    <p:cTn id="7" fill="hold">
                      <p:stCondLst>
                        <p:cond delay="0"/>
                      </p:stCondLst>
                      <p:childTnLst>
                        <p:par>
                          <p:cTn id="8" fill="hold">
                            <p:stCondLst>
                              <p:cond delay="0"/>
                            </p:stCondLst>
                            <p:childTnLst>
                              <p:set>
                                <p:cBhvr>
                                  <p:cTn id="9" dur="1" fill="hold"/>
                                  <p:tgtEl>
                                    <p:spTgt spid="4"/>
                                  </p:tgtEl>
                                  <p:attrNameLst>
                                    <p:attrName>style.visibility</p:attrName>
                                  </p:attrNameLst>
                                </p:cBhvr>
                                <p:to>
                                  <p:strVal val="visible"/>
                                </p:to>
                              </p:set>
                              <p:animEffect transition="in" filter="fade">
                                <p:cBhvr>
                                  <p:cTn id="10" dur="500" fill="hold"/>
                                  <p:tgtEl>
                                    <p:spTgt spid="4"/>
                                  </p:tgtEl>
                                </p:cBhvr>
                              </p:animEffect>
                            </p:childTnLst>
                          </p:cTn>
                        </p:par>
                      </p:childTnLst>
                    </p:cTn>
                  </p:par>
                  <p:par>
                    <p:cTn id="11" fill="hold">
                      <p:stCondLst>
                        <p:cond delay="0"/>
                      </p:stCondLst>
                      <p:childTnLst>
                        <p:par>
                          <p:cTn id="12" fill="hold">
                            <p:stCondLst>
                              <p:cond delay="0"/>
                            </p:stCondLst>
                            <p:childTnLst>
                              <p:set>
                                <p:cBhvr>
                                  <p:cTn id="13" dur="1" fill="hold"/>
                                  <p:tgtEl>
                                    <p:spTgt spid="7"/>
                                  </p:tgtEl>
                                  <p:attrNameLst>
                                    <p:attrName>style.visibility</p:attrName>
                                  </p:attrNameLst>
                                </p:cBhvr>
                                <p:to>
                                  <p:strVal val="visible"/>
                                </p:to>
                              </p:set>
                              <p:animEffect transition="in" filter="fade">
                                <p:cBhvr>
                                  <p:cTn id="14" dur="500" fill="hold"/>
                                  <p:tgtEl>
                                    <p:spTgt spid="7"/>
                                  </p:tgtEl>
                                </p:cBhvr>
                              </p:animEffect>
                            </p:childTnLst>
                          </p:cTn>
                        </p:par>
                      </p:childTnLst>
                    </p:cTn>
                  </p:par>
                  <p:par>
                    <p:cTn id="15" fill="hold">
                      <p:stCondLst>
                        <p:cond delay="0"/>
                      </p:stCondLst>
                      <p:childTnLst>
                        <p:par>
                          <p:cTn id="16" fill="hold">
                            <p:stCondLst>
                              <p:cond delay="0"/>
                            </p:stCondLst>
                            <p:childTnLst>
                              <p:set>
                                <p:cBhvr>
                                  <p:cTn id="17" dur="1" fill="hold"/>
                                  <p:tgtEl>
                                    <p:spTgt spid="8"/>
                                  </p:tgtEl>
                                  <p:attrNameLst>
                                    <p:attrName>style.visibility</p:attrName>
                                  </p:attrNameLst>
                                </p:cBhvr>
                                <p:to>
                                  <p:strVal val="visible"/>
                                </p:to>
                              </p:set>
                              <p:animEffect transition="in" filter="fade">
                                <p:cBhvr>
                                  <p:cTn id="18" dur="500" fill="hold"/>
                                  <p:tgtEl>
                                    <p:spTgt spid="8"/>
                                  </p:tgtEl>
                                </p:cBhvr>
                              </p:animEffect>
                            </p:childTnLst>
                          </p:cTn>
                        </p:par>
                      </p:childTnLst>
                    </p:cTn>
                  </p:par>
                  <p:par>
                    <p:cTn id="19" fill="hold">
                      <p:stCondLst>
                        <p:cond delay="0"/>
                      </p:stCondLst>
                      <p:childTnLst>
                        <p:par>
                          <p:cTn id="20" fill="hold">
                            <p:stCondLst>
                              <p:cond delay="0"/>
                            </p:stCondLst>
                            <p:childTnLst>
                              <p:set>
                                <p:cBhvr>
                                  <p:cTn id="21" dur="1" fill="hold"/>
                                  <p:tgtEl>
                                    <p:spTgt spid="9"/>
                                  </p:tgtEl>
                                  <p:attrNameLst>
                                    <p:attrName>style.visibility</p:attrName>
                                  </p:attrNameLst>
                                </p:cBhvr>
                                <p:to>
                                  <p:strVal val="visible"/>
                                </p:to>
                              </p:set>
                              <p:animEffect transition="in" filter="fade">
                                <p:cBhvr>
                                  <p:cTn id="22" dur="500" fill="hold"/>
                                  <p:tgtEl>
                                    <p:spTgt spid="9"/>
                                  </p:tgtEl>
                                </p:cBhvr>
                              </p:animEffect>
                            </p:childTnLst>
                          </p:cTn>
                        </p:par>
                      </p:childTnLst>
                    </p:cTn>
                  </p:par>
                  <p:par>
                    <p:cTn id="23" fill="hold">
                      <p:stCondLst>
                        <p:cond delay="0"/>
                      </p:stCondLst>
                      <p:childTnLst>
                        <p:par>
                          <p:cTn id="24" fill="hold">
                            <p:stCondLst>
                              <p:cond delay="0"/>
                            </p:stCondLst>
                            <p:childTnLst>
                              <p:set>
                                <p:cBhvr>
                                  <p:cTn id="25" dur="1" fill="hold"/>
                                  <p:tgtEl>
                                    <p:spTgt spid="10"/>
                                  </p:tgtEl>
                                  <p:attrNameLst>
                                    <p:attrName>style.visibility</p:attrName>
                                  </p:attrNameLst>
                                </p:cBhvr>
                                <p:to>
                                  <p:strVal val="visible"/>
                                </p:to>
                              </p:set>
                              <p:animEffect transition="in" filter="fade">
                                <p:cBhvr>
                                  <p:cTn id="26" dur="500" fill="hold"/>
                                  <p:tgtEl>
                                    <p:spTgt spid="10"/>
                                  </p:tgtEl>
                                </p:cBhvr>
                              </p:animEffect>
                            </p:childTnLst>
                          </p:cTn>
                        </p:par>
                      </p:childTnLst>
                    </p:cTn>
                  </p:par>
                  <p:par>
                    <p:cTn id="27" fill="hold">
                      <p:stCondLst>
                        <p:cond delay="0"/>
                      </p:stCondLst>
                      <p:childTnLst>
                        <p:par>
                          <p:cTn id="28" fill="hold">
                            <p:stCondLst>
                              <p:cond delay="0"/>
                            </p:stCondLst>
                            <p:childTnLst>
                              <p:set>
                                <p:cBhvr>
                                  <p:cTn id="29" dur="1" fill="hold"/>
                                  <p:tgtEl>
                                    <p:spTgt spid="11"/>
                                  </p:tgtEl>
                                  <p:attrNameLst>
                                    <p:attrName>style.visibility</p:attrName>
                                  </p:attrNameLst>
                                </p:cBhvr>
                                <p:to>
                                  <p:strVal val="visible"/>
                                </p:to>
                              </p:set>
                              <p:animEffect transition="in" filter="fade">
                                <p:cBhvr>
                                  <p:cTn id="30" dur="500" fill="hold"/>
                                  <p:tgtEl>
                                    <p:spTgt spid="11"/>
                                  </p:tgtEl>
                                </p:cBhvr>
                              </p:animEffect>
                            </p:childTnLst>
                          </p:cTn>
                        </p:par>
                      </p:childTnLst>
                    </p:cTn>
                  </p:par>
                </p:childTnLst>
              </p:cTn>
              <p:prevCondLst>
                <p:cond evt="onPrev" delay="0">
                  <p:tgtEl>
                    <p:spTgt spid="0"/>
                  </p:tgtEl>
                </p:cond>
              </p:prevCondLst>
              <p:nextCondLst>
                <p:cond evt="onNext" delay="0">
                  <p:tgtEl>
                    <p:spTgt spid="0"/>
                  </p:tgtEl>
                </p:cond>
              </p:nextCondLst>
            </p:seq>
          </p:childTnLst>
        </p:cTn>
      </p:par>
    </p:tnLst>
    <p:bldLst>
      <p:bldSp spid="3" grpId="0" animBg="true"/>
      <p:bldSp spid="4" grpId="0" animBg="true"/>
      <p:bldSp spid="7" grpId="0" animBg="true"/>
      <p:bldSp spid="8" grpId="0" animBg="true"/>
      <p:bldSp spid="9" grpId="0" animBg="true"/>
      <p:bldSp spid="10" grpId="0" animBg="true"/>
      <p:bldSp spid="11" grpId="0" animBg="true"/>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47472"/>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FFFFF"/>
                </a:solidFill>
                <a:latin typeface="Arial"/>
              </a:rPr>
              <a:t>PART 4: FEATURE ENGINEERING | KOTA SAI MANI RUPESH</a:t>
            </a:r>
          </a:p>
        </p:txBody>
      </p:sp>
      <p:sp>
        <p:nvSpPr>
          <p:cNvPr id="4" name="TextBox 3"/>
          <p:cNvSpPr txBox="1"/>
          <p:nvPr/>
        </p:nvSpPr>
        <p:spPr>
          <a:xfrm>
            <a:off x="731520" y="749808"/>
            <a:ext cx="10698480" cy="868680"/>
          </a:xfrm>
          <a:prstGeom prst="rect">
            <a:avLst/>
          </a:prstGeom>
          <a:noFill/>
        </p:spPr>
        <p:txBody>
          <a:bodyPr wrap="square" lIns="0" tIns="0" rIns="0" bIns="0">
            <a:spAutoFit/>
          </a:bodyPr>
          <a:lstStyle/>
          <a:p>
            <a:r>
              <a:rPr sz="2200" b="1">
                <a:solidFill>
                  <a:srgbClr val="0F172A"/>
                </a:solidFill>
                <a:latin typeface="Arial"/>
              </a:rPr>
              <a:t>Data Cleaning &amp; Imputation Pipeline (Notebook Cells 15–21)</a:t>
            </a:r>
          </a:p>
          <a:p>
            <a:r>
              <a:rPr sz="1300">
                <a:solidFill>
                  <a:srgbClr val="64748B"/>
                </a:solidFill>
                <a:latin typeface="Calibri"/>
              </a:rPr>
              <a:t>Executing rigorous transformations, invariant removal, and barometric median imputation</a:t>
            </a:r>
          </a:p>
        </p:txBody>
      </p:sp>
      <p:sp>
        <p:nvSpPr>
          <p:cNvPr id="5" name="Rectangle 4"/>
          <p:cNvSpPr/>
          <p:nvPr/>
        </p:nvSpPr>
        <p:spPr>
          <a:xfrm>
            <a:off x="731520" y="166420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728655" cy="274320"/>
          </a:xfrm>
          <a:prstGeom prst="rect">
            <a:avLst/>
          </a:prstGeom>
          <a:noFill/>
        </p:spPr>
        <p:txBody>
          <a:bodyPr wrap="none" lIns="0" tIns="0" rIns="0" bIns="0">
            <a:spAutoFit/>
          </a:bodyPr>
          <a:lstStyle/>
          <a:p>
            <a:r>
              <a:rPr sz="1000">
                <a:solidFill>
                  <a:srgbClr val="64748B"/>
                </a:solidFill>
                <a:latin typeface="Calibri"/>
              </a:rPr>
              <a:t>Foundations of Data Science (FDS) Course Project | Team 252U1R</a:t>
            </a:r>
            <a:r>
              <a:t>                                                                                               </a:t>
            </a:r>
            <a:r>
              <a:rPr sz="1000" b="1">
                <a:solidFill>
                  <a:srgbClr val="D97706"/>
                </a:solidFill>
                <a:latin typeface="Calibri"/>
              </a:rPr>
              <a:t>Slide 9 of 20</a:t>
            </a:r>
          </a:p>
        </p:txBody>
      </p:sp>
      <p:sp>
        <p:nvSpPr>
          <p:cNvPr id="7" name="Rounded Rectangle 6"/>
          <p:cNvSpPr/>
          <p:nvPr/>
        </p:nvSpPr>
        <p:spPr>
          <a:xfrm>
            <a:off x="731520" y="1920240"/>
            <a:ext cx="5257800" cy="12801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l"/>
            <a:r>
              <a:rPr sz="1250" b="1">
                <a:solidFill>
                  <a:srgbClr val="0F172A"/>
                </a:solidFill>
                <a:latin typeface="Arial"/>
              </a:rPr>
              <a:t>Step 1: Deduplication (Cell 15)</a:t>
            </a:r>
          </a:p>
          <a:p>
            <a:pPr algn="l"/>
            <a:r>
              <a:rPr sz="1100" b="0">
                <a:solidFill>
                  <a:srgbClr val="334155"/>
                </a:solidFill>
                <a:latin typeface="Calibri"/>
              </a:rPr>
              <a:t>df = df.drop_duplicates().reset_index(drop=True)
Since Cell 12 found 0 duplicates, this step guarantees pipeline hygiene without removing rows.</a:t>
            </a:r>
          </a:p>
        </p:txBody>
      </p:sp>
      <p:sp>
        <p:nvSpPr>
          <p:cNvPr id="8" name="Rounded Rectangle 7"/>
          <p:cNvSpPr/>
          <p:nvPr/>
        </p:nvSpPr>
        <p:spPr>
          <a:xfrm>
            <a:off x="6172200" y="1920240"/>
            <a:ext cx="5257800" cy="12801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l"/>
            <a:r>
              <a:rPr sz="1250" b="1">
                <a:solidFill>
                  <a:srgbClr val="0F172A"/>
                </a:solidFill>
                <a:latin typeface="Arial"/>
              </a:rPr>
              <a:t>Step 2: Precip Type Fillna (Cell 16)</a:t>
            </a:r>
          </a:p>
          <a:p>
            <a:pPr algn="l"/>
            <a:r>
              <a:rPr sz="1100" b="0">
                <a:solidFill>
                  <a:srgbClr val="334155"/>
                </a:solidFill>
                <a:latin typeface="Calibri"/>
              </a:rPr>
              <a:t>df['Precip Type'] = df['Precip Type'].fillna('none')
Cell 10 showed no nulls, so this step acts as a defensive guard for downstream classification.</a:t>
            </a:r>
          </a:p>
        </p:txBody>
      </p:sp>
      <p:sp>
        <p:nvSpPr>
          <p:cNvPr id="9" name="Rounded Rectangle 8"/>
          <p:cNvSpPr/>
          <p:nvPr/>
        </p:nvSpPr>
        <p:spPr>
          <a:xfrm>
            <a:off x="731520" y="3337560"/>
            <a:ext cx="5257800" cy="12801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l"/>
            <a:r>
              <a:rPr sz="1250" b="1">
                <a:solidFill>
                  <a:srgbClr val="0F172A"/>
                </a:solidFill>
                <a:latin typeface="Arial"/>
              </a:rPr>
              <a:t>Step 3: Drop Loud Cover (Cell 17)</a:t>
            </a:r>
          </a:p>
          <a:p>
            <a:pPr algn="l"/>
            <a:r>
              <a:rPr sz="1100" b="0">
                <a:solidFill>
                  <a:srgbClr val="334155"/>
                </a:solidFill>
                <a:latin typeface="Calibri"/>
              </a:rPr>
              <a:t>df = df.drop(columns=['Loud Cover'])
Permanently purged the invariant zero-variance column to prevent multicollinearity.</a:t>
            </a:r>
          </a:p>
        </p:txBody>
      </p:sp>
      <p:sp>
        <p:nvSpPr>
          <p:cNvPr id="10" name="Rounded Rectangle 9"/>
          <p:cNvSpPr/>
          <p:nvPr/>
        </p:nvSpPr>
        <p:spPr>
          <a:xfrm>
            <a:off x="6172200" y="3337560"/>
            <a:ext cx="5257800" cy="12801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l"/>
            <a:r>
              <a:rPr sz="1250" b="1">
                <a:solidFill>
                  <a:srgbClr val="0F172A"/>
                </a:solidFill>
                <a:latin typeface="Arial"/>
              </a:rPr>
              <a:t>Step 4: UTC Datetime Conversion (Cell 18)</a:t>
            </a:r>
          </a:p>
          <a:p>
            <a:pPr algn="l"/>
            <a:r>
              <a:rPr sz="1100" b="0">
                <a:solidFill>
                  <a:srgbClr val="334155"/>
                </a:solidFill>
                <a:latin typeface="Calibri"/>
              </a:rPr>
              <a:t>df['Formatted Date'] = pd.to_datetime(df['Formatted Date'], utc=True)
Converted raw string timestamps into standardized UTC datetime objects.</a:t>
            </a:r>
          </a:p>
        </p:txBody>
      </p:sp>
      <p:sp>
        <p:nvSpPr>
          <p:cNvPr id="11" name="Rounded Rectangle 10"/>
          <p:cNvSpPr/>
          <p:nvPr/>
        </p:nvSpPr>
        <p:spPr>
          <a:xfrm>
            <a:off x="731520" y="4754880"/>
            <a:ext cx="5257800" cy="12801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l"/>
            <a:r>
              <a:rPr sz="1250" b="1">
                <a:solidFill>
                  <a:srgbClr val="0F172A"/>
                </a:solidFill>
                <a:latin typeface="Arial"/>
              </a:rPr>
              <a:t>Step 5: Chronological Sorting (Cell 19)</a:t>
            </a:r>
          </a:p>
          <a:p>
            <a:pPr algn="l"/>
            <a:r>
              <a:rPr sz="1100" b="0">
                <a:solidFill>
                  <a:srgbClr val="334155"/>
                </a:solidFill>
                <a:latin typeface="Calibri"/>
              </a:rPr>
              <a:t>df = df.sort_values('Formatted Date').reset_index(drop=True)
Sorted records chronologically across 10 years to maintain temporal continuity.</a:t>
            </a:r>
          </a:p>
        </p:txBody>
      </p:sp>
      <p:sp>
        <p:nvSpPr>
          <p:cNvPr id="12" name="Rounded Rectangle 11"/>
          <p:cNvSpPr/>
          <p:nvPr/>
        </p:nvSpPr>
        <p:spPr>
          <a:xfrm>
            <a:off x="6172200" y="4754880"/>
            <a:ext cx="5257800" cy="12801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l"/>
            <a:r>
              <a:rPr sz="1250" b="1">
                <a:solidFill>
                  <a:srgbClr val="0F172A"/>
                </a:solidFill>
                <a:latin typeface="Arial"/>
              </a:rPr>
              <a:t>Step 6: Zero-Pressure Imputation (Cells 20–21)</a:t>
            </a:r>
          </a:p>
          <a:p>
            <a:pPr algn="l"/>
            <a:r>
              <a:rPr sz="1100" b="0">
                <a:solidFill>
                  <a:srgbClr val="334155"/>
                </a:solidFill>
                <a:latin typeface="Calibri"/>
              </a:rPr>
              <a:t>df['Pressure'] = df['Pressure'].replace(0, np.nan)
df['Pressure'] = df['Pressure'].fillna(df['Pressure'].median())
Replaced 502 zero dropouts with the robust median of 1,016.45 mbar.</a:t>
            </a:r>
          </a:p>
        </p:txBody>
      </p:sp>
    </p:spTree>
  </p:cSld>
  <p:clrMapOvr>
    <a:masterClrMapping/>
  </p:clrMapOvr>
  <p:transition spd="med" advClick="1">
    <p:fade/>
  </p:transition>
  <p:timing>
    <p:tnLst>
      <p:par>
        <p:cTn id="1" dur="indefinite" restart="always"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tgtEl>
                                    <p:spTgt spid="3"/>
                                  </p:tgtEl>
                                  <p:attrNameLst>
                                    <p:attrName>style.visibility</p:attrName>
                                  </p:attrNameLst>
                                </p:cBhvr>
                                <p:to>
                                  <p:strVal val="visible"/>
                                </p:to>
                              </p:set>
                              <p:animEffect transition="in" filter="fade">
                                <p:cBhvr>
                                  <p:cTn id="6" dur="500" fill="hold"/>
                                  <p:tgtEl>
                                    <p:spTgt spid="3"/>
                                  </p:tgtEl>
                                </p:cBhvr>
                              </p:animEffect>
                            </p:childTnLst>
                          </p:cTn>
                        </p:par>
                      </p:childTnLst>
                    </p:cTn>
                  </p:par>
                  <p:par>
                    <p:cTn id="7" fill="hold">
                      <p:stCondLst>
                        <p:cond delay="0"/>
                      </p:stCondLst>
                      <p:childTnLst>
                        <p:par>
                          <p:cTn id="8" fill="hold">
                            <p:stCondLst>
                              <p:cond delay="0"/>
                            </p:stCondLst>
                            <p:childTnLst>
                              <p:set>
                                <p:cBhvr>
                                  <p:cTn id="9" dur="1" fill="hold"/>
                                  <p:tgtEl>
                                    <p:spTgt spid="4"/>
                                  </p:tgtEl>
                                  <p:attrNameLst>
                                    <p:attrName>style.visibility</p:attrName>
                                  </p:attrNameLst>
                                </p:cBhvr>
                                <p:to>
                                  <p:strVal val="visible"/>
                                </p:to>
                              </p:set>
                              <p:animEffect transition="in" filter="fade">
                                <p:cBhvr>
                                  <p:cTn id="10" dur="500" fill="hold"/>
                                  <p:tgtEl>
                                    <p:spTgt spid="4"/>
                                  </p:tgtEl>
                                </p:cBhvr>
                              </p:animEffect>
                            </p:childTnLst>
                          </p:cTn>
                        </p:par>
                      </p:childTnLst>
                    </p:cTn>
                  </p:par>
                  <p:par>
                    <p:cTn id="11" fill="hold">
                      <p:stCondLst>
                        <p:cond delay="0"/>
                      </p:stCondLst>
                      <p:childTnLst>
                        <p:par>
                          <p:cTn id="12" fill="hold">
                            <p:stCondLst>
                              <p:cond delay="0"/>
                            </p:stCondLst>
                            <p:childTnLst>
                              <p:set>
                                <p:cBhvr>
                                  <p:cTn id="13" dur="1" fill="hold"/>
                                  <p:tgtEl>
                                    <p:spTgt spid="7"/>
                                  </p:tgtEl>
                                  <p:attrNameLst>
                                    <p:attrName>style.visibility</p:attrName>
                                  </p:attrNameLst>
                                </p:cBhvr>
                                <p:to>
                                  <p:strVal val="visible"/>
                                </p:to>
                              </p:set>
                              <p:animEffect transition="in" filter="fade">
                                <p:cBhvr>
                                  <p:cTn id="14" dur="500" fill="hold"/>
                                  <p:tgtEl>
                                    <p:spTgt spid="7"/>
                                  </p:tgtEl>
                                </p:cBhvr>
                              </p:animEffect>
                            </p:childTnLst>
                          </p:cTn>
                        </p:par>
                      </p:childTnLst>
                    </p:cTn>
                  </p:par>
                  <p:par>
                    <p:cTn id="15" fill="hold">
                      <p:stCondLst>
                        <p:cond delay="0"/>
                      </p:stCondLst>
                      <p:childTnLst>
                        <p:par>
                          <p:cTn id="16" fill="hold">
                            <p:stCondLst>
                              <p:cond delay="0"/>
                            </p:stCondLst>
                            <p:childTnLst>
                              <p:set>
                                <p:cBhvr>
                                  <p:cTn id="17" dur="1" fill="hold"/>
                                  <p:tgtEl>
                                    <p:spTgt spid="8"/>
                                  </p:tgtEl>
                                  <p:attrNameLst>
                                    <p:attrName>style.visibility</p:attrName>
                                  </p:attrNameLst>
                                </p:cBhvr>
                                <p:to>
                                  <p:strVal val="visible"/>
                                </p:to>
                              </p:set>
                              <p:animEffect transition="in" filter="fade">
                                <p:cBhvr>
                                  <p:cTn id="18" dur="500" fill="hold"/>
                                  <p:tgtEl>
                                    <p:spTgt spid="8"/>
                                  </p:tgtEl>
                                </p:cBhvr>
                              </p:animEffect>
                            </p:childTnLst>
                          </p:cTn>
                        </p:par>
                      </p:childTnLst>
                    </p:cTn>
                  </p:par>
                  <p:par>
                    <p:cTn id="19" fill="hold">
                      <p:stCondLst>
                        <p:cond delay="0"/>
                      </p:stCondLst>
                      <p:childTnLst>
                        <p:par>
                          <p:cTn id="20" fill="hold">
                            <p:stCondLst>
                              <p:cond delay="0"/>
                            </p:stCondLst>
                            <p:childTnLst>
                              <p:set>
                                <p:cBhvr>
                                  <p:cTn id="21" dur="1" fill="hold"/>
                                  <p:tgtEl>
                                    <p:spTgt spid="9"/>
                                  </p:tgtEl>
                                  <p:attrNameLst>
                                    <p:attrName>style.visibility</p:attrName>
                                  </p:attrNameLst>
                                </p:cBhvr>
                                <p:to>
                                  <p:strVal val="visible"/>
                                </p:to>
                              </p:set>
                              <p:animEffect transition="in" filter="fade">
                                <p:cBhvr>
                                  <p:cTn id="22" dur="500" fill="hold"/>
                                  <p:tgtEl>
                                    <p:spTgt spid="9"/>
                                  </p:tgtEl>
                                </p:cBhvr>
                              </p:animEffect>
                            </p:childTnLst>
                          </p:cTn>
                        </p:par>
                      </p:childTnLst>
                    </p:cTn>
                  </p:par>
                  <p:par>
                    <p:cTn id="23" fill="hold">
                      <p:stCondLst>
                        <p:cond delay="0"/>
                      </p:stCondLst>
                      <p:childTnLst>
                        <p:par>
                          <p:cTn id="24" fill="hold">
                            <p:stCondLst>
                              <p:cond delay="0"/>
                            </p:stCondLst>
                            <p:childTnLst>
                              <p:set>
                                <p:cBhvr>
                                  <p:cTn id="25" dur="1" fill="hold"/>
                                  <p:tgtEl>
                                    <p:spTgt spid="10"/>
                                  </p:tgtEl>
                                  <p:attrNameLst>
                                    <p:attrName>style.visibility</p:attrName>
                                  </p:attrNameLst>
                                </p:cBhvr>
                                <p:to>
                                  <p:strVal val="visible"/>
                                </p:to>
                              </p:set>
                              <p:animEffect transition="in" filter="fade">
                                <p:cBhvr>
                                  <p:cTn id="26" dur="500" fill="hold"/>
                                  <p:tgtEl>
                                    <p:spTgt spid="10"/>
                                  </p:tgtEl>
                                </p:cBhvr>
                              </p:animEffect>
                            </p:childTnLst>
                          </p:cTn>
                        </p:par>
                      </p:childTnLst>
                    </p:cTn>
                  </p:par>
                  <p:par>
                    <p:cTn id="27" fill="hold">
                      <p:stCondLst>
                        <p:cond delay="0"/>
                      </p:stCondLst>
                      <p:childTnLst>
                        <p:par>
                          <p:cTn id="28" fill="hold">
                            <p:stCondLst>
                              <p:cond delay="0"/>
                            </p:stCondLst>
                            <p:childTnLst>
                              <p:set>
                                <p:cBhvr>
                                  <p:cTn id="29" dur="1" fill="hold"/>
                                  <p:tgtEl>
                                    <p:spTgt spid="11"/>
                                  </p:tgtEl>
                                  <p:attrNameLst>
                                    <p:attrName>style.visibility</p:attrName>
                                  </p:attrNameLst>
                                </p:cBhvr>
                                <p:to>
                                  <p:strVal val="visible"/>
                                </p:to>
                              </p:set>
                              <p:animEffect transition="in" filter="fade">
                                <p:cBhvr>
                                  <p:cTn id="30" dur="500" fill="hold"/>
                                  <p:tgtEl>
                                    <p:spTgt spid="11"/>
                                  </p:tgtEl>
                                </p:cBhvr>
                              </p:animEffect>
                            </p:childTnLst>
                          </p:cTn>
                        </p:par>
                      </p:childTnLst>
                    </p:cTn>
                  </p:par>
                  <p:par>
                    <p:cTn id="31" fill="hold">
                      <p:stCondLst>
                        <p:cond delay="0"/>
                      </p:stCondLst>
                      <p:childTnLst>
                        <p:par>
                          <p:cTn id="32" fill="hold">
                            <p:stCondLst>
                              <p:cond delay="0"/>
                            </p:stCondLst>
                            <p:childTnLst>
                              <p:set>
                                <p:cBhvr>
                                  <p:cTn id="33" dur="1" fill="hold"/>
                                  <p:tgtEl>
                                    <p:spTgt spid="12"/>
                                  </p:tgtEl>
                                  <p:attrNameLst>
                                    <p:attrName>style.visibility</p:attrName>
                                  </p:attrNameLst>
                                </p:cBhvr>
                                <p:to>
                                  <p:strVal val="visible"/>
                                </p:to>
                              </p:set>
                              <p:animEffect transition="in" filter="fade">
                                <p:cBhvr>
                                  <p:cTn id="34" dur="500" fill="hold"/>
                                  <p:tgtEl>
                                    <p:spTgt spid="12"/>
                                  </p:tgtEl>
                                </p:cBhvr>
                              </p:animEffect>
                            </p:childTnLst>
                          </p:cTn>
                        </p:par>
                      </p:childTnLst>
                    </p:cTn>
                  </p:par>
                </p:childTnLst>
              </p:cTn>
              <p:prevCondLst>
                <p:cond evt="onPrev" delay="0">
                  <p:tgtEl>
                    <p:spTgt spid="0"/>
                  </p:tgtEl>
                </p:cond>
              </p:prevCondLst>
              <p:nextCondLst>
                <p:cond evt="onNext" delay="0">
                  <p:tgtEl>
                    <p:spTgt spid="0"/>
                  </p:tgtEl>
                </p:cond>
              </p:nextCondLst>
            </p:seq>
          </p:childTnLst>
        </p:cTn>
      </p:par>
    </p:tnLst>
    <p:bldLst>
      <p:bldSp spid="3" grpId="0" animBg="true"/>
      <p:bldSp spid="4" grpId="0" animBg="true"/>
      <p:bldSp spid="7" grpId="0" animBg="true"/>
      <p:bldSp spid="8" grpId="0" animBg="true"/>
      <p:bldSp spid="9" grpId="0" animBg="true"/>
      <p:bldSp spid="10" grpId="0" animBg="true"/>
      <p:bldSp spid="11" grpId="0" animBg="true"/>
      <p:bldSp spid="12" grpId="0" animBg="true"/>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47472"/>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FFFFF"/>
                </a:solidFill>
                <a:latin typeface="Arial"/>
              </a:rPr>
              <a:t>PART 4: FEATURE ENGINEERING | KOTA SAI MANI RUPESH</a:t>
            </a:r>
          </a:p>
        </p:txBody>
      </p:sp>
      <p:sp>
        <p:nvSpPr>
          <p:cNvPr id="4" name="TextBox 3"/>
          <p:cNvSpPr txBox="1"/>
          <p:nvPr/>
        </p:nvSpPr>
        <p:spPr>
          <a:xfrm>
            <a:off x="731520" y="749808"/>
            <a:ext cx="10698480" cy="868680"/>
          </a:xfrm>
          <a:prstGeom prst="rect">
            <a:avLst/>
          </a:prstGeom>
          <a:noFill/>
        </p:spPr>
        <p:txBody>
          <a:bodyPr wrap="square" lIns="0" tIns="0" rIns="0" bIns="0">
            <a:spAutoFit/>
          </a:bodyPr>
          <a:lstStyle/>
          <a:p>
            <a:r>
              <a:rPr sz="2200" b="1">
                <a:solidFill>
                  <a:srgbClr val="0F172A"/>
                </a:solidFill>
                <a:latin typeface="Arial"/>
              </a:rPr>
              <a:t>Feature Engineering &amp; Domain Synthesis (Notebook Cells 22–28)</a:t>
            </a:r>
          </a:p>
          <a:p>
            <a:r>
              <a:rPr sz="1300">
                <a:solidFill>
                  <a:srgbClr val="64748B"/>
                </a:solidFill>
                <a:latin typeface="Calibri"/>
              </a:rPr>
              <a:t>Deriving temporal decompositions, meteorological seasons, thermal divergence, and diurnal status</a:t>
            </a:r>
          </a:p>
        </p:txBody>
      </p:sp>
      <p:sp>
        <p:nvSpPr>
          <p:cNvPr id="5" name="Rectangle 4"/>
          <p:cNvSpPr/>
          <p:nvPr/>
        </p:nvSpPr>
        <p:spPr>
          <a:xfrm>
            <a:off x="731520" y="166420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728655" cy="274320"/>
          </a:xfrm>
          <a:prstGeom prst="rect">
            <a:avLst/>
          </a:prstGeom>
          <a:noFill/>
        </p:spPr>
        <p:txBody>
          <a:bodyPr wrap="none" lIns="0" tIns="0" rIns="0" bIns="0">
            <a:spAutoFit/>
          </a:bodyPr>
          <a:lstStyle/>
          <a:p>
            <a:r>
              <a:rPr sz="1000">
                <a:solidFill>
                  <a:srgbClr val="64748B"/>
                </a:solidFill>
                <a:latin typeface="Calibri"/>
              </a:rPr>
              <a:t>Foundations of Data Science (FDS) Course Project | Team 252U1R</a:t>
            </a:r>
            <a:r>
              <a:t>                                                                                               </a:t>
            </a:r>
            <a:r>
              <a:rPr sz="1000" b="1">
                <a:solidFill>
                  <a:srgbClr val="D97706"/>
                </a:solidFill>
                <a:latin typeface="Calibri"/>
              </a:rPr>
              <a:t>Slide 10 of 20</a:t>
            </a:r>
          </a:p>
        </p:txBody>
      </p:sp>
      <p:sp>
        <p:nvSpPr>
          <p:cNvPr id="7" name="Rounded Rectangle 6"/>
          <p:cNvSpPr/>
          <p:nvPr/>
        </p:nvSpPr>
        <p:spPr>
          <a:xfrm>
            <a:off x="731520" y="1920240"/>
            <a:ext cx="5257800" cy="43891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l"/>
            <a:r>
              <a:rPr sz="1300" b="1">
                <a:solidFill>
                  <a:srgbClr val="D97706"/>
                </a:solidFill>
                <a:latin typeface="Arial"/>
              </a:rPr>
              <a:t>TEMPORAL FEATURE EXTRACTION (CELLS 22–26)</a:t>
            </a:r>
          </a:p>
          <a:p>
            <a:pPr algn="l"/>
            <a:r>
              <a:rPr sz="600" b="0">
                <a:latin typeface="Calibri"/>
              </a:rPr>
              <a:t/>
            </a:r>
          </a:p>
          <a:p>
            <a:pPr algn="l"/>
            <a:r>
              <a:rPr sz="1200" b="1">
                <a:solidFill>
                  <a:srgbClr val="0F172A"/>
                </a:solidFill>
                <a:latin typeface="Calibri"/>
              </a:rPr>
              <a:t>1. Temporal Components (Cells 22–24):</a:t>
            </a:r>
          </a:p>
          <a:p>
            <a:pPr algn="l"/>
            <a:r>
              <a:rPr sz="1150" b="0">
                <a:solidFill>
                  <a:srgbClr val="334155"/>
                </a:solidFill>
                <a:latin typeface="Calibri"/>
              </a:rPr>
              <a:t>• df["Year"] = df["Formatted Date"].dt.year
• df["Month"] = df["Formatted Date"].dt.month
• df["Hour"] = df["Formatted Date"].dt.hour
Enables cyclic analysis across multi-year and diurnal periods.</a:t>
            </a:r>
          </a:p>
          <a:p>
            <a:pPr algn="l"/>
            <a:r>
              <a:rPr sz="800" b="0">
                <a:latin typeface="Calibri"/>
              </a:rPr>
              <a:t/>
            </a:r>
          </a:p>
          <a:p>
            <a:pPr algn="l"/>
            <a:r>
              <a:rPr sz="1200" b="1">
                <a:solidFill>
                  <a:srgbClr val="0F172A"/>
                </a:solidFill>
                <a:latin typeface="Calibri"/>
              </a:rPr>
              <a:t>2. Meteorological Season Mapping (Cells 25–26):</a:t>
            </a:r>
          </a:p>
          <a:p>
            <a:pPr algn="l"/>
            <a:r>
              <a:rPr sz="1100" b="0">
                <a:solidFill>
                  <a:srgbClr val="0F172A"/>
                </a:solidFill>
                <a:latin typeface="Consolas"/>
              </a:rPr>
              <a:t>def month_to_season(m):
    if m in (12, 1, 2): return "Winter"
    if m in (3, 4, 5):  return "Spring"
    if m in (6, 7, 8):  return "Summer"
    return "Autumn"
df["Season"] = df["Month"].apply(month_to_season)</a:t>
            </a:r>
          </a:p>
          <a:p>
            <a:pPr algn="l"/>
            <a:r>
              <a:rPr sz="600" b="0">
                <a:latin typeface="Calibri"/>
              </a:rPr>
              <a:t/>
            </a:r>
          </a:p>
          <a:p>
            <a:pPr algn="l"/>
            <a:r>
              <a:rPr sz="1100" b="0">
                <a:solidFill>
                  <a:srgbClr val="334155"/>
                </a:solidFill>
                <a:latin typeface="Calibri"/>
              </a:rPr>
              <a:t>Creates a high-level categorical grouping for ANOVA and seasonal testing.</a:t>
            </a:r>
          </a:p>
        </p:txBody>
      </p:sp>
      <p:sp>
        <p:nvSpPr>
          <p:cNvPr id="8" name="Rounded Rectangle 7"/>
          <p:cNvSpPr/>
          <p:nvPr/>
        </p:nvSpPr>
        <p:spPr>
          <a:xfrm>
            <a:off x="6172200" y="1920240"/>
            <a:ext cx="5257800" cy="43891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l"/>
            <a:r>
              <a:rPr sz="1300" b="1">
                <a:solidFill>
                  <a:srgbClr val="D97706"/>
                </a:solidFill>
                <a:latin typeface="Arial"/>
              </a:rPr>
              <a:t>PHYSICAL &amp; DIURNAL METRICS (CELLS 27–28)</a:t>
            </a:r>
          </a:p>
          <a:p>
            <a:pPr algn="l"/>
            <a:r>
              <a:rPr sz="600" b="0">
                <a:latin typeface="Calibri"/>
              </a:rPr>
              <a:t/>
            </a:r>
          </a:p>
          <a:p>
            <a:pPr algn="l"/>
            <a:r>
              <a:rPr sz="1200" b="1">
                <a:solidFill>
                  <a:srgbClr val="0F172A"/>
                </a:solidFill>
                <a:latin typeface="Calibri"/>
              </a:rPr>
              <a:t>3. Temperature Divergence (Cell 27):</a:t>
            </a:r>
          </a:p>
          <a:p>
            <a:pPr algn="l"/>
            <a:r>
              <a:rPr sz="1100" b="0">
                <a:solidFill>
                  <a:srgbClr val="0F172A"/>
                </a:solidFill>
                <a:latin typeface="Consolas"/>
              </a:rPr>
              <a:t>df["Temp Diff"] = df["Temperature (C)"] - df["Apparent Temperature (C)"]</a:t>
            </a:r>
          </a:p>
          <a:p>
            <a:pPr algn="l"/>
            <a:r>
              <a:rPr sz="1150" b="0">
                <a:solidFill>
                  <a:srgbClr val="334155"/>
                </a:solidFill>
                <a:latin typeface="Calibri"/>
              </a:rPr>
              <a:t>• Quantifies the thermal sensory gap.
• Positive Temp Diff indicates wind chill cooling (actual &gt; apparent).
• Negative Temp Diff indicates high humidity heat index amplification.</a:t>
            </a:r>
          </a:p>
          <a:p>
            <a:pPr algn="l"/>
            <a:r>
              <a:rPr sz="800" b="0">
                <a:latin typeface="Calibri"/>
              </a:rPr>
              <a:t/>
            </a:r>
          </a:p>
          <a:p>
            <a:pPr algn="l"/>
            <a:r>
              <a:rPr sz="1200" b="1">
                <a:solidFill>
                  <a:srgbClr val="0F172A"/>
                </a:solidFill>
                <a:latin typeface="Calibri"/>
              </a:rPr>
              <a:t>4. Diurnal Illumination Flag (Cell 28):</a:t>
            </a:r>
          </a:p>
          <a:p>
            <a:pPr algn="l"/>
            <a:r>
              <a:rPr sz="1100" b="0">
                <a:solidFill>
                  <a:srgbClr val="0F172A"/>
                </a:solidFill>
                <a:latin typeface="Consolas"/>
              </a:rPr>
              <a:t>df["Is Daytime"] = df["Hour"].between(6, 18)</a:t>
            </a:r>
          </a:p>
          <a:p>
            <a:pPr algn="l"/>
            <a:r>
              <a:rPr sz="1150" b="0">
                <a:solidFill>
                  <a:srgbClr val="334155"/>
                </a:solidFill>
                <a:latin typeface="Calibri"/>
              </a:rPr>
              <a:t>• Binary flag (True/False) segmenting solar daylight hours from nocturnal radiative cooling periods.</a:t>
            </a:r>
          </a:p>
        </p:txBody>
      </p:sp>
    </p:spTree>
  </p:cSld>
  <p:clrMapOvr>
    <a:masterClrMapping/>
  </p:clrMapOvr>
  <p:transition spd="med" advClick="1">
    <p:fade/>
  </p:transition>
  <p:timing>
    <p:tnLst>
      <p:par>
        <p:cTn id="1" dur="indefinite" restart="always"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tgtEl>
                                    <p:spTgt spid="3"/>
                                  </p:tgtEl>
                                  <p:attrNameLst>
                                    <p:attrName>style.visibility</p:attrName>
                                  </p:attrNameLst>
                                </p:cBhvr>
                                <p:to>
                                  <p:strVal val="visible"/>
                                </p:to>
                              </p:set>
                              <p:animEffect transition="in" filter="fade">
                                <p:cBhvr>
                                  <p:cTn id="6" dur="500" fill="hold"/>
                                  <p:tgtEl>
                                    <p:spTgt spid="3"/>
                                  </p:tgtEl>
                                </p:cBhvr>
                              </p:animEffect>
                            </p:childTnLst>
                          </p:cTn>
                        </p:par>
                      </p:childTnLst>
                    </p:cTn>
                  </p:par>
                  <p:par>
                    <p:cTn id="7" fill="hold">
                      <p:stCondLst>
                        <p:cond delay="0"/>
                      </p:stCondLst>
                      <p:childTnLst>
                        <p:par>
                          <p:cTn id="8" fill="hold">
                            <p:stCondLst>
                              <p:cond delay="0"/>
                            </p:stCondLst>
                            <p:childTnLst>
                              <p:set>
                                <p:cBhvr>
                                  <p:cTn id="9" dur="1" fill="hold"/>
                                  <p:tgtEl>
                                    <p:spTgt spid="4"/>
                                  </p:tgtEl>
                                  <p:attrNameLst>
                                    <p:attrName>style.visibility</p:attrName>
                                  </p:attrNameLst>
                                </p:cBhvr>
                                <p:to>
                                  <p:strVal val="visible"/>
                                </p:to>
                              </p:set>
                              <p:animEffect transition="in" filter="fade">
                                <p:cBhvr>
                                  <p:cTn id="10" dur="500" fill="hold"/>
                                  <p:tgtEl>
                                    <p:spTgt spid="4"/>
                                  </p:tgtEl>
                                </p:cBhvr>
                              </p:animEffect>
                            </p:childTnLst>
                          </p:cTn>
                        </p:par>
                      </p:childTnLst>
                    </p:cTn>
                  </p:par>
                  <p:par>
                    <p:cTn id="11" fill="hold">
                      <p:stCondLst>
                        <p:cond delay="0"/>
                      </p:stCondLst>
                      <p:childTnLst>
                        <p:par>
                          <p:cTn id="12" fill="hold">
                            <p:stCondLst>
                              <p:cond delay="0"/>
                            </p:stCondLst>
                            <p:childTnLst>
                              <p:set>
                                <p:cBhvr>
                                  <p:cTn id="13" dur="1" fill="hold"/>
                                  <p:tgtEl>
                                    <p:spTgt spid="7"/>
                                  </p:tgtEl>
                                  <p:attrNameLst>
                                    <p:attrName>style.visibility</p:attrName>
                                  </p:attrNameLst>
                                </p:cBhvr>
                                <p:to>
                                  <p:strVal val="visible"/>
                                </p:to>
                              </p:set>
                              <p:animEffect transition="in" filter="fade">
                                <p:cBhvr>
                                  <p:cTn id="14" dur="500" fill="hold"/>
                                  <p:tgtEl>
                                    <p:spTgt spid="7"/>
                                  </p:tgtEl>
                                </p:cBhvr>
                              </p:animEffect>
                            </p:childTnLst>
                          </p:cTn>
                        </p:par>
                      </p:childTnLst>
                    </p:cTn>
                  </p:par>
                  <p:par>
                    <p:cTn id="15" fill="hold">
                      <p:stCondLst>
                        <p:cond delay="0"/>
                      </p:stCondLst>
                      <p:childTnLst>
                        <p:par>
                          <p:cTn id="16" fill="hold">
                            <p:stCondLst>
                              <p:cond delay="0"/>
                            </p:stCondLst>
                            <p:childTnLst>
                              <p:set>
                                <p:cBhvr>
                                  <p:cTn id="17" dur="1" fill="hold"/>
                                  <p:tgtEl>
                                    <p:spTgt spid="8"/>
                                  </p:tgtEl>
                                  <p:attrNameLst>
                                    <p:attrName>style.visibility</p:attrName>
                                  </p:attrNameLst>
                                </p:cBhvr>
                                <p:to>
                                  <p:strVal val="visible"/>
                                </p:to>
                              </p:set>
                              <p:animEffect transition="in" filter="fade">
                                <p:cBhvr>
                                  <p:cTn id="18" dur="500" fill="hold"/>
                                  <p:tgtEl>
                                    <p:spTgt spid="8"/>
                                  </p:tgtEl>
                                </p:cBhvr>
                              </p:animEffect>
                            </p:childTnLst>
                          </p:cTn>
                        </p:par>
                      </p:childTnLst>
                    </p:cTn>
                  </p:par>
                </p:childTnLst>
              </p:cTn>
              <p:prevCondLst>
                <p:cond evt="onPrev" delay="0">
                  <p:tgtEl>
                    <p:spTgt spid="0"/>
                  </p:tgtEl>
                </p:cond>
              </p:prevCondLst>
              <p:nextCondLst>
                <p:cond evt="onNext" delay="0">
                  <p:tgtEl>
                    <p:spTgt spid="0"/>
                  </p:tgtEl>
                </p:cond>
              </p:nextCondLst>
            </p:seq>
          </p:childTnLst>
        </p:cTn>
      </p:par>
    </p:tnLst>
    <p:bldLst>
      <p:bldSp spid="3" grpId="0" animBg="true"/>
      <p:bldSp spid="4" grpId="0" animBg="true"/>
      <p:bldSp spid="7" grpId="0" animBg="true"/>
      <p:bldSp spid="8" grpId="0" animBg="true"/>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47472"/>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FFFFF"/>
                </a:solidFill>
                <a:latin typeface="Arial"/>
              </a:rPr>
              <a:t>PART 4: FEATURE ENGINEERING | KOTA SAI MANI RUPESH</a:t>
            </a:r>
          </a:p>
        </p:txBody>
      </p:sp>
      <p:sp>
        <p:nvSpPr>
          <p:cNvPr id="4" name="TextBox 3"/>
          <p:cNvSpPr txBox="1"/>
          <p:nvPr/>
        </p:nvSpPr>
        <p:spPr>
          <a:xfrm>
            <a:off x="731520" y="749808"/>
            <a:ext cx="10698480" cy="868680"/>
          </a:xfrm>
          <a:prstGeom prst="rect">
            <a:avLst/>
          </a:prstGeom>
          <a:noFill/>
        </p:spPr>
        <p:txBody>
          <a:bodyPr wrap="square" lIns="0" tIns="0" rIns="0" bIns="0">
            <a:spAutoFit/>
          </a:bodyPr>
          <a:lstStyle/>
          <a:p>
            <a:r>
              <a:rPr sz="2200" b="1">
                <a:solidFill>
                  <a:srgbClr val="0F172A"/>
                </a:solidFill>
                <a:latin typeface="Arial"/>
              </a:rPr>
              <a:t>Outlier Diagnostics &amp; Feature Distributions (Cells 29–33)</a:t>
            </a:r>
          </a:p>
          <a:p>
            <a:r>
              <a:rPr sz="1300">
                <a:solidFill>
                  <a:srgbClr val="64748B"/>
                </a:solidFill>
                <a:latin typeface="Calibri"/>
              </a:rPr>
              <a:t>Applying IQR outlier rules and visualizing continuous feature density distributions</a:t>
            </a:r>
          </a:p>
        </p:txBody>
      </p:sp>
      <p:sp>
        <p:nvSpPr>
          <p:cNvPr id="5" name="Rectangle 4"/>
          <p:cNvSpPr/>
          <p:nvPr/>
        </p:nvSpPr>
        <p:spPr>
          <a:xfrm>
            <a:off x="731520" y="166420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728655" cy="274320"/>
          </a:xfrm>
          <a:prstGeom prst="rect">
            <a:avLst/>
          </a:prstGeom>
          <a:noFill/>
        </p:spPr>
        <p:txBody>
          <a:bodyPr wrap="none" lIns="0" tIns="0" rIns="0" bIns="0">
            <a:spAutoFit/>
          </a:bodyPr>
          <a:lstStyle/>
          <a:p>
            <a:r>
              <a:rPr sz="1000">
                <a:solidFill>
                  <a:srgbClr val="64748B"/>
                </a:solidFill>
                <a:latin typeface="Calibri"/>
              </a:rPr>
              <a:t>Foundations of Data Science (FDS) Course Project | Team 252U1R</a:t>
            </a:r>
            <a:r>
              <a:t>                                                                                               </a:t>
            </a:r>
            <a:r>
              <a:rPr sz="1000" b="1">
                <a:solidFill>
                  <a:srgbClr val="D97706"/>
                </a:solidFill>
                <a:latin typeface="Calibri"/>
              </a:rPr>
              <a:t>Slide 11 of 20</a:t>
            </a:r>
          </a:p>
        </p:txBody>
      </p:sp>
      <p:sp>
        <p:nvSpPr>
          <p:cNvPr id="7" name="Rounded Rectangle 6"/>
          <p:cNvSpPr/>
          <p:nvPr/>
        </p:nvSpPr>
        <p:spPr>
          <a:xfrm>
            <a:off x="731520" y="1874519"/>
            <a:ext cx="10728655" cy="1143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l"/>
            <a:r>
              <a:rPr sz="1200" b="1">
                <a:solidFill>
                  <a:srgbClr val="0F172A"/>
                </a:solidFill>
                <a:latin typeface="Arial"/>
              </a:rPr>
              <a:t>INTERQUARTILE RANGE (IQR) OUTLIER FORMULATION (CELLS 29–30):</a:t>
            </a:r>
          </a:p>
          <a:p>
            <a:pPr algn="l"/>
            <a:r>
              <a:rPr sz="1100" b="0">
                <a:solidFill>
                  <a:srgbClr val="334155"/>
                </a:solidFill>
                <a:latin typeface="Calibri"/>
              </a:rPr>
              <a:t>def iqr_bounds(series): q1, q3 = series.quantile(0.25), series.quantile(0.75); iqr = q3 - q1; return q1 - 1.5*iqr, q3 + 1.5*iqr
Applied to Wind Speed (km/h): low = -6.71 km/h, high = 26.65 km/h. Identified exactly </a:t>
            </a:r>
            <a:r>
              <a:rPr sz="1100" b="1">
                <a:solidFill>
                  <a:srgbClr val="D97706"/>
                </a:solidFill>
                <a:latin typeface="Calibri"/>
              </a:rPr>
              <a:t>2.93% outlier share (899 readings)</a:t>
            </a:r>
            <a:r>
              <a:rPr sz="1100" b="0">
                <a:solidFill>
                  <a:srgbClr val="334155"/>
                </a:solidFill>
                <a:latin typeface="Calibri"/>
              </a:rPr>
              <a:t>. These represent extreme convective storm gusts rather than sensor noise, retained for full predictive fidelity.</a:t>
            </a:r>
          </a:p>
        </p:txBody>
      </p:sp>
      <p:pic>
        <p:nvPicPr>
          <p:cNvPr id="8" name="Picture 7" descr="cell_31_out_0.png"/>
          <p:cNvPicPr>
            <a:picLocks noChangeAspect="1"/>
          </p:cNvPicPr>
          <p:nvPr/>
        </p:nvPicPr>
        <p:blipFill>
          <a:blip r:embed="rId2"/>
          <a:stretch>
            <a:fillRect/>
          </a:stretch>
        </p:blipFill>
        <p:spPr>
          <a:xfrm>
            <a:off x="731520" y="3154680"/>
            <a:ext cx="3383280" cy="2377440"/>
          </a:xfrm>
          <a:prstGeom prst="rect">
            <a:avLst/>
          </a:prstGeom>
        </p:spPr>
      </p:pic>
      <p:pic>
        <p:nvPicPr>
          <p:cNvPr id="9" name="Picture 8" descr="cell_32_out_0.png"/>
          <p:cNvPicPr>
            <a:picLocks noChangeAspect="1"/>
          </p:cNvPicPr>
          <p:nvPr/>
        </p:nvPicPr>
        <p:blipFill>
          <a:blip r:embed="rId3"/>
          <a:stretch>
            <a:fillRect/>
          </a:stretch>
        </p:blipFill>
        <p:spPr>
          <a:xfrm>
            <a:off x="4389120" y="3154680"/>
            <a:ext cx="3383280" cy="2377440"/>
          </a:xfrm>
          <a:prstGeom prst="rect">
            <a:avLst/>
          </a:prstGeom>
        </p:spPr>
      </p:pic>
      <p:pic>
        <p:nvPicPr>
          <p:cNvPr id="10" name="Picture 9" descr="cell_33_out_0.png"/>
          <p:cNvPicPr>
            <a:picLocks noChangeAspect="1"/>
          </p:cNvPicPr>
          <p:nvPr/>
        </p:nvPicPr>
        <p:blipFill>
          <a:blip r:embed="rId4"/>
          <a:stretch>
            <a:fillRect/>
          </a:stretch>
        </p:blipFill>
        <p:spPr>
          <a:xfrm>
            <a:off x="8046720" y="3154680"/>
            <a:ext cx="3383280" cy="2377440"/>
          </a:xfrm>
          <a:prstGeom prst="rect">
            <a:avLst/>
          </a:prstGeom>
        </p:spPr>
      </p:pic>
      <p:sp>
        <p:nvSpPr>
          <p:cNvPr id="11" name="TextBox 10"/>
          <p:cNvSpPr txBox="1"/>
          <p:nvPr/>
        </p:nvSpPr>
        <p:spPr>
          <a:xfrm>
            <a:off x="731520" y="5623560"/>
            <a:ext cx="3383280" cy="731520"/>
          </a:xfrm>
          <a:prstGeom prst="rect">
            <a:avLst/>
          </a:prstGeom>
          <a:noFill/>
        </p:spPr>
        <p:txBody>
          <a:bodyPr wrap="square">
            <a:spAutoFit/>
          </a:bodyPr>
          <a:lstStyle/>
          <a:p>
            <a:r>
              <a:rPr sz="1050"/>
              <a:t>Wind Speed Boxplot (Cell 31)
Highlights 2.9% positive outliers (storm gusts up to 63.8 km/h).</a:t>
            </a:r>
          </a:p>
        </p:txBody>
      </p:sp>
      <p:sp>
        <p:nvSpPr>
          <p:cNvPr id="12" name="TextBox 11"/>
          <p:cNvSpPr txBox="1"/>
          <p:nvPr/>
        </p:nvSpPr>
        <p:spPr>
          <a:xfrm>
            <a:off x="4389120" y="5623560"/>
            <a:ext cx="3383280" cy="731520"/>
          </a:xfrm>
          <a:prstGeom prst="rect">
            <a:avLst/>
          </a:prstGeom>
          <a:noFill/>
        </p:spPr>
        <p:txBody>
          <a:bodyPr wrap="square">
            <a:spAutoFit/>
          </a:bodyPr>
          <a:lstStyle/>
          <a:p>
            <a:r>
              <a:rPr sz="1050"/>
              <a:t>Temperature Histogram (Cell 32)
Smooth bimodal seasonal distribution centered at mean 11.7°C.</a:t>
            </a:r>
          </a:p>
        </p:txBody>
      </p:sp>
      <p:sp>
        <p:nvSpPr>
          <p:cNvPr id="13" name="TextBox 12"/>
          <p:cNvSpPr txBox="1"/>
          <p:nvPr/>
        </p:nvSpPr>
        <p:spPr>
          <a:xfrm>
            <a:off x="8046720" y="5623560"/>
            <a:ext cx="3383280" cy="731520"/>
          </a:xfrm>
          <a:prstGeom prst="rect">
            <a:avLst/>
          </a:prstGeom>
          <a:noFill/>
        </p:spPr>
        <p:txBody>
          <a:bodyPr wrap="square">
            <a:spAutoFit/>
          </a:bodyPr>
          <a:lstStyle/>
          <a:p>
            <a:r>
              <a:rPr sz="1050"/>
              <a:t>Humidity Histogram (Cell 33)
Marked left-skewness towards high saturation (peak at 0.80–0.95).</a:t>
            </a:r>
          </a:p>
        </p:txBody>
      </p:sp>
    </p:spTree>
  </p:cSld>
  <p:clrMapOvr>
    <a:masterClrMapping/>
  </p:clrMapOvr>
  <p:transition spd="med" advClick="1">
    <p:fade/>
  </p:transition>
  <p:timing>
    <p:tnLst>
      <p:par>
        <p:cTn id="1" dur="indefinite" restart="always"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tgtEl>
                                    <p:spTgt spid="3"/>
                                  </p:tgtEl>
                                  <p:attrNameLst>
                                    <p:attrName>style.visibility</p:attrName>
                                  </p:attrNameLst>
                                </p:cBhvr>
                                <p:to>
                                  <p:strVal val="visible"/>
                                </p:to>
                              </p:set>
                              <p:animEffect transition="in" filter="fade">
                                <p:cBhvr>
                                  <p:cTn id="6" dur="500" fill="hold"/>
                                  <p:tgtEl>
                                    <p:spTgt spid="3"/>
                                  </p:tgtEl>
                                </p:cBhvr>
                              </p:animEffect>
                            </p:childTnLst>
                          </p:cTn>
                        </p:par>
                      </p:childTnLst>
                    </p:cTn>
                  </p:par>
                  <p:par>
                    <p:cTn id="7" fill="hold">
                      <p:stCondLst>
                        <p:cond delay="0"/>
                      </p:stCondLst>
                      <p:childTnLst>
                        <p:par>
                          <p:cTn id="8" fill="hold">
                            <p:stCondLst>
                              <p:cond delay="0"/>
                            </p:stCondLst>
                            <p:childTnLst>
                              <p:set>
                                <p:cBhvr>
                                  <p:cTn id="9" dur="1" fill="hold"/>
                                  <p:tgtEl>
                                    <p:spTgt spid="4"/>
                                  </p:tgtEl>
                                  <p:attrNameLst>
                                    <p:attrName>style.visibility</p:attrName>
                                  </p:attrNameLst>
                                </p:cBhvr>
                                <p:to>
                                  <p:strVal val="visible"/>
                                </p:to>
                              </p:set>
                              <p:animEffect transition="in" filter="fade">
                                <p:cBhvr>
                                  <p:cTn id="10" dur="500" fill="hold"/>
                                  <p:tgtEl>
                                    <p:spTgt spid="4"/>
                                  </p:tgtEl>
                                </p:cBhvr>
                              </p:animEffect>
                            </p:childTnLst>
                          </p:cTn>
                        </p:par>
                      </p:childTnLst>
                    </p:cTn>
                  </p:par>
                  <p:par>
                    <p:cTn id="11" fill="hold">
                      <p:stCondLst>
                        <p:cond delay="0"/>
                      </p:stCondLst>
                      <p:childTnLst>
                        <p:par>
                          <p:cTn id="12" fill="hold">
                            <p:stCondLst>
                              <p:cond delay="0"/>
                            </p:stCondLst>
                            <p:childTnLst>
                              <p:set>
                                <p:cBhvr>
                                  <p:cTn id="13" dur="1" fill="hold"/>
                                  <p:tgtEl>
                                    <p:spTgt spid="7"/>
                                  </p:tgtEl>
                                  <p:attrNameLst>
                                    <p:attrName>style.visibility</p:attrName>
                                  </p:attrNameLst>
                                </p:cBhvr>
                                <p:to>
                                  <p:strVal val="visible"/>
                                </p:to>
                              </p:set>
                              <p:animEffect transition="in" filter="fade">
                                <p:cBhvr>
                                  <p:cTn id="14" dur="500" fill="hold"/>
                                  <p:tgtEl>
                                    <p:spTgt spid="7"/>
                                  </p:tgtEl>
                                </p:cBhvr>
                              </p:animEffect>
                            </p:childTnLst>
                          </p:cTn>
                        </p:par>
                      </p:childTnLst>
                    </p:cTn>
                  </p:par>
                  <p:par>
                    <p:cTn id="15" fill="hold">
                      <p:stCondLst>
                        <p:cond delay="0"/>
                      </p:stCondLst>
                      <p:childTnLst>
                        <p:par>
                          <p:cTn id="16" fill="hold">
                            <p:stCondLst>
                              <p:cond delay="0"/>
                            </p:stCondLst>
                            <p:childTnLst>
                              <p:set>
                                <p:cBhvr>
                                  <p:cTn id="17" dur="1" fill="hold"/>
                                  <p:tgtEl>
                                    <p:spTgt spid="8"/>
                                  </p:tgtEl>
                                  <p:attrNameLst>
                                    <p:attrName>style.visibility</p:attrName>
                                  </p:attrNameLst>
                                </p:cBhvr>
                                <p:to>
                                  <p:strVal val="visible"/>
                                </p:to>
                              </p:set>
                              <p:animEffect transition="in" filter="fade">
                                <p:cBhvr>
                                  <p:cTn id="18" dur="500" fill="hold"/>
                                  <p:tgtEl>
                                    <p:spTgt spid="8"/>
                                  </p:tgtEl>
                                </p:cBhvr>
                              </p:animEffect>
                            </p:childTnLst>
                          </p:cTn>
                        </p:par>
                      </p:childTnLst>
                    </p:cTn>
                  </p:par>
                  <p:par>
                    <p:cTn id="19" fill="hold">
                      <p:stCondLst>
                        <p:cond delay="0"/>
                      </p:stCondLst>
                      <p:childTnLst>
                        <p:par>
                          <p:cTn id="20" fill="hold">
                            <p:stCondLst>
                              <p:cond delay="0"/>
                            </p:stCondLst>
                            <p:childTnLst>
                              <p:set>
                                <p:cBhvr>
                                  <p:cTn id="21" dur="1" fill="hold"/>
                                  <p:tgtEl>
                                    <p:spTgt spid="9"/>
                                  </p:tgtEl>
                                  <p:attrNameLst>
                                    <p:attrName>style.visibility</p:attrName>
                                  </p:attrNameLst>
                                </p:cBhvr>
                                <p:to>
                                  <p:strVal val="visible"/>
                                </p:to>
                              </p:set>
                              <p:animEffect transition="in" filter="fade">
                                <p:cBhvr>
                                  <p:cTn id="22" dur="500" fill="hold"/>
                                  <p:tgtEl>
                                    <p:spTgt spid="9"/>
                                  </p:tgtEl>
                                </p:cBhvr>
                              </p:animEffect>
                            </p:childTnLst>
                          </p:cTn>
                        </p:par>
                      </p:childTnLst>
                    </p:cTn>
                  </p:par>
                  <p:par>
                    <p:cTn id="23" fill="hold">
                      <p:stCondLst>
                        <p:cond delay="0"/>
                      </p:stCondLst>
                      <p:childTnLst>
                        <p:par>
                          <p:cTn id="24" fill="hold">
                            <p:stCondLst>
                              <p:cond delay="0"/>
                            </p:stCondLst>
                            <p:childTnLst>
                              <p:set>
                                <p:cBhvr>
                                  <p:cTn id="25" dur="1" fill="hold"/>
                                  <p:tgtEl>
                                    <p:spTgt spid="10"/>
                                  </p:tgtEl>
                                  <p:attrNameLst>
                                    <p:attrName>style.visibility</p:attrName>
                                  </p:attrNameLst>
                                </p:cBhvr>
                                <p:to>
                                  <p:strVal val="visible"/>
                                </p:to>
                              </p:set>
                              <p:animEffect transition="in" filter="fade">
                                <p:cBhvr>
                                  <p:cTn id="26" dur="500" fill="hold"/>
                                  <p:tgtEl>
                                    <p:spTgt spid="10"/>
                                  </p:tgtEl>
                                </p:cBhvr>
                              </p:animEffect>
                            </p:childTnLst>
                          </p:cTn>
                        </p:par>
                      </p:childTnLst>
                    </p:cTn>
                  </p:par>
                </p:childTnLst>
              </p:cTn>
              <p:prevCondLst>
                <p:cond evt="onPrev" delay="0">
                  <p:tgtEl>
                    <p:spTgt spid="0"/>
                  </p:tgtEl>
                </p:cond>
              </p:prevCondLst>
              <p:nextCondLst>
                <p:cond evt="onNext" delay="0">
                  <p:tgtEl>
                    <p:spTgt spid="0"/>
                  </p:tgtEl>
                </p:cond>
              </p:nextCondLst>
            </p:seq>
          </p:childTnLst>
        </p:cTn>
      </p:par>
    </p:tnLst>
    <p:bldLst>
      <p:bldSp spid="3" grpId="0" animBg="true"/>
      <p:bldSp spid="4" grpId="0" animBg="true"/>
      <p:bldSp spid="7" grpId="0" animBg="true"/>
      <p:bldSp spid="8" grpId="0" animBg="true"/>
      <p:bldSp spid="9" grpId="0" animBg="true"/>
      <p:bldSp spid="10" grpId="0" animBg="true"/>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47472"/>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FFFFF"/>
                </a:solidFill>
                <a:latin typeface="Arial"/>
              </a:rPr>
              <a:t>PART 5: PREDICTIVE ANALYTICS | MANCHIKANTI MOUNEESH KUMAR</a:t>
            </a:r>
          </a:p>
        </p:txBody>
      </p:sp>
      <p:sp>
        <p:nvSpPr>
          <p:cNvPr id="4" name="TextBox 3"/>
          <p:cNvSpPr txBox="1"/>
          <p:nvPr/>
        </p:nvSpPr>
        <p:spPr>
          <a:xfrm>
            <a:off x="731520" y="749808"/>
            <a:ext cx="10698480" cy="868680"/>
          </a:xfrm>
          <a:prstGeom prst="rect">
            <a:avLst/>
          </a:prstGeom>
          <a:noFill/>
        </p:spPr>
        <p:txBody>
          <a:bodyPr wrap="square" lIns="0" tIns="0" rIns="0" bIns="0">
            <a:spAutoFit/>
          </a:bodyPr>
          <a:lstStyle/>
          <a:p>
            <a:r>
              <a:rPr sz="2200" b="1">
                <a:solidFill>
                  <a:srgbClr val="0F172A"/>
                </a:solidFill>
                <a:latin typeface="Arial"/>
              </a:rPr>
              <a:t>Covariance Matrix &amp; Annual Seasonality (Cells 34–40)</a:t>
            </a:r>
          </a:p>
          <a:p>
            <a:r>
              <a:rPr sz="1300">
                <a:solidFill>
                  <a:srgbClr val="64748B"/>
                </a:solidFill>
                <a:latin typeface="Calibri"/>
              </a:rPr>
              <a:t>Pairwise correlations across 7 numeric columns and longitudinal temperature trends</a:t>
            </a:r>
          </a:p>
        </p:txBody>
      </p:sp>
      <p:sp>
        <p:nvSpPr>
          <p:cNvPr id="5" name="Rectangle 4"/>
          <p:cNvSpPr/>
          <p:nvPr/>
        </p:nvSpPr>
        <p:spPr>
          <a:xfrm>
            <a:off x="731520" y="166420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728655" cy="274320"/>
          </a:xfrm>
          <a:prstGeom prst="rect">
            <a:avLst/>
          </a:prstGeom>
          <a:noFill/>
        </p:spPr>
        <p:txBody>
          <a:bodyPr wrap="none" lIns="0" tIns="0" rIns="0" bIns="0">
            <a:spAutoFit/>
          </a:bodyPr>
          <a:lstStyle/>
          <a:p>
            <a:r>
              <a:rPr sz="1000">
                <a:solidFill>
                  <a:srgbClr val="64748B"/>
                </a:solidFill>
                <a:latin typeface="Calibri"/>
              </a:rPr>
              <a:t>Foundations of Data Science (FDS) Course Project | Team 252U1R</a:t>
            </a:r>
            <a:r>
              <a:t>                                                                                               </a:t>
            </a:r>
            <a:r>
              <a:rPr sz="1000" b="1">
                <a:solidFill>
                  <a:srgbClr val="E11D48"/>
                </a:solidFill>
                <a:latin typeface="Calibri"/>
              </a:rPr>
              <a:t>Slide 12 of 20</a:t>
            </a:r>
          </a:p>
        </p:txBody>
      </p:sp>
      <p:pic>
        <p:nvPicPr>
          <p:cNvPr id="7" name="Picture 6" descr="cell_35_out_0.png"/>
          <p:cNvPicPr>
            <a:picLocks noChangeAspect="1"/>
          </p:cNvPicPr>
          <p:nvPr/>
        </p:nvPicPr>
        <p:blipFill>
          <a:blip r:embed="rId2"/>
          <a:stretch>
            <a:fillRect/>
          </a:stretch>
        </p:blipFill>
        <p:spPr>
          <a:xfrm>
            <a:off x="731520" y="1920240"/>
            <a:ext cx="4114800" cy="3200400"/>
          </a:xfrm>
          <a:prstGeom prst="rect">
            <a:avLst/>
          </a:prstGeom>
        </p:spPr>
      </p:pic>
      <p:pic>
        <p:nvPicPr>
          <p:cNvPr id="8" name="Picture 7" descr="cell_37_out_0.png"/>
          <p:cNvPicPr>
            <a:picLocks noChangeAspect="1"/>
          </p:cNvPicPr>
          <p:nvPr/>
        </p:nvPicPr>
        <p:blipFill>
          <a:blip r:embed="rId3"/>
          <a:stretch>
            <a:fillRect/>
          </a:stretch>
        </p:blipFill>
        <p:spPr>
          <a:xfrm>
            <a:off x="5120640" y="1920240"/>
            <a:ext cx="4114800" cy="3200400"/>
          </a:xfrm>
          <a:prstGeom prst="rect">
            <a:avLst/>
          </a:prstGeom>
        </p:spPr>
      </p:pic>
      <p:sp>
        <p:nvSpPr>
          <p:cNvPr id="9" name="Rounded Rectangle 8"/>
          <p:cNvSpPr/>
          <p:nvPr/>
        </p:nvSpPr>
        <p:spPr>
          <a:xfrm>
            <a:off x="9418320" y="1920240"/>
            <a:ext cx="2041855" cy="43891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l"/>
            <a:r>
              <a:rPr sz="1200" b="1">
                <a:solidFill>
                  <a:srgbClr val="E11D48"/>
                </a:solidFill>
                <a:latin typeface="Arial"/>
              </a:rPr>
              <a:t>KEY FINDINGS</a:t>
            </a:r>
          </a:p>
          <a:p>
            <a:pPr algn="l"/>
            <a:r>
              <a:rPr sz="600" b="0">
                <a:latin typeface="Calibri"/>
              </a:rPr>
              <a:t/>
            </a:r>
          </a:p>
          <a:p>
            <a:pPr algn="l"/>
            <a:r>
              <a:rPr sz="1100" b="1">
                <a:solidFill>
                  <a:srgbClr val="0F172A"/>
                </a:solidFill>
                <a:latin typeface="Calibri"/>
              </a:rPr>
              <a:t>• Temp &amp; Apparent:</a:t>
            </a:r>
          </a:p>
          <a:p>
            <a:pPr algn="l"/>
            <a:r>
              <a:rPr sz="1050" b="0">
                <a:solidFill>
                  <a:srgbClr val="334155"/>
                </a:solidFill>
                <a:latin typeface="Calibri"/>
              </a:rPr>
              <a:t>r = +0.992 collinear alignment.
</a:t>
            </a:r>
          </a:p>
          <a:p>
            <a:pPr algn="l"/>
            <a:r>
              <a:rPr sz="1100" b="1">
                <a:solidFill>
                  <a:srgbClr val="0F172A"/>
                </a:solidFill>
                <a:latin typeface="Calibri"/>
              </a:rPr>
              <a:t>• Temp &amp; Humidity:</a:t>
            </a:r>
          </a:p>
          <a:p>
            <a:pPr algn="l"/>
            <a:r>
              <a:rPr sz="1050" b="0">
                <a:solidFill>
                  <a:srgbClr val="334155"/>
                </a:solidFill>
                <a:latin typeface="Calibri"/>
              </a:rPr>
              <a:t>r = -0.663 strong inverse coupling.
</a:t>
            </a:r>
          </a:p>
          <a:p>
            <a:pPr algn="l"/>
            <a:r>
              <a:rPr sz="1100" b="1">
                <a:solidFill>
                  <a:srgbClr val="0F172A"/>
                </a:solidFill>
                <a:latin typeface="Calibri"/>
              </a:rPr>
              <a:t>• Monthly Curve:</a:t>
            </a:r>
          </a:p>
          <a:p>
            <a:pPr algn="l"/>
            <a:r>
              <a:rPr sz="1050" b="0">
                <a:solidFill>
                  <a:srgbClr val="334155"/>
                </a:solidFill>
                <a:latin typeface="Calibri"/>
              </a:rPr>
              <a:t>Nadir in Jan (0.7°C), Peak in July (23.1°C).
</a:t>
            </a:r>
          </a:p>
          <a:p>
            <a:pPr algn="l"/>
            <a:r>
              <a:rPr sz="1100" b="1">
                <a:solidFill>
                  <a:srgbClr val="0F172A"/>
                </a:solidFill>
                <a:latin typeface="Calibri"/>
              </a:rPr>
              <a:t>• Seasonality:</a:t>
            </a:r>
          </a:p>
          <a:p>
            <a:pPr algn="l"/>
            <a:r>
              <a:rPr sz="1050" b="0">
                <a:solidFill>
                  <a:srgbClr val="334155"/>
                </a:solidFill>
                <a:latin typeface="Calibri"/>
              </a:rPr>
              <a:t>Spring heating (+10.1°C), Autumn cooling.</a:t>
            </a:r>
          </a:p>
        </p:txBody>
      </p:sp>
      <p:sp>
        <p:nvSpPr>
          <p:cNvPr id="10" name="Rounded Rectangle 9"/>
          <p:cNvSpPr/>
          <p:nvPr/>
        </p:nvSpPr>
        <p:spPr>
          <a:xfrm>
            <a:off x="731520" y="5303520"/>
            <a:ext cx="8503920" cy="10058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l"/>
            <a:r>
              <a:rPr sz="1100" b="1">
                <a:solidFill>
                  <a:srgbClr val="0F172A"/>
                </a:solidFill>
                <a:latin typeface="Arial"/>
              </a:rPr>
              <a:t>CORRELATION MATRIX &amp; SEASONALITY TAKEAWAY:</a:t>
            </a:r>
          </a:p>
          <a:p>
            <a:pPr algn="l"/>
            <a:r>
              <a:rPr sz="1100" b="0">
                <a:solidFill>
                  <a:srgbClr val="334155"/>
                </a:solidFill>
                <a:latin typeface="Calibri"/>
              </a:rPr>
              <a:t>Cells 34–40 demonstrate that temperature and apparent temperature form the primary collinear axis, while relative humidity and wind speed provide orthogonal variance necessary for regression models.</a:t>
            </a:r>
          </a:p>
        </p:txBody>
      </p:sp>
    </p:spTree>
  </p:cSld>
  <p:clrMapOvr>
    <a:masterClrMapping/>
  </p:clrMapOvr>
  <p:transition spd="med" advClick="1">
    <p:fade/>
  </p:transition>
  <p:timing>
    <p:tnLst>
      <p:par>
        <p:cTn id="1" dur="indefinite" restart="always"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tgtEl>
                                    <p:spTgt spid="3"/>
                                  </p:tgtEl>
                                  <p:attrNameLst>
                                    <p:attrName>style.visibility</p:attrName>
                                  </p:attrNameLst>
                                </p:cBhvr>
                                <p:to>
                                  <p:strVal val="visible"/>
                                </p:to>
                              </p:set>
                              <p:animEffect transition="in" filter="fade">
                                <p:cBhvr>
                                  <p:cTn id="6" dur="500" fill="hold"/>
                                  <p:tgtEl>
                                    <p:spTgt spid="3"/>
                                  </p:tgtEl>
                                </p:cBhvr>
                              </p:animEffect>
                            </p:childTnLst>
                          </p:cTn>
                        </p:par>
                      </p:childTnLst>
                    </p:cTn>
                  </p:par>
                  <p:par>
                    <p:cTn id="7" fill="hold">
                      <p:stCondLst>
                        <p:cond delay="0"/>
                      </p:stCondLst>
                      <p:childTnLst>
                        <p:par>
                          <p:cTn id="8" fill="hold">
                            <p:stCondLst>
                              <p:cond delay="0"/>
                            </p:stCondLst>
                            <p:childTnLst>
                              <p:set>
                                <p:cBhvr>
                                  <p:cTn id="9" dur="1" fill="hold"/>
                                  <p:tgtEl>
                                    <p:spTgt spid="4"/>
                                  </p:tgtEl>
                                  <p:attrNameLst>
                                    <p:attrName>style.visibility</p:attrName>
                                  </p:attrNameLst>
                                </p:cBhvr>
                                <p:to>
                                  <p:strVal val="visible"/>
                                </p:to>
                              </p:set>
                              <p:animEffect transition="in" filter="fade">
                                <p:cBhvr>
                                  <p:cTn id="10" dur="500" fill="hold"/>
                                  <p:tgtEl>
                                    <p:spTgt spid="4"/>
                                  </p:tgtEl>
                                </p:cBhvr>
                              </p:animEffect>
                            </p:childTnLst>
                          </p:cTn>
                        </p:par>
                      </p:childTnLst>
                    </p:cTn>
                  </p:par>
                  <p:par>
                    <p:cTn id="11" fill="hold">
                      <p:stCondLst>
                        <p:cond delay="0"/>
                      </p:stCondLst>
                      <p:childTnLst>
                        <p:par>
                          <p:cTn id="12" fill="hold">
                            <p:stCondLst>
                              <p:cond delay="0"/>
                            </p:stCondLst>
                            <p:childTnLst>
                              <p:set>
                                <p:cBhvr>
                                  <p:cTn id="13" dur="1" fill="hold"/>
                                  <p:tgtEl>
                                    <p:spTgt spid="7"/>
                                  </p:tgtEl>
                                  <p:attrNameLst>
                                    <p:attrName>style.visibility</p:attrName>
                                  </p:attrNameLst>
                                </p:cBhvr>
                                <p:to>
                                  <p:strVal val="visible"/>
                                </p:to>
                              </p:set>
                              <p:animEffect transition="in" filter="fade">
                                <p:cBhvr>
                                  <p:cTn id="14" dur="500" fill="hold"/>
                                  <p:tgtEl>
                                    <p:spTgt spid="7"/>
                                  </p:tgtEl>
                                </p:cBhvr>
                              </p:animEffect>
                            </p:childTnLst>
                          </p:cTn>
                        </p:par>
                      </p:childTnLst>
                    </p:cTn>
                  </p:par>
                  <p:par>
                    <p:cTn id="15" fill="hold">
                      <p:stCondLst>
                        <p:cond delay="0"/>
                      </p:stCondLst>
                      <p:childTnLst>
                        <p:par>
                          <p:cTn id="16" fill="hold">
                            <p:stCondLst>
                              <p:cond delay="0"/>
                            </p:stCondLst>
                            <p:childTnLst>
                              <p:set>
                                <p:cBhvr>
                                  <p:cTn id="17" dur="1" fill="hold"/>
                                  <p:tgtEl>
                                    <p:spTgt spid="8"/>
                                  </p:tgtEl>
                                  <p:attrNameLst>
                                    <p:attrName>style.visibility</p:attrName>
                                  </p:attrNameLst>
                                </p:cBhvr>
                                <p:to>
                                  <p:strVal val="visible"/>
                                </p:to>
                              </p:set>
                              <p:animEffect transition="in" filter="fade">
                                <p:cBhvr>
                                  <p:cTn id="18" dur="500" fill="hold"/>
                                  <p:tgtEl>
                                    <p:spTgt spid="8"/>
                                  </p:tgtEl>
                                </p:cBhvr>
                              </p:animEffect>
                            </p:childTnLst>
                          </p:cTn>
                        </p:par>
                      </p:childTnLst>
                    </p:cTn>
                  </p:par>
                  <p:par>
                    <p:cTn id="19" fill="hold">
                      <p:stCondLst>
                        <p:cond delay="0"/>
                      </p:stCondLst>
                      <p:childTnLst>
                        <p:par>
                          <p:cTn id="20" fill="hold">
                            <p:stCondLst>
                              <p:cond delay="0"/>
                            </p:stCondLst>
                            <p:childTnLst>
                              <p:set>
                                <p:cBhvr>
                                  <p:cTn id="21" dur="1" fill="hold"/>
                                  <p:tgtEl>
                                    <p:spTgt spid="9"/>
                                  </p:tgtEl>
                                  <p:attrNameLst>
                                    <p:attrName>style.visibility</p:attrName>
                                  </p:attrNameLst>
                                </p:cBhvr>
                                <p:to>
                                  <p:strVal val="visible"/>
                                </p:to>
                              </p:set>
                              <p:animEffect transition="in" filter="fade">
                                <p:cBhvr>
                                  <p:cTn id="22" dur="500" fill="hold"/>
                                  <p:tgtEl>
                                    <p:spTgt spid="9"/>
                                  </p:tgtEl>
                                </p:cBhvr>
                              </p:animEffect>
                            </p:childTnLst>
                          </p:cTn>
                        </p:par>
                      </p:childTnLst>
                    </p:cTn>
                  </p:par>
                  <p:par>
                    <p:cTn id="23" fill="hold">
                      <p:stCondLst>
                        <p:cond delay="0"/>
                      </p:stCondLst>
                      <p:childTnLst>
                        <p:par>
                          <p:cTn id="24" fill="hold">
                            <p:stCondLst>
                              <p:cond delay="0"/>
                            </p:stCondLst>
                            <p:childTnLst>
                              <p:set>
                                <p:cBhvr>
                                  <p:cTn id="25" dur="1" fill="hold"/>
                                  <p:tgtEl>
                                    <p:spTgt spid="10"/>
                                  </p:tgtEl>
                                  <p:attrNameLst>
                                    <p:attrName>style.visibility</p:attrName>
                                  </p:attrNameLst>
                                </p:cBhvr>
                                <p:to>
                                  <p:strVal val="visible"/>
                                </p:to>
                              </p:set>
                              <p:animEffect transition="in" filter="fade">
                                <p:cBhvr>
                                  <p:cTn id="26" dur="500" fill="hold"/>
                                  <p:tgtEl>
                                    <p:spTgt spid="10"/>
                                  </p:tgtEl>
                                </p:cBhvr>
                              </p:animEffect>
                            </p:childTnLst>
                          </p:cTn>
                        </p:par>
                      </p:childTnLst>
                    </p:cTn>
                  </p:par>
                </p:childTnLst>
              </p:cTn>
              <p:prevCondLst>
                <p:cond evt="onPrev" delay="0">
                  <p:tgtEl>
                    <p:spTgt spid="0"/>
                  </p:tgtEl>
                </p:cond>
              </p:prevCondLst>
              <p:nextCondLst>
                <p:cond evt="onNext" delay="0">
                  <p:tgtEl>
                    <p:spTgt spid="0"/>
                  </p:tgtEl>
                </p:cond>
              </p:nextCondLst>
            </p:seq>
          </p:childTnLst>
        </p:cTn>
      </p:par>
    </p:tnLst>
    <p:bldLst>
      <p:bldSp spid="3" grpId="0" animBg="true"/>
      <p:bldSp spid="4" grpId="0" animBg="true"/>
      <p:bldSp spid="7" grpId="0" animBg="true"/>
      <p:bldSp spid="8" grpId="0" animBg="true"/>
      <p:bldSp spid="9" grpId="0" animBg="true"/>
      <p:bldSp spid="10" grpId="0" animBg="true"/>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47472"/>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FFFFF"/>
                </a:solidFill>
                <a:latin typeface="Arial"/>
              </a:rPr>
              <a:t>PART 5: PREDICTIVE ANALYTICS | MANCHIKANTI MOUNEESH KUMAR</a:t>
            </a:r>
          </a:p>
        </p:txBody>
      </p:sp>
      <p:sp>
        <p:nvSpPr>
          <p:cNvPr id="4" name="TextBox 3"/>
          <p:cNvSpPr txBox="1"/>
          <p:nvPr/>
        </p:nvSpPr>
        <p:spPr>
          <a:xfrm>
            <a:off x="731520" y="749808"/>
            <a:ext cx="10698480" cy="868680"/>
          </a:xfrm>
          <a:prstGeom prst="rect">
            <a:avLst/>
          </a:prstGeom>
          <a:noFill/>
        </p:spPr>
        <p:txBody>
          <a:bodyPr wrap="square" lIns="0" tIns="0" rIns="0" bIns="0">
            <a:spAutoFit/>
          </a:bodyPr>
          <a:lstStyle/>
          <a:p>
            <a:r>
              <a:rPr sz="2200" b="1">
                <a:solidFill>
                  <a:srgbClr val="0F172A"/>
                </a:solidFill>
                <a:latin typeface="Arial"/>
              </a:rPr>
              <a:t>Parametric Hypothesis Testing Framework (Cells 41–43)</a:t>
            </a:r>
          </a:p>
          <a:p>
            <a:r>
              <a:rPr sz="1300">
                <a:solidFill>
                  <a:srgbClr val="64748B"/>
                </a:solidFill>
                <a:latin typeface="Calibri"/>
              </a:rPr>
              <a:t>Formal statistical validation of thermal coupling, seasonal humidity, and kinetic energy</a:t>
            </a:r>
          </a:p>
        </p:txBody>
      </p:sp>
      <p:sp>
        <p:nvSpPr>
          <p:cNvPr id="5" name="Rectangle 4"/>
          <p:cNvSpPr/>
          <p:nvPr/>
        </p:nvSpPr>
        <p:spPr>
          <a:xfrm>
            <a:off x="731520" y="166420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728655" cy="274320"/>
          </a:xfrm>
          <a:prstGeom prst="rect">
            <a:avLst/>
          </a:prstGeom>
          <a:noFill/>
        </p:spPr>
        <p:txBody>
          <a:bodyPr wrap="none" lIns="0" tIns="0" rIns="0" bIns="0">
            <a:spAutoFit/>
          </a:bodyPr>
          <a:lstStyle/>
          <a:p>
            <a:r>
              <a:rPr sz="1000">
                <a:solidFill>
                  <a:srgbClr val="64748B"/>
                </a:solidFill>
                <a:latin typeface="Calibri"/>
              </a:rPr>
              <a:t>Foundations of Data Science (FDS) Course Project | Team 252U1R</a:t>
            </a:r>
            <a:r>
              <a:t>                                                                                               </a:t>
            </a:r>
            <a:r>
              <a:rPr sz="1000" b="1">
                <a:solidFill>
                  <a:srgbClr val="E11D48"/>
                </a:solidFill>
                <a:latin typeface="Calibri"/>
              </a:rPr>
              <a:t>Slide 13 of 20</a:t>
            </a:r>
          </a:p>
        </p:txBody>
      </p:sp>
      <p:sp>
        <p:nvSpPr>
          <p:cNvPr id="7" name="Rounded Rectangle 6"/>
          <p:cNvSpPr/>
          <p:nvPr/>
        </p:nvSpPr>
        <p:spPr>
          <a:xfrm>
            <a:off x="731520" y="1920240"/>
            <a:ext cx="3429000" cy="43891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l"/>
            <a:r>
              <a:rPr sz="1200" b="1">
                <a:solidFill>
                  <a:srgbClr val="E11D48"/>
                </a:solidFill>
                <a:latin typeface="Arial"/>
              </a:rPr>
              <a:t>TEST 1: PEARSON CORRELATION</a:t>
            </a:r>
          </a:p>
          <a:p>
            <a:pPr algn="l"/>
            <a:r>
              <a:rPr sz="1100" b="0">
                <a:solidFill>
                  <a:srgbClr val="64748B"/>
                </a:solidFill>
                <a:latin typeface="Calibri"/>
              </a:rPr>
              <a:t>Temperature vs. Humidity (Cell 41)</a:t>
            </a:r>
          </a:p>
          <a:p>
            <a:pPr algn="l"/>
            <a:r>
              <a:rPr sz="600" b="0">
                <a:latin typeface="Calibri"/>
              </a:rPr>
              <a:t/>
            </a:r>
          </a:p>
          <a:p>
            <a:pPr algn="l"/>
            <a:r>
              <a:rPr sz="1150" b="1">
                <a:solidFill>
                  <a:srgbClr val="0F172A"/>
                </a:solidFill>
                <a:latin typeface="Calibri"/>
              </a:rPr>
              <a:t>Null Hypothesis (H0):</a:t>
            </a:r>
          </a:p>
          <a:p>
            <a:pPr algn="l"/>
            <a:r>
              <a:rPr sz="1100" b="0">
                <a:solidFill>
                  <a:srgbClr val="334155"/>
                </a:solidFill>
                <a:latin typeface="Calibri"/>
              </a:rPr>
              <a:t>True linear correlation between ambient temperature and humidity is zero (ρ = 0).
</a:t>
            </a:r>
          </a:p>
          <a:p>
            <a:pPr algn="l"/>
            <a:r>
              <a:rPr sz="1150" b="1">
                <a:solidFill>
                  <a:srgbClr val="0F172A"/>
                </a:solidFill>
                <a:latin typeface="Calibri"/>
              </a:rPr>
              <a:t>Statistical Output:</a:t>
            </a:r>
          </a:p>
          <a:p>
            <a:pPr algn="l"/>
            <a:r>
              <a:rPr sz="1200" b="1">
                <a:solidFill>
                  <a:srgbClr val="E11D48"/>
                </a:solidFill>
                <a:latin typeface="Consolas"/>
              </a:rPr>
              <a:t>r = -0.66347
p-value = 0.0 (p &lt; 1e-15)
</a:t>
            </a:r>
          </a:p>
          <a:p>
            <a:pPr algn="l"/>
            <a:r>
              <a:rPr sz="1150" b="1">
                <a:solidFill>
                  <a:srgbClr val="0F172A"/>
                </a:solidFill>
                <a:latin typeface="Calibri"/>
              </a:rPr>
              <a:t>Scientific Interpretation:</a:t>
            </a:r>
          </a:p>
          <a:p>
            <a:pPr algn="l"/>
            <a:r>
              <a:rPr sz="1100" b="0">
                <a:solidFill>
                  <a:srgbClr val="334155"/>
                </a:solidFill>
                <a:latin typeface="Calibri"/>
              </a:rPr>
              <a:t>Statistically decisive rejection of H0. Warmer air holds significantly more vapor without saturating, confirming "hotter means drier" relative humidity coupling.</a:t>
            </a:r>
          </a:p>
        </p:txBody>
      </p:sp>
      <p:sp>
        <p:nvSpPr>
          <p:cNvPr id="8" name="Rounded Rectangle 7"/>
          <p:cNvSpPr/>
          <p:nvPr/>
        </p:nvSpPr>
        <p:spPr>
          <a:xfrm>
            <a:off x="4389120" y="1920240"/>
            <a:ext cx="3429000" cy="43891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l"/>
            <a:r>
              <a:rPr sz="1200" b="1">
                <a:solidFill>
                  <a:srgbClr val="E11D48"/>
                </a:solidFill>
                <a:latin typeface="Arial"/>
              </a:rPr>
              <a:t>TEST 2: WELCH'S T-TEST</a:t>
            </a:r>
          </a:p>
          <a:p>
            <a:pPr algn="l"/>
            <a:r>
              <a:rPr sz="1100" b="0">
                <a:solidFill>
                  <a:srgbClr val="64748B"/>
                </a:solidFill>
                <a:latin typeface="Calibri"/>
              </a:rPr>
              <a:t>Summer vs. Winter Humidity (Cell 42)</a:t>
            </a:r>
          </a:p>
          <a:p>
            <a:pPr algn="l"/>
            <a:r>
              <a:rPr sz="600" b="0">
                <a:latin typeface="Calibri"/>
              </a:rPr>
              <a:t/>
            </a:r>
          </a:p>
          <a:p>
            <a:pPr algn="l"/>
            <a:r>
              <a:rPr sz="1150" b="1">
                <a:solidFill>
                  <a:srgbClr val="0F172A"/>
                </a:solidFill>
                <a:latin typeface="Calibri"/>
              </a:rPr>
              <a:t>Null Hypothesis (H0):</a:t>
            </a:r>
          </a:p>
          <a:p>
            <a:pPr algn="l"/>
            <a:r>
              <a:rPr sz="1100" b="0">
                <a:solidFill>
                  <a:srgbClr val="334155"/>
                </a:solidFill>
                <a:latin typeface="Calibri"/>
              </a:rPr>
              <a:t>Mean humidity in summer equals mean humidity in winter (μ_summer = μ_winter).
</a:t>
            </a:r>
          </a:p>
          <a:p>
            <a:pPr algn="l"/>
            <a:r>
              <a:rPr sz="1150" b="1">
                <a:solidFill>
                  <a:srgbClr val="0F172A"/>
                </a:solidFill>
                <a:latin typeface="Calibri"/>
              </a:rPr>
              <a:t>Statistical Output:</a:t>
            </a:r>
          </a:p>
          <a:p>
            <a:pPr algn="l"/>
            <a:r>
              <a:rPr sz="1200" b="1">
                <a:solidFill>
                  <a:srgbClr val="E11D48"/>
                </a:solidFill>
                <a:latin typeface="Consolas"/>
              </a:rPr>
              <a:t>t-statistic = -74.737
p-value = 0.0 (p &lt; 1e-15)
</a:t>
            </a:r>
          </a:p>
          <a:p>
            <a:pPr algn="l"/>
            <a:r>
              <a:rPr sz="1150" b="1">
                <a:solidFill>
                  <a:srgbClr val="0F172A"/>
                </a:solidFill>
                <a:latin typeface="Calibri"/>
              </a:rPr>
              <a:t>Scientific Interpretation:</a:t>
            </a:r>
          </a:p>
          <a:p>
            <a:pPr algn="l"/>
            <a:r>
              <a:rPr sz="1100" b="0">
                <a:solidFill>
                  <a:srgbClr val="334155"/>
                </a:solidFill>
                <a:latin typeface="Calibri"/>
              </a:rPr>
              <a:t>Overwhelmingly rejects equal seasonal moisture means. Summer air maintains significantly lower relative humidity than saturated winter atmospheres.</a:t>
            </a:r>
          </a:p>
        </p:txBody>
      </p:sp>
      <p:sp>
        <p:nvSpPr>
          <p:cNvPr id="9" name="Rounded Rectangle 8"/>
          <p:cNvSpPr/>
          <p:nvPr/>
        </p:nvSpPr>
        <p:spPr>
          <a:xfrm>
            <a:off x="8046720" y="1920240"/>
            <a:ext cx="3429000" cy="43891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l"/>
            <a:r>
              <a:rPr sz="1200" b="1">
                <a:solidFill>
                  <a:srgbClr val="E11D48"/>
                </a:solidFill>
                <a:latin typeface="Arial"/>
              </a:rPr>
              <a:t>TEST 3: ONE-WAY ANOVA</a:t>
            </a:r>
          </a:p>
          <a:p>
            <a:pPr algn="l"/>
            <a:r>
              <a:rPr sz="1100" b="0">
                <a:solidFill>
                  <a:srgbClr val="64748B"/>
                </a:solidFill>
                <a:latin typeface="Calibri"/>
              </a:rPr>
              <a:t>Wind Speed Across 4 Seasons (Cell 43)</a:t>
            </a:r>
          </a:p>
          <a:p>
            <a:pPr algn="l"/>
            <a:r>
              <a:rPr sz="600" b="0">
                <a:latin typeface="Calibri"/>
              </a:rPr>
              <a:t/>
            </a:r>
          </a:p>
          <a:p>
            <a:pPr algn="l"/>
            <a:r>
              <a:rPr sz="1150" b="1">
                <a:solidFill>
                  <a:srgbClr val="0F172A"/>
                </a:solidFill>
                <a:latin typeface="Calibri"/>
              </a:rPr>
              <a:t>Null Hypothesis (H0):</a:t>
            </a:r>
          </a:p>
          <a:p>
            <a:pPr algn="l"/>
            <a:r>
              <a:rPr sz="1100" b="0">
                <a:solidFill>
                  <a:srgbClr val="334155"/>
                </a:solidFill>
                <a:latin typeface="Calibri"/>
              </a:rPr>
              <a:t>Mean wind speed is identical across all four seasons (μ_win = μ_spr = μ_sum = μ_aut).
</a:t>
            </a:r>
          </a:p>
          <a:p>
            <a:pPr algn="l"/>
            <a:r>
              <a:rPr sz="1150" b="1">
                <a:solidFill>
                  <a:srgbClr val="0F172A"/>
                </a:solidFill>
                <a:latin typeface="Calibri"/>
              </a:rPr>
              <a:t>Statistical Output:</a:t>
            </a:r>
          </a:p>
          <a:p>
            <a:pPr algn="l"/>
            <a:r>
              <a:rPr sz="1200" b="1">
                <a:solidFill>
                  <a:srgbClr val="E11D48"/>
                </a:solidFill>
                <a:latin typeface="Consolas"/>
              </a:rPr>
              <a:t>F-statistic = 157.644
p-value = 2.11e-101
</a:t>
            </a:r>
          </a:p>
          <a:p>
            <a:pPr algn="l"/>
            <a:r>
              <a:rPr sz="1150" b="1">
                <a:solidFill>
                  <a:srgbClr val="0F172A"/>
                </a:solidFill>
                <a:latin typeface="Calibri"/>
              </a:rPr>
              <a:t>Scientific Interpretation:</a:t>
            </a:r>
          </a:p>
          <a:p>
            <a:pPr algn="l"/>
            <a:r>
              <a:rPr sz="1100" b="0">
                <a:solidFill>
                  <a:srgbClr val="334155"/>
                </a:solidFill>
                <a:latin typeface="Calibri"/>
              </a:rPr>
              <a:t>Extremely high F-ratio confirms significant kinetic energy stratification across seasons; spring/autumn transition months experience higher velocity gusts.</a:t>
            </a:r>
          </a:p>
        </p:txBody>
      </p:sp>
    </p:spTree>
  </p:cSld>
  <p:clrMapOvr>
    <a:masterClrMapping/>
  </p:clrMapOvr>
  <p:transition spd="med" advClick="1">
    <p:fade/>
  </p:transition>
  <p:timing>
    <p:tnLst>
      <p:par>
        <p:cTn id="1" dur="indefinite" restart="always"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tgtEl>
                                    <p:spTgt spid="3"/>
                                  </p:tgtEl>
                                  <p:attrNameLst>
                                    <p:attrName>style.visibility</p:attrName>
                                  </p:attrNameLst>
                                </p:cBhvr>
                                <p:to>
                                  <p:strVal val="visible"/>
                                </p:to>
                              </p:set>
                              <p:animEffect transition="in" filter="fade">
                                <p:cBhvr>
                                  <p:cTn id="6" dur="500" fill="hold"/>
                                  <p:tgtEl>
                                    <p:spTgt spid="3"/>
                                  </p:tgtEl>
                                </p:cBhvr>
                              </p:animEffect>
                            </p:childTnLst>
                          </p:cTn>
                        </p:par>
                      </p:childTnLst>
                    </p:cTn>
                  </p:par>
                  <p:par>
                    <p:cTn id="7" fill="hold">
                      <p:stCondLst>
                        <p:cond delay="0"/>
                      </p:stCondLst>
                      <p:childTnLst>
                        <p:par>
                          <p:cTn id="8" fill="hold">
                            <p:stCondLst>
                              <p:cond delay="0"/>
                            </p:stCondLst>
                            <p:childTnLst>
                              <p:set>
                                <p:cBhvr>
                                  <p:cTn id="9" dur="1" fill="hold"/>
                                  <p:tgtEl>
                                    <p:spTgt spid="4"/>
                                  </p:tgtEl>
                                  <p:attrNameLst>
                                    <p:attrName>style.visibility</p:attrName>
                                  </p:attrNameLst>
                                </p:cBhvr>
                                <p:to>
                                  <p:strVal val="visible"/>
                                </p:to>
                              </p:set>
                              <p:animEffect transition="in" filter="fade">
                                <p:cBhvr>
                                  <p:cTn id="10" dur="500" fill="hold"/>
                                  <p:tgtEl>
                                    <p:spTgt spid="4"/>
                                  </p:tgtEl>
                                </p:cBhvr>
                              </p:animEffect>
                            </p:childTnLst>
                          </p:cTn>
                        </p:par>
                      </p:childTnLst>
                    </p:cTn>
                  </p:par>
                  <p:par>
                    <p:cTn id="11" fill="hold">
                      <p:stCondLst>
                        <p:cond delay="0"/>
                      </p:stCondLst>
                      <p:childTnLst>
                        <p:par>
                          <p:cTn id="12" fill="hold">
                            <p:stCondLst>
                              <p:cond delay="0"/>
                            </p:stCondLst>
                            <p:childTnLst>
                              <p:set>
                                <p:cBhvr>
                                  <p:cTn id="13" dur="1" fill="hold"/>
                                  <p:tgtEl>
                                    <p:spTgt spid="7"/>
                                  </p:tgtEl>
                                  <p:attrNameLst>
                                    <p:attrName>style.visibility</p:attrName>
                                  </p:attrNameLst>
                                </p:cBhvr>
                                <p:to>
                                  <p:strVal val="visible"/>
                                </p:to>
                              </p:set>
                              <p:animEffect transition="in" filter="fade">
                                <p:cBhvr>
                                  <p:cTn id="14" dur="500" fill="hold"/>
                                  <p:tgtEl>
                                    <p:spTgt spid="7"/>
                                  </p:tgtEl>
                                </p:cBhvr>
                              </p:animEffect>
                            </p:childTnLst>
                          </p:cTn>
                        </p:par>
                      </p:childTnLst>
                    </p:cTn>
                  </p:par>
                  <p:par>
                    <p:cTn id="15" fill="hold">
                      <p:stCondLst>
                        <p:cond delay="0"/>
                      </p:stCondLst>
                      <p:childTnLst>
                        <p:par>
                          <p:cTn id="16" fill="hold">
                            <p:stCondLst>
                              <p:cond delay="0"/>
                            </p:stCondLst>
                            <p:childTnLst>
                              <p:set>
                                <p:cBhvr>
                                  <p:cTn id="17" dur="1" fill="hold"/>
                                  <p:tgtEl>
                                    <p:spTgt spid="8"/>
                                  </p:tgtEl>
                                  <p:attrNameLst>
                                    <p:attrName>style.visibility</p:attrName>
                                  </p:attrNameLst>
                                </p:cBhvr>
                                <p:to>
                                  <p:strVal val="visible"/>
                                </p:to>
                              </p:set>
                              <p:animEffect transition="in" filter="fade">
                                <p:cBhvr>
                                  <p:cTn id="18" dur="500" fill="hold"/>
                                  <p:tgtEl>
                                    <p:spTgt spid="8"/>
                                  </p:tgtEl>
                                </p:cBhvr>
                              </p:animEffect>
                            </p:childTnLst>
                          </p:cTn>
                        </p:par>
                      </p:childTnLst>
                    </p:cTn>
                  </p:par>
                  <p:par>
                    <p:cTn id="19" fill="hold">
                      <p:stCondLst>
                        <p:cond delay="0"/>
                      </p:stCondLst>
                      <p:childTnLst>
                        <p:par>
                          <p:cTn id="20" fill="hold">
                            <p:stCondLst>
                              <p:cond delay="0"/>
                            </p:stCondLst>
                            <p:childTnLst>
                              <p:set>
                                <p:cBhvr>
                                  <p:cTn id="21" dur="1" fill="hold"/>
                                  <p:tgtEl>
                                    <p:spTgt spid="9"/>
                                  </p:tgtEl>
                                  <p:attrNameLst>
                                    <p:attrName>style.visibility</p:attrName>
                                  </p:attrNameLst>
                                </p:cBhvr>
                                <p:to>
                                  <p:strVal val="visible"/>
                                </p:to>
                              </p:set>
                              <p:animEffect transition="in" filter="fade">
                                <p:cBhvr>
                                  <p:cTn id="22" dur="500" fill="hold"/>
                                  <p:tgtEl>
                                    <p:spTgt spid="9"/>
                                  </p:tgtEl>
                                </p:cBhvr>
                              </p:animEffect>
                            </p:childTnLst>
                          </p:cTn>
                        </p:par>
                      </p:childTnLst>
                    </p:cTn>
                  </p:par>
                </p:childTnLst>
              </p:cTn>
              <p:prevCondLst>
                <p:cond evt="onPrev" delay="0">
                  <p:tgtEl>
                    <p:spTgt spid="0"/>
                  </p:tgtEl>
                </p:cond>
              </p:prevCondLst>
              <p:nextCondLst>
                <p:cond evt="onNext" delay="0">
                  <p:tgtEl>
                    <p:spTgt spid="0"/>
                  </p:tgtEl>
                </p:cond>
              </p:nextCondLst>
            </p:seq>
          </p:childTnLst>
        </p:cTn>
      </p:par>
    </p:tnLst>
    <p:bldLst>
      <p:bldSp spid="3" grpId="0" animBg="true"/>
      <p:bldSp spid="4" grpId="0" animBg="true"/>
      <p:bldSp spid="7" grpId="0" animBg="true"/>
      <p:bldSp spid="8" grpId="0" animBg="true"/>
      <p:bldSp spid="9" grpId="0" animBg="true"/>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47472"/>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FFFFF"/>
                </a:solidFill>
                <a:latin typeface="Arial"/>
              </a:rPr>
              <a:t>PART 5: PREDICTIVE ANALYTICS | MANCHIKANTI MOUNEESH KUMAR</a:t>
            </a:r>
          </a:p>
        </p:txBody>
      </p:sp>
      <p:sp>
        <p:nvSpPr>
          <p:cNvPr id="4" name="TextBox 3"/>
          <p:cNvSpPr txBox="1"/>
          <p:nvPr/>
        </p:nvSpPr>
        <p:spPr>
          <a:xfrm>
            <a:off x="731520" y="749808"/>
            <a:ext cx="10698480" cy="868680"/>
          </a:xfrm>
          <a:prstGeom prst="rect">
            <a:avLst/>
          </a:prstGeom>
          <a:noFill/>
        </p:spPr>
        <p:txBody>
          <a:bodyPr wrap="square" lIns="0" tIns="0" rIns="0" bIns="0">
            <a:spAutoFit/>
          </a:bodyPr>
          <a:lstStyle/>
          <a:p>
            <a:r>
              <a:rPr sz="2200" b="1">
                <a:solidFill>
                  <a:srgbClr val="0F172A"/>
                </a:solidFill>
                <a:latin typeface="Arial"/>
              </a:rPr>
              <a:t>Linear Regression: Apparent Temperature Modeling (Cells 44–51)</a:t>
            </a:r>
          </a:p>
          <a:p>
            <a:r>
              <a:rPr sz="1300">
                <a:solidFill>
                  <a:srgbClr val="64748B"/>
                </a:solidFill>
                <a:latin typeface="Calibri"/>
              </a:rPr>
              <a:t>Predicting human-perceived temperature using 6 standardized atmospheric predictors</a:t>
            </a:r>
          </a:p>
        </p:txBody>
      </p:sp>
      <p:sp>
        <p:nvSpPr>
          <p:cNvPr id="5" name="Rectangle 4"/>
          <p:cNvSpPr/>
          <p:nvPr/>
        </p:nvSpPr>
        <p:spPr>
          <a:xfrm>
            <a:off x="731520" y="166420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728655" cy="274320"/>
          </a:xfrm>
          <a:prstGeom prst="rect">
            <a:avLst/>
          </a:prstGeom>
          <a:noFill/>
        </p:spPr>
        <p:txBody>
          <a:bodyPr wrap="none" lIns="0" tIns="0" rIns="0" bIns="0">
            <a:spAutoFit/>
          </a:bodyPr>
          <a:lstStyle/>
          <a:p>
            <a:r>
              <a:rPr sz="1000">
                <a:solidFill>
                  <a:srgbClr val="64748B"/>
                </a:solidFill>
                <a:latin typeface="Calibri"/>
              </a:rPr>
              <a:t>Foundations of Data Science (FDS) Course Project | Team 252U1R</a:t>
            </a:r>
            <a:r>
              <a:t>                                                                                               </a:t>
            </a:r>
            <a:r>
              <a:rPr sz="1000" b="1">
                <a:solidFill>
                  <a:srgbClr val="E11D48"/>
                </a:solidFill>
                <a:latin typeface="Calibri"/>
              </a:rPr>
              <a:t>Slide 14 of 20</a:t>
            </a:r>
          </a:p>
        </p:txBody>
      </p:sp>
      <p:sp>
        <p:nvSpPr>
          <p:cNvPr id="7" name="Rounded Rectangle 6"/>
          <p:cNvSpPr/>
          <p:nvPr/>
        </p:nvSpPr>
        <p:spPr>
          <a:xfrm>
            <a:off x="731520" y="1920240"/>
            <a:ext cx="2468880" cy="1143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r>
              <a:rPr sz="3200" b="1">
                <a:solidFill>
                  <a:srgbClr val="E11D48"/>
                </a:solidFill>
                <a:latin typeface="Arial"/>
              </a:rPr>
              <a:t>0.98997</a:t>
            </a:r>
          </a:p>
          <a:p>
            <a:pPr algn="ctr"/>
            <a:r>
              <a:rPr sz="1100" b="1">
                <a:solidFill>
                  <a:srgbClr val="0F172A"/>
                </a:solidFill>
                <a:latin typeface="Arial"/>
              </a:rPr>
              <a:t>R² SCORE (99.0%)</a:t>
            </a:r>
          </a:p>
          <a:p>
            <a:pPr algn="ctr"/>
            <a:r>
              <a:rPr sz="1000" b="0">
                <a:solidFill>
                  <a:srgbClr val="64748B"/>
                </a:solidFill>
                <a:latin typeface="Calibri"/>
              </a:rPr>
              <a:t>Explained thermal variance</a:t>
            </a:r>
          </a:p>
        </p:txBody>
      </p:sp>
      <p:sp>
        <p:nvSpPr>
          <p:cNvPr id="8" name="Rounded Rectangle 7"/>
          <p:cNvSpPr/>
          <p:nvPr/>
        </p:nvSpPr>
        <p:spPr>
          <a:xfrm>
            <a:off x="3474720" y="1920240"/>
            <a:ext cx="2468880" cy="1143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r>
              <a:rPr sz="3200" b="1">
                <a:solidFill>
                  <a:srgbClr val="E11D48"/>
                </a:solidFill>
                <a:latin typeface="Arial"/>
              </a:rPr>
              <a:t>1.080°C</a:t>
            </a:r>
          </a:p>
          <a:p>
            <a:pPr algn="ctr"/>
            <a:r>
              <a:rPr sz="1100" b="1">
                <a:solidFill>
                  <a:srgbClr val="0F172A"/>
                </a:solidFill>
                <a:latin typeface="Arial"/>
              </a:rPr>
              <a:t>RMSE</a:t>
            </a:r>
          </a:p>
          <a:p>
            <a:pPr algn="ctr"/>
            <a:r>
              <a:rPr sz="1000" b="0">
                <a:solidFill>
                  <a:srgbClr val="64748B"/>
                </a:solidFill>
                <a:latin typeface="Calibri"/>
              </a:rPr>
              <a:t>Root mean squared error</a:t>
            </a:r>
          </a:p>
        </p:txBody>
      </p:sp>
      <p:sp>
        <p:nvSpPr>
          <p:cNvPr id="9" name="Rounded Rectangle 8"/>
          <p:cNvSpPr/>
          <p:nvPr/>
        </p:nvSpPr>
        <p:spPr>
          <a:xfrm>
            <a:off x="6217920" y="1920240"/>
            <a:ext cx="2468880" cy="1143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r>
              <a:rPr sz="3200" b="1">
                <a:solidFill>
                  <a:srgbClr val="E11D48"/>
                </a:solidFill>
                <a:latin typeface="Arial"/>
              </a:rPr>
              <a:t>0.847°C</a:t>
            </a:r>
          </a:p>
          <a:p>
            <a:pPr algn="ctr"/>
            <a:r>
              <a:rPr sz="1100" b="1">
                <a:solidFill>
                  <a:srgbClr val="0F172A"/>
                </a:solidFill>
                <a:latin typeface="Arial"/>
              </a:rPr>
              <a:t>MAE</a:t>
            </a:r>
          </a:p>
          <a:p>
            <a:pPr algn="ctr"/>
            <a:r>
              <a:rPr sz="1000" b="0">
                <a:solidFill>
                  <a:srgbClr val="64748B"/>
                </a:solidFill>
                <a:latin typeface="Calibri"/>
              </a:rPr>
              <a:t>Mean absolute error</a:t>
            </a:r>
          </a:p>
        </p:txBody>
      </p:sp>
      <p:sp>
        <p:nvSpPr>
          <p:cNvPr id="10" name="Rounded Rectangle 9"/>
          <p:cNvSpPr/>
          <p:nvPr/>
        </p:nvSpPr>
        <p:spPr>
          <a:xfrm>
            <a:off x="8961120" y="1920240"/>
            <a:ext cx="2468880" cy="1143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r>
              <a:rPr sz="3200" b="1">
                <a:solidFill>
                  <a:srgbClr val="E11D48"/>
                </a:solidFill>
                <a:latin typeface="Arial"/>
              </a:rPr>
              <a:t>80 / 20</a:t>
            </a:r>
          </a:p>
          <a:p>
            <a:pPr algn="ctr"/>
            <a:r>
              <a:rPr sz="1100" b="1">
                <a:solidFill>
                  <a:srgbClr val="0F172A"/>
                </a:solidFill>
                <a:latin typeface="Arial"/>
              </a:rPr>
              <a:t>TRAIN / TEST SPLIT</a:t>
            </a:r>
          </a:p>
          <a:p>
            <a:pPr algn="ctr"/>
            <a:r>
              <a:rPr sz="1000" b="0">
                <a:solidFill>
                  <a:srgbClr val="64748B"/>
                </a:solidFill>
                <a:latin typeface="Calibri"/>
              </a:rPr>
              <a:t>random_state = 42</a:t>
            </a:r>
          </a:p>
        </p:txBody>
      </p:sp>
      <p:pic>
        <p:nvPicPr>
          <p:cNvPr id="11" name="Picture 10" descr="cell_50_out_0.png"/>
          <p:cNvPicPr>
            <a:picLocks noChangeAspect="1"/>
          </p:cNvPicPr>
          <p:nvPr/>
        </p:nvPicPr>
        <p:blipFill>
          <a:blip r:embed="rId2"/>
          <a:stretch>
            <a:fillRect/>
          </a:stretch>
        </p:blipFill>
        <p:spPr>
          <a:xfrm>
            <a:off x="731520" y="3246120"/>
            <a:ext cx="5303520" cy="3063240"/>
          </a:xfrm>
          <a:prstGeom prst="rect">
            <a:avLst/>
          </a:prstGeom>
        </p:spPr>
      </p:pic>
      <p:sp>
        <p:nvSpPr>
          <p:cNvPr id="12" name="Rounded Rectangle 11"/>
          <p:cNvSpPr/>
          <p:nvPr/>
        </p:nvSpPr>
        <p:spPr>
          <a:xfrm>
            <a:off x="6263640" y="3246120"/>
            <a:ext cx="5212080" cy="30632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l"/>
            <a:r>
              <a:rPr sz="1200" b="1">
                <a:solidFill>
                  <a:srgbClr val="0F172A"/>
                </a:solidFill>
                <a:latin typeface="Arial"/>
              </a:rPr>
              <a:t>STANDARDIZED REGRESSION COEFFICIENTS (CELL 51)</a:t>
            </a:r>
          </a:p>
          <a:p>
            <a:pPr algn="l"/>
            <a:r>
              <a:rPr sz="400" b="0">
                <a:latin typeface="Calibri"/>
              </a:rPr>
              <a:t/>
            </a:r>
          </a:p>
          <a:p>
            <a:pPr algn="l"/>
            <a:r>
              <a:rPr sz="1100" b="0">
                <a:solidFill>
                  <a:srgbClr val="334155"/>
                </a:solidFill>
                <a:latin typeface="Calibri"/>
              </a:rPr>
              <a:t>• Temperature (C): +10.983  (Dominant positive baseline driver)
• Wind Speed (km/h): -0.701  (Quantified convective wind-chill cooling)
• Humidity: +0.245  (Latent heat index amplification)
• Pressure (mbar): +0.100  (Atmospheric density normalization)
• Wind Bearing: +0.026  (Minor directional advection)
• Visibility (km): +0.013  (Aerosol clear-sky radiation factor)</a:t>
            </a:r>
          </a:p>
          <a:p>
            <a:pPr algn="l"/>
            <a:r>
              <a:rPr sz="600" b="0">
                <a:latin typeface="Calibri"/>
              </a:rPr>
              <a:t/>
            </a:r>
          </a:p>
          <a:p>
            <a:pPr algn="l"/>
            <a:r>
              <a:rPr sz="1150" b="1">
                <a:solidFill>
                  <a:srgbClr val="E11D48"/>
                </a:solidFill>
                <a:latin typeface="Calibri"/>
              </a:rPr>
              <a:t>Residual Homoscedasticity Analysis:</a:t>
            </a:r>
          </a:p>
          <a:p>
            <a:pPr algn="l"/>
            <a:r>
              <a:rPr sz="1050" b="0">
                <a:solidFill>
                  <a:srgbClr val="334155"/>
                </a:solidFill>
                <a:latin typeface="Calibri"/>
              </a:rPr>
              <a:t>The residual scatter plot is evenly dispersed around the red reference zero line with low variance, confirming zero systematic bias in predictions.</a:t>
            </a:r>
          </a:p>
        </p:txBody>
      </p:sp>
    </p:spTree>
  </p:cSld>
  <p:clrMapOvr>
    <a:masterClrMapping/>
  </p:clrMapOvr>
  <p:transition spd="med" advClick="1">
    <p:fade/>
  </p:transition>
  <p:timing>
    <p:tnLst>
      <p:par>
        <p:cTn id="1" dur="indefinite" restart="always"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tgtEl>
                                    <p:spTgt spid="3"/>
                                  </p:tgtEl>
                                  <p:attrNameLst>
                                    <p:attrName>style.visibility</p:attrName>
                                  </p:attrNameLst>
                                </p:cBhvr>
                                <p:to>
                                  <p:strVal val="visible"/>
                                </p:to>
                              </p:set>
                              <p:animEffect transition="in" filter="fade">
                                <p:cBhvr>
                                  <p:cTn id="6" dur="500" fill="hold"/>
                                  <p:tgtEl>
                                    <p:spTgt spid="3"/>
                                  </p:tgtEl>
                                </p:cBhvr>
                              </p:animEffect>
                            </p:childTnLst>
                          </p:cTn>
                        </p:par>
                      </p:childTnLst>
                    </p:cTn>
                  </p:par>
                  <p:par>
                    <p:cTn id="7" fill="hold">
                      <p:stCondLst>
                        <p:cond delay="0"/>
                      </p:stCondLst>
                      <p:childTnLst>
                        <p:par>
                          <p:cTn id="8" fill="hold">
                            <p:stCondLst>
                              <p:cond delay="0"/>
                            </p:stCondLst>
                            <p:childTnLst>
                              <p:set>
                                <p:cBhvr>
                                  <p:cTn id="9" dur="1" fill="hold"/>
                                  <p:tgtEl>
                                    <p:spTgt spid="4"/>
                                  </p:tgtEl>
                                  <p:attrNameLst>
                                    <p:attrName>style.visibility</p:attrName>
                                  </p:attrNameLst>
                                </p:cBhvr>
                                <p:to>
                                  <p:strVal val="visible"/>
                                </p:to>
                              </p:set>
                              <p:animEffect transition="in" filter="fade">
                                <p:cBhvr>
                                  <p:cTn id="10" dur="500" fill="hold"/>
                                  <p:tgtEl>
                                    <p:spTgt spid="4"/>
                                  </p:tgtEl>
                                </p:cBhvr>
                              </p:animEffect>
                            </p:childTnLst>
                          </p:cTn>
                        </p:par>
                      </p:childTnLst>
                    </p:cTn>
                  </p:par>
                  <p:par>
                    <p:cTn id="11" fill="hold">
                      <p:stCondLst>
                        <p:cond delay="0"/>
                      </p:stCondLst>
                      <p:childTnLst>
                        <p:par>
                          <p:cTn id="12" fill="hold">
                            <p:stCondLst>
                              <p:cond delay="0"/>
                            </p:stCondLst>
                            <p:childTnLst>
                              <p:set>
                                <p:cBhvr>
                                  <p:cTn id="13" dur="1" fill="hold"/>
                                  <p:tgtEl>
                                    <p:spTgt spid="7"/>
                                  </p:tgtEl>
                                  <p:attrNameLst>
                                    <p:attrName>style.visibility</p:attrName>
                                  </p:attrNameLst>
                                </p:cBhvr>
                                <p:to>
                                  <p:strVal val="visible"/>
                                </p:to>
                              </p:set>
                              <p:animEffect transition="in" filter="fade">
                                <p:cBhvr>
                                  <p:cTn id="14" dur="500" fill="hold"/>
                                  <p:tgtEl>
                                    <p:spTgt spid="7"/>
                                  </p:tgtEl>
                                </p:cBhvr>
                              </p:animEffect>
                            </p:childTnLst>
                          </p:cTn>
                        </p:par>
                      </p:childTnLst>
                    </p:cTn>
                  </p:par>
                  <p:par>
                    <p:cTn id="15" fill="hold">
                      <p:stCondLst>
                        <p:cond delay="0"/>
                      </p:stCondLst>
                      <p:childTnLst>
                        <p:par>
                          <p:cTn id="16" fill="hold">
                            <p:stCondLst>
                              <p:cond delay="0"/>
                            </p:stCondLst>
                            <p:childTnLst>
                              <p:set>
                                <p:cBhvr>
                                  <p:cTn id="17" dur="1" fill="hold"/>
                                  <p:tgtEl>
                                    <p:spTgt spid="8"/>
                                  </p:tgtEl>
                                  <p:attrNameLst>
                                    <p:attrName>style.visibility</p:attrName>
                                  </p:attrNameLst>
                                </p:cBhvr>
                                <p:to>
                                  <p:strVal val="visible"/>
                                </p:to>
                              </p:set>
                              <p:animEffect transition="in" filter="fade">
                                <p:cBhvr>
                                  <p:cTn id="18" dur="500" fill="hold"/>
                                  <p:tgtEl>
                                    <p:spTgt spid="8"/>
                                  </p:tgtEl>
                                </p:cBhvr>
                              </p:animEffect>
                            </p:childTnLst>
                          </p:cTn>
                        </p:par>
                      </p:childTnLst>
                    </p:cTn>
                  </p:par>
                  <p:par>
                    <p:cTn id="19" fill="hold">
                      <p:stCondLst>
                        <p:cond delay="0"/>
                      </p:stCondLst>
                      <p:childTnLst>
                        <p:par>
                          <p:cTn id="20" fill="hold">
                            <p:stCondLst>
                              <p:cond delay="0"/>
                            </p:stCondLst>
                            <p:childTnLst>
                              <p:set>
                                <p:cBhvr>
                                  <p:cTn id="21" dur="1" fill="hold"/>
                                  <p:tgtEl>
                                    <p:spTgt spid="9"/>
                                  </p:tgtEl>
                                  <p:attrNameLst>
                                    <p:attrName>style.visibility</p:attrName>
                                  </p:attrNameLst>
                                </p:cBhvr>
                                <p:to>
                                  <p:strVal val="visible"/>
                                </p:to>
                              </p:set>
                              <p:animEffect transition="in" filter="fade">
                                <p:cBhvr>
                                  <p:cTn id="22" dur="500" fill="hold"/>
                                  <p:tgtEl>
                                    <p:spTgt spid="9"/>
                                  </p:tgtEl>
                                </p:cBhvr>
                              </p:animEffect>
                            </p:childTnLst>
                          </p:cTn>
                        </p:par>
                      </p:childTnLst>
                    </p:cTn>
                  </p:par>
                  <p:par>
                    <p:cTn id="23" fill="hold">
                      <p:stCondLst>
                        <p:cond delay="0"/>
                      </p:stCondLst>
                      <p:childTnLst>
                        <p:par>
                          <p:cTn id="24" fill="hold">
                            <p:stCondLst>
                              <p:cond delay="0"/>
                            </p:stCondLst>
                            <p:childTnLst>
                              <p:set>
                                <p:cBhvr>
                                  <p:cTn id="25" dur="1" fill="hold"/>
                                  <p:tgtEl>
                                    <p:spTgt spid="10"/>
                                  </p:tgtEl>
                                  <p:attrNameLst>
                                    <p:attrName>style.visibility</p:attrName>
                                  </p:attrNameLst>
                                </p:cBhvr>
                                <p:to>
                                  <p:strVal val="visible"/>
                                </p:to>
                              </p:set>
                              <p:animEffect transition="in" filter="fade">
                                <p:cBhvr>
                                  <p:cTn id="26" dur="500" fill="hold"/>
                                  <p:tgtEl>
                                    <p:spTgt spid="10"/>
                                  </p:tgtEl>
                                </p:cBhvr>
                              </p:animEffect>
                            </p:childTnLst>
                          </p:cTn>
                        </p:par>
                      </p:childTnLst>
                    </p:cTn>
                  </p:par>
                  <p:par>
                    <p:cTn id="27" fill="hold">
                      <p:stCondLst>
                        <p:cond delay="0"/>
                      </p:stCondLst>
                      <p:childTnLst>
                        <p:par>
                          <p:cTn id="28" fill="hold">
                            <p:stCondLst>
                              <p:cond delay="0"/>
                            </p:stCondLst>
                            <p:childTnLst>
                              <p:set>
                                <p:cBhvr>
                                  <p:cTn id="29" dur="1" fill="hold"/>
                                  <p:tgtEl>
                                    <p:spTgt spid="11"/>
                                  </p:tgtEl>
                                  <p:attrNameLst>
                                    <p:attrName>style.visibility</p:attrName>
                                  </p:attrNameLst>
                                </p:cBhvr>
                                <p:to>
                                  <p:strVal val="visible"/>
                                </p:to>
                              </p:set>
                              <p:animEffect transition="in" filter="fade">
                                <p:cBhvr>
                                  <p:cTn id="30" dur="500" fill="hold"/>
                                  <p:tgtEl>
                                    <p:spTgt spid="11"/>
                                  </p:tgtEl>
                                </p:cBhvr>
                              </p:animEffect>
                            </p:childTnLst>
                          </p:cTn>
                        </p:par>
                      </p:childTnLst>
                    </p:cTn>
                  </p:par>
                  <p:par>
                    <p:cTn id="31" fill="hold">
                      <p:stCondLst>
                        <p:cond delay="0"/>
                      </p:stCondLst>
                      <p:childTnLst>
                        <p:par>
                          <p:cTn id="32" fill="hold">
                            <p:stCondLst>
                              <p:cond delay="0"/>
                            </p:stCondLst>
                            <p:childTnLst>
                              <p:set>
                                <p:cBhvr>
                                  <p:cTn id="33" dur="1" fill="hold"/>
                                  <p:tgtEl>
                                    <p:spTgt spid="12"/>
                                  </p:tgtEl>
                                  <p:attrNameLst>
                                    <p:attrName>style.visibility</p:attrName>
                                  </p:attrNameLst>
                                </p:cBhvr>
                                <p:to>
                                  <p:strVal val="visible"/>
                                </p:to>
                              </p:set>
                              <p:animEffect transition="in" filter="fade">
                                <p:cBhvr>
                                  <p:cTn id="34" dur="500" fill="hold"/>
                                  <p:tgtEl>
                                    <p:spTgt spid="12"/>
                                  </p:tgtEl>
                                </p:cBhvr>
                              </p:animEffect>
                            </p:childTnLst>
                          </p:cTn>
                        </p:par>
                      </p:childTnLst>
                    </p:cTn>
                  </p:par>
                </p:childTnLst>
              </p:cTn>
              <p:prevCondLst>
                <p:cond evt="onPrev" delay="0">
                  <p:tgtEl>
                    <p:spTgt spid="0"/>
                  </p:tgtEl>
                </p:cond>
              </p:prevCondLst>
              <p:nextCondLst>
                <p:cond evt="onNext" delay="0">
                  <p:tgtEl>
                    <p:spTgt spid="0"/>
                  </p:tgtEl>
                </p:cond>
              </p:nextCondLst>
            </p:seq>
          </p:childTnLst>
        </p:cTn>
      </p:par>
    </p:tnLst>
    <p:bldLst>
      <p:bldSp spid="3" grpId="0" animBg="true"/>
      <p:bldSp spid="4" grpId="0" animBg="true"/>
      <p:bldSp spid="7" grpId="0" animBg="true"/>
      <p:bldSp spid="8" grpId="0" animBg="true"/>
      <p:bldSp spid="9" grpId="0" animBg="true"/>
      <p:bldSp spid="10" grpId="0" animBg="true"/>
      <p:bldSp spid="11" grpId="0" animBg="true"/>
      <p:bldSp spid="12" grpId="0" animBg="true"/>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47472"/>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FFFFF"/>
                </a:solidFill>
                <a:latin typeface="Arial"/>
              </a:rPr>
              <a:t>PART 5: PREDICTIVE ANALYTICS | MANCHIKANTI MOUNEESH KUMAR</a:t>
            </a:r>
          </a:p>
        </p:txBody>
      </p:sp>
      <p:sp>
        <p:nvSpPr>
          <p:cNvPr id="4" name="TextBox 3"/>
          <p:cNvSpPr txBox="1"/>
          <p:nvPr/>
        </p:nvSpPr>
        <p:spPr>
          <a:xfrm>
            <a:off x="731520" y="749808"/>
            <a:ext cx="10698480" cy="868680"/>
          </a:xfrm>
          <a:prstGeom prst="rect">
            <a:avLst/>
          </a:prstGeom>
          <a:noFill/>
        </p:spPr>
        <p:txBody>
          <a:bodyPr wrap="square" lIns="0" tIns="0" rIns="0" bIns="0">
            <a:spAutoFit/>
          </a:bodyPr>
          <a:lstStyle/>
          <a:p>
            <a:r>
              <a:rPr sz="2200" b="1">
                <a:solidFill>
                  <a:srgbClr val="0F172A"/>
                </a:solidFill>
                <a:latin typeface="Arial"/>
              </a:rPr>
              <a:t>Logistic Classification: Rain vs. Snow (Cells 52–59)</a:t>
            </a:r>
          </a:p>
          <a:p>
            <a:r>
              <a:rPr sz="1300">
                <a:solidFill>
                  <a:srgbClr val="64748B"/>
                </a:solidFill>
                <a:latin typeface="Calibri"/>
              </a:rPr>
              <a:t>Stratified classification separating precipitation phases near thermodynamic freezing thresholds</a:t>
            </a:r>
          </a:p>
        </p:txBody>
      </p:sp>
      <p:sp>
        <p:nvSpPr>
          <p:cNvPr id="5" name="Rectangle 4"/>
          <p:cNvSpPr/>
          <p:nvPr/>
        </p:nvSpPr>
        <p:spPr>
          <a:xfrm>
            <a:off x="731520" y="166420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728655" cy="274320"/>
          </a:xfrm>
          <a:prstGeom prst="rect">
            <a:avLst/>
          </a:prstGeom>
          <a:noFill/>
        </p:spPr>
        <p:txBody>
          <a:bodyPr wrap="none" lIns="0" tIns="0" rIns="0" bIns="0">
            <a:spAutoFit/>
          </a:bodyPr>
          <a:lstStyle/>
          <a:p>
            <a:r>
              <a:rPr sz="1000">
                <a:solidFill>
                  <a:srgbClr val="64748B"/>
                </a:solidFill>
                <a:latin typeface="Calibri"/>
              </a:rPr>
              <a:t>Foundations of Data Science (FDS) Course Project | Team 252U1R</a:t>
            </a:r>
            <a:r>
              <a:t>                                                                                               </a:t>
            </a:r>
            <a:r>
              <a:rPr sz="1000" b="1">
                <a:solidFill>
                  <a:srgbClr val="E11D48"/>
                </a:solidFill>
                <a:latin typeface="Calibri"/>
              </a:rPr>
              <a:t>Slide 15 of 20</a:t>
            </a:r>
          </a:p>
        </p:txBody>
      </p:sp>
      <p:sp>
        <p:nvSpPr>
          <p:cNvPr id="7" name="Rounded Rectangle 6"/>
          <p:cNvSpPr/>
          <p:nvPr/>
        </p:nvSpPr>
        <p:spPr>
          <a:xfrm>
            <a:off x="731520" y="1920240"/>
            <a:ext cx="2468880" cy="1143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r>
              <a:rPr sz="3200" b="1">
                <a:solidFill>
                  <a:srgbClr val="E11D48"/>
                </a:solidFill>
                <a:latin typeface="Arial"/>
              </a:rPr>
              <a:t>99.58%</a:t>
            </a:r>
          </a:p>
          <a:p>
            <a:pPr algn="ctr"/>
            <a:r>
              <a:rPr sz="1100" b="1">
                <a:solidFill>
                  <a:srgbClr val="0F172A"/>
                </a:solidFill>
                <a:latin typeface="Arial"/>
              </a:rPr>
              <a:t>ACCURACY</a:t>
            </a:r>
          </a:p>
          <a:p>
            <a:pPr algn="ctr"/>
            <a:r>
              <a:rPr sz="1000" b="0">
                <a:solidFill>
                  <a:srgbClr val="64748B"/>
                </a:solidFill>
                <a:latin typeface="Calibri"/>
              </a:rPr>
              <a:t>Overall test accuracy</a:t>
            </a:r>
          </a:p>
        </p:txBody>
      </p:sp>
      <p:sp>
        <p:nvSpPr>
          <p:cNvPr id="8" name="Rounded Rectangle 7"/>
          <p:cNvSpPr/>
          <p:nvPr/>
        </p:nvSpPr>
        <p:spPr>
          <a:xfrm>
            <a:off x="3474720" y="1920240"/>
            <a:ext cx="2468880" cy="1143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r>
              <a:rPr sz="3200" b="1">
                <a:solidFill>
                  <a:srgbClr val="E11D48"/>
                </a:solidFill>
                <a:latin typeface="Arial"/>
              </a:rPr>
              <a:t>99.72%</a:t>
            </a:r>
          </a:p>
          <a:p>
            <a:pPr algn="ctr"/>
            <a:r>
              <a:rPr sz="1100" b="1">
                <a:solidFill>
                  <a:srgbClr val="0F172A"/>
                </a:solidFill>
                <a:latin typeface="Arial"/>
              </a:rPr>
              <a:t>PRECISION</a:t>
            </a:r>
          </a:p>
          <a:p>
            <a:pPr algn="ctr"/>
            <a:r>
              <a:rPr sz="1000" b="0">
                <a:solidFill>
                  <a:srgbClr val="64748B"/>
                </a:solidFill>
                <a:latin typeface="Calibri"/>
              </a:rPr>
              <a:t>True rain over predicted rain</a:t>
            </a:r>
          </a:p>
        </p:txBody>
      </p:sp>
      <p:sp>
        <p:nvSpPr>
          <p:cNvPr id="9" name="Rounded Rectangle 8"/>
          <p:cNvSpPr/>
          <p:nvPr/>
        </p:nvSpPr>
        <p:spPr>
          <a:xfrm>
            <a:off x="6217920" y="1920240"/>
            <a:ext cx="2468880" cy="1143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r>
              <a:rPr sz="3200" b="1">
                <a:solidFill>
                  <a:srgbClr val="E11D48"/>
                </a:solidFill>
                <a:latin typeface="Arial"/>
              </a:rPr>
              <a:t>99.80%</a:t>
            </a:r>
          </a:p>
          <a:p>
            <a:pPr algn="ctr"/>
            <a:r>
              <a:rPr sz="1100" b="1">
                <a:solidFill>
                  <a:srgbClr val="0F172A"/>
                </a:solidFill>
                <a:latin typeface="Arial"/>
              </a:rPr>
              <a:t>RECALL</a:t>
            </a:r>
          </a:p>
          <a:p>
            <a:pPr algn="ctr"/>
            <a:r>
              <a:rPr sz="1000" b="0">
                <a:solidFill>
                  <a:srgbClr val="64748B"/>
                </a:solidFill>
                <a:latin typeface="Calibri"/>
              </a:rPr>
              <a:t>Coverage of actual rain events</a:t>
            </a:r>
          </a:p>
        </p:txBody>
      </p:sp>
      <p:sp>
        <p:nvSpPr>
          <p:cNvPr id="10" name="Rounded Rectangle 9"/>
          <p:cNvSpPr/>
          <p:nvPr/>
        </p:nvSpPr>
        <p:spPr>
          <a:xfrm>
            <a:off x="8961120" y="1920240"/>
            <a:ext cx="2468880" cy="1143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ctr"/>
            <a:r>
              <a:rPr sz="3200" b="1">
                <a:solidFill>
                  <a:srgbClr val="E11D48"/>
                </a:solidFill>
                <a:latin typeface="Arial"/>
              </a:rPr>
              <a:t>99.76%</a:t>
            </a:r>
          </a:p>
          <a:p>
            <a:pPr algn="ctr"/>
            <a:r>
              <a:rPr sz="1100" b="1">
                <a:solidFill>
                  <a:srgbClr val="0F172A"/>
                </a:solidFill>
                <a:latin typeface="Arial"/>
              </a:rPr>
              <a:t>F1-SCORE</a:t>
            </a:r>
          </a:p>
          <a:p>
            <a:pPr algn="ctr"/>
            <a:r>
              <a:rPr sz="1000" b="0">
                <a:solidFill>
                  <a:srgbClr val="64748B"/>
                </a:solidFill>
                <a:latin typeface="Calibri"/>
              </a:rPr>
              <a:t>Harmonic mean balance</a:t>
            </a:r>
          </a:p>
        </p:txBody>
      </p:sp>
      <p:pic>
        <p:nvPicPr>
          <p:cNvPr id="11" name="Picture 10" descr="cell_59_out_0.png"/>
          <p:cNvPicPr>
            <a:picLocks noChangeAspect="1"/>
          </p:cNvPicPr>
          <p:nvPr/>
        </p:nvPicPr>
        <p:blipFill>
          <a:blip r:embed="rId2"/>
          <a:stretch>
            <a:fillRect/>
          </a:stretch>
        </p:blipFill>
        <p:spPr>
          <a:xfrm>
            <a:off x="731520" y="3246120"/>
            <a:ext cx="5303520" cy="3063240"/>
          </a:xfrm>
          <a:prstGeom prst="rect">
            <a:avLst/>
          </a:prstGeom>
        </p:spPr>
      </p:pic>
      <p:sp>
        <p:nvSpPr>
          <p:cNvPr id="12" name="Rounded Rectangle 11"/>
          <p:cNvSpPr/>
          <p:nvPr/>
        </p:nvSpPr>
        <p:spPr>
          <a:xfrm>
            <a:off x="6263640" y="3246120"/>
            <a:ext cx="5212080" cy="30632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l"/>
            <a:r>
              <a:rPr sz="1200" b="1">
                <a:solidFill>
                  <a:srgbClr val="0F172A"/>
                </a:solidFill>
                <a:latin typeface="Arial"/>
              </a:rPr>
              <a:t>CLASSIFICATION METHODOLOGY &amp; CONFUSION MATRIX</a:t>
            </a:r>
          </a:p>
          <a:p>
            <a:pPr algn="l"/>
            <a:r>
              <a:rPr sz="400" b="0">
                <a:latin typeface="Calibri"/>
              </a:rPr>
              <a:t/>
            </a:r>
          </a:p>
          <a:p>
            <a:pPr algn="l"/>
            <a:r>
              <a:rPr sz="1150" b="1">
                <a:solidFill>
                  <a:srgbClr val="0F172A"/>
                </a:solidFill>
                <a:latin typeface="Calibri"/>
              </a:rPr>
              <a:t>• Target Definition: </a:t>
            </a:r>
            <a:r>
              <a:rPr sz="1100" b="0">
                <a:solidFill>
                  <a:srgbClr val="334155"/>
                </a:solidFill>
                <a:latin typeface="Calibri"/>
              </a:rPr>
              <a:t>Is Rain = 1 (26,929 rain), Is Rain = 0 (3,782 snow).
</a:t>
            </a:r>
            <a:r>
              <a:rPr sz="1150" b="1">
                <a:solidFill>
                  <a:srgbClr val="0F172A"/>
                </a:solidFill>
                <a:latin typeface="Calibri"/>
              </a:rPr>
              <a:t>• Predictor Subspace: </a:t>
            </a:r>
            <a:r>
              <a:rPr sz="1100" b="0">
                <a:solidFill>
                  <a:srgbClr val="334155"/>
                </a:solidFill>
                <a:latin typeface="Calibri"/>
              </a:rPr>
              <a:t>Temperature, Humidity, Wind Speed, Pressure.
</a:t>
            </a:r>
            <a:r>
              <a:rPr sz="1150" b="1">
                <a:solidFill>
                  <a:srgbClr val="0F172A"/>
                </a:solidFill>
                <a:latin typeface="Calibri"/>
              </a:rPr>
              <a:t>• Stratified Partitioning: </a:t>
            </a:r>
            <a:r>
              <a:rPr sz="1100" b="0">
                <a:solidFill>
                  <a:srgbClr val="334155"/>
                </a:solidFill>
                <a:latin typeface="Calibri"/>
              </a:rPr>
              <a:t>Preserved exact 87.7% rain / 12.3% snow class balance in test set.
</a:t>
            </a:r>
            <a:r>
              <a:rPr sz="1150" b="1">
                <a:solidFill>
                  <a:srgbClr val="E11D48"/>
                </a:solidFill>
                <a:latin typeface="Calibri"/>
              </a:rPr>
              <a:t>• Confusion Matrix Performance: </a:t>
            </a:r>
            <a:r>
              <a:rPr sz="1100" b="0">
                <a:solidFill>
                  <a:srgbClr val="334155"/>
                </a:solidFill>
                <a:latin typeface="Calibri"/>
              </a:rPr>
              <a:t>Virtually zero false positives or false negatives. The logistic sigmoid boundary cleanly detects the sharp ~0°C thermodynamic phase transition between liquid rain and frozen snow precipitation.</a:t>
            </a:r>
          </a:p>
        </p:txBody>
      </p:sp>
    </p:spTree>
  </p:cSld>
  <p:clrMapOvr>
    <a:masterClrMapping/>
  </p:clrMapOvr>
  <p:transition spd="med" advClick="1">
    <p:fade/>
  </p:transition>
  <p:timing>
    <p:tnLst>
      <p:par>
        <p:cTn id="1" dur="indefinite" restart="always"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tgtEl>
                                    <p:spTgt spid="3"/>
                                  </p:tgtEl>
                                  <p:attrNameLst>
                                    <p:attrName>style.visibility</p:attrName>
                                  </p:attrNameLst>
                                </p:cBhvr>
                                <p:to>
                                  <p:strVal val="visible"/>
                                </p:to>
                              </p:set>
                              <p:animEffect transition="in" filter="fade">
                                <p:cBhvr>
                                  <p:cTn id="6" dur="500" fill="hold"/>
                                  <p:tgtEl>
                                    <p:spTgt spid="3"/>
                                  </p:tgtEl>
                                </p:cBhvr>
                              </p:animEffect>
                            </p:childTnLst>
                          </p:cTn>
                        </p:par>
                      </p:childTnLst>
                    </p:cTn>
                  </p:par>
                  <p:par>
                    <p:cTn id="7" fill="hold">
                      <p:stCondLst>
                        <p:cond delay="0"/>
                      </p:stCondLst>
                      <p:childTnLst>
                        <p:par>
                          <p:cTn id="8" fill="hold">
                            <p:stCondLst>
                              <p:cond delay="0"/>
                            </p:stCondLst>
                            <p:childTnLst>
                              <p:set>
                                <p:cBhvr>
                                  <p:cTn id="9" dur="1" fill="hold"/>
                                  <p:tgtEl>
                                    <p:spTgt spid="4"/>
                                  </p:tgtEl>
                                  <p:attrNameLst>
                                    <p:attrName>style.visibility</p:attrName>
                                  </p:attrNameLst>
                                </p:cBhvr>
                                <p:to>
                                  <p:strVal val="visible"/>
                                </p:to>
                              </p:set>
                              <p:animEffect transition="in" filter="fade">
                                <p:cBhvr>
                                  <p:cTn id="10" dur="500" fill="hold"/>
                                  <p:tgtEl>
                                    <p:spTgt spid="4"/>
                                  </p:tgtEl>
                                </p:cBhvr>
                              </p:animEffect>
                            </p:childTnLst>
                          </p:cTn>
                        </p:par>
                      </p:childTnLst>
                    </p:cTn>
                  </p:par>
                  <p:par>
                    <p:cTn id="11" fill="hold">
                      <p:stCondLst>
                        <p:cond delay="0"/>
                      </p:stCondLst>
                      <p:childTnLst>
                        <p:par>
                          <p:cTn id="12" fill="hold">
                            <p:stCondLst>
                              <p:cond delay="0"/>
                            </p:stCondLst>
                            <p:childTnLst>
                              <p:set>
                                <p:cBhvr>
                                  <p:cTn id="13" dur="1" fill="hold"/>
                                  <p:tgtEl>
                                    <p:spTgt spid="7"/>
                                  </p:tgtEl>
                                  <p:attrNameLst>
                                    <p:attrName>style.visibility</p:attrName>
                                  </p:attrNameLst>
                                </p:cBhvr>
                                <p:to>
                                  <p:strVal val="visible"/>
                                </p:to>
                              </p:set>
                              <p:animEffect transition="in" filter="fade">
                                <p:cBhvr>
                                  <p:cTn id="14" dur="500" fill="hold"/>
                                  <p:tgtEl>
                                    <p:spTgt spid="7"/>
                                  </p:tgtEl>
                                </p:cBhvr>
                              </p:animEffect>
                            </p:childTnLst>
                          </p:cTn>
                        </p:par>
                      </p:childTnLst>
                    </p:cTn>
                  </p:par>
                  <p:par>
                    <p:cTn id="15" fill="hold">
                      <p:stCondLst>
                        <p:cond delay="0"/>
                      </p:stCondLst>
                      <p:childTnLst>
                        <p:par>
                          <p:cTn id="16" fill="hold">
                            <p:stCondLst>
                              <p:cond delay="0"/>
                            </p:stCondLst>
                            <p:childTnLst>
                              <p:set>
                                <p:cBhvr>
                                  <p:cTn id="17" dur="1" fill="hold"/>
                                  <p:tgtEl>
                                    <p:spTgt spid="8"/>
                                  </p:tgtEl>
                                  <p:attrNameLst>
                                    <p:attrName>style.visibility</p:attrName>
                                  </p:attrNameLst>
                                </p:cBhvr>
                                <p:to>
                                  <p:strVal val="visible"/>
                                </p:to>
                              </p:set>
                              <p:animEffect transition="in" filter="fade">
                                <p:cBhvr>
                                  <p:cTn id="18" dur="500" fill="hold"/>
                                  <p:tgtEl>
                                    <p:spTgt spid="8"/>
                                  </p:tgtEl>
                                </p:cBhvr>
                              </p:animEffect>
                            </p:childTnLst>
                          </p:cTn>
                        </p:par>
                      </p:childTnLst>
                    </p:cTn>
                  </p:par>
                  <p:par>
                    <p:cTn id="19" fill="hold">
                      <p:stCondLst>
                        <p:cond delay="0"/>
                      </p:stCondLst>
                      <p:childTnLst>
                        <p:par>
                          <p:cTn id="20" fill="hold">
                            <p:stCondLst>
                              <p:cond delay="0"/>
                            </p:stCondLst>
                            <p:childTnLst>
                              <p:set>
                                <p:cBhvr>
                                  <p:cTn id="21" dur="1" fill="hold"/>
                                  <p:tgtEl>
                                    <p:spTgt spid="9"/>
                                  </p:tgtEl>
                                  <p:attrNameLst>
                                    <p:attrName>style.visibility</p:attrName>
                                  </p:attrNameLst>
                                </p:cBhvr>
                                <p:to>
                                  <p:strVal val="visible"/>
                                </p:to>
                              </p:set>
                              <p:animEffect transition="in" filter="fade">
                                <p:cBhvr>
                                  <p:cTn id="22" dur="500" fill="hold"/>
                                  <p:tgtEl>
                                    <p:spTgt spid="9"/>
                                  </p:tgtEl>
                                </p:cBhvr>
                              </p:animEffect>
                            </p:childTnLst>
                          </p:cTn>
                        </p:par>
                      </p:childTnLst>
                    </p:cTn>
                  </p:par>
                  <p:par>
                    <p:cTn id="23" fill="hold">
                      <p:stCondLst>
                        <p:cond delay="0"/>
                      </p:stCondLst>
                      <p:childTnLst>
                        <p:par>
                          <p:cTn id="24" fill="hold">
                            <p:stCondLst>
                              <p:cond delay="0"/>
                            </p:stCondLst>
                            <p:childTnLst>
                              <p:set>
                                <p:cBhvr>
                                  <p:cTn id="25" dur="1" fill="hold"/>
                                  <p:tgtEl>
                                    <p:spTgt spid="10"/>
                                  </p:tgtEl>
                                  <p:attrNameLst>
                                    <p:attrName>style.visibility</p:attrName>
                                  </p:attrNameLst>
                                </p:cBhvr>
                                <p:to>
                                  <p:strVal val="visible"/>
                                </p:to>
                              </p:set>
                              <p:animEffect transition="in" filter="fade">
                                <p:cBhvr>
                                  <p:cTn id="26" dur="500" fill="hold"/>
                                  <p:tgtEl>
                                    <p:spTgt spid="10"/>
                                  </p:tgtEl>
                                </p:cBhvr>
                              </p:animEffect>
                            </p:childTnLst>
                          </p:cTn>
                        </p:par>
                      </p:childTnLst>
                    </p:cTn>
                  </p:par>
                  <p:par>
                    <p:cTn id="27" fill="hold">
                      <p:stCondLst>
                        <p:cond delay="0"/>
                      </p:stCondLst>
                      <p:childTnLst>
                        <p:par>
                          <p:cTn id="28" fill="hold">
                            <p:stCondLst>
                              <p:cond delay="0"/>
                            </p:stCondLst>
                            <p:childTnLst>
                              <p:set>
                                <p:cBhvr>
                                  <p:cTn id="29" dur="1" fill="hold"/>
                                  <p:tgtEl>
                                    <p:spTgt spid="11"/>
                                  </p:tgtEl>
                                  <p:attrNameLst>
                                    <p:attrName>style.visibility</p:attrName>
                                  </p:attrNameLst>
                                </p:cBhvr>
                                <p:to>
                                  <p:strVal val="visible"/>
                                </p:to>
                              </p:set>
                              <p:animEffect transition="in" filter="fade">
                                <p:cBhvr>
                                  <p:cTn id="30" dur="500" fill="hold"/>
                                  <p:tgtEl>
                                    <p:spTgt spid="11"/>
                                  </p:tgtEl>
                                </p:cBhvr>
                              </p:animEffect>
                            </p:childTnLst>
                          </p:cTn>
                        </p:par>
                      </p:childTnLst>
                    </p:cTn>
                  </p:par>
                  <p:par>
                    <p:cTn id="31" fill="hold">
                      <p:stCondLst>
                        <p:cond delay="0"/>
                      </p:stCondLst>
                      <p:childTnLst>
                        <p:par>
                          <p:cTn id="32" fill="hold">
                            <p:stCondLst>
                              <p:cond delay="0"/>
                            </p:stCondLst>
                            <p:childTnLst>
                              <p:set>
                                <p:cBhvr>
                                  <p:cTn id="33" dur="1" fill="hold"/>
                                  <p:tgtEl>
                                    <p:spTgt spid="12"/>
                                  </p:tgtEl>
                                  <p:attrNameLst>
                                    <p:attrName>style.visibility</p:attrName>
                                  </p:attrNameLst>
                                </p:cBhvr>
                                <p:to>
                                  <p:strVal val="visible"/>
                                </p:to>
                              </p:set>
                              <p:animEffect transition="in" filter="fade">
                                <p:cBhvr>
                                  <p:cTn id="34" dur="500" fill="hold"/>
                                  <p:tgtEl>
                                    <p:spTgt spid="12"/>
                                  </p:tgtEl>
                                </p:cBhvr>
                              </p:animEffect>
                            </p:childTnLst>
                          </p:cTn>
                        </p:par>
                      </p:childTnLst>
                    </p:cTn>
                  </p:par>
                </p:childTnLst>
              </p:cTn>
              <p:prevCondLst>
                <p:cond evt="onPrev" delay="0">
                  <p:tgtEl>
                    <p:spTgt spid="0"/>
                  </p:tgtEl>
                </p:cond>
              </p:prevCondLst>
              <p:nextCondLst>
                <p:cond evt="onNext" delay="0">
                  <p:tgtEl>
                    <p:spTgt spid="0"/>
                  </p:tgtEl>
                </p:cond>
              </p:nextCondLst>
            </p:seq>
          </p:childTnLst>
        </p:cTn>
      </p:par>
    </p:tnLst>
    <p:bldLst>
      <p:bldSp spid="3" grpId="0" animBg="true"/>
      <p:bldSp spid="4" grpId="0" animBg="true"/>
      <p:bldSp spid="7" grpId="0" animBg="true"/>
      <p:bldSp spid="8" grpId="0" animBg="true"/>
      <p:bldSp spid="9" grpId="0" animBg="true"/>
      <p:bldSp spid="10" grpId="0" animBg="true"/>
      <p:bldSp spid="11" grpId="0" animBg="true"/>
      <p:bldSp spid="12" grpId="0" animBg="true"/>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47472"/>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FFFFF"/>
                </a:solidFill>
                <a:latin typeface="Arial"/>
              </a:rPr>
              <a:t>PART 5: PREDICTIVE ANALYTICS | MANCHIKANTI MOUNEESH KUMAR</a:t>
            </a:r>
          </a:p>
        </p:txBody>
      </p:sp>
      <p:sp>
        <p:nvSpPr>
          <p:cNvPr id="4" name="TextBox 3"/>
          <p:cNvSpPr txBox="1"/>
          <p:nvPr/>
        </p:nvSpPr>
        <p:spPr>
          <a:xfrm>
            <a:off x="731520" y="749808"/>
            <a:ext cx="10698480" cy="868680"/>
          </a:xfrm>
          <a:prstGeom prst="rect">
            <a:avLst/>
          </a:prstGeom>
          <a:noFill/>
        </p:spPr>
        <p:txBody>
          <a:bodyPr wrap="square" lIns="0" tIns="0" rIns="0" bIns="0">
            <a:spAutoFit/>
          </a:bodyPr>
          <a:lstStyle/>
          <a:p>
            <a:r>
              <a:rPr sz="2200" b="1">
                <a:solidFill>
                  <a:srgbClr val="0F172A"/>
                </a:solidFill>
                <a:latin typeface="Arial"/>
              </a:rPr>
              <a:t>Unsupervised Learning: K-Means &amp; PCA (Cells 60–67)</a:t>
            </a:r>
          </a:p>
          <a:p>
            <a:r>
              <a:rPr sz="1300">
                <a:solidFill>
                  <a:srgbClr val="64748B"/>
                </a:solidFill>
                <a:latin typeface="Calibri"/>
              </a:rPr>
              <a:t>Discovering latent meteorological regimes and decomposing atmospheric variance</a:t>
            </a:r>
          </a:p>
        </p:txBody>
      </p:sp>
      <p:sp>
        <p:nvSpPr>
          <p:cNvPr id="5" name="Rectangle 4"/>
          <p:cNvSpPr/>
          <p:nvPr/>
        </p:nvSpPr>
        <p:spPr>
          <a:xfrm>
            <a:off x="731520" y="166420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728655" cy="274320"/>
          </a:xfrm>
          <a:prstGeom prst="rect">
            <a:avLst/>
          </a:prstGeom>
          <a:noFill/>
        </p:spPr>
        <p:txBody>
          <a:bodyPr wrap="none" lIns="0" tIns="0" rIns="0" bIns="0">
            <a:spAutoFit/>
          </a:bodyPr>
          <a:lstStyle/>
          <a:p>
            <a:r>
              <a:rPr sz="1000">
                <a:solidFill>
                  <a:srgbClr val="64748B"/>
                </a:solidFill>
                <a:latin typeface="Calibri"/>
              </a:rPr>
              <a:t>Foundations of Data Science (FDS) Course Project | Team 252U1R</a:t>
            </a:r>
            <a:r>
              <a:t>                                                                                               </a:t>
            </a:r>
            <a:r>
              <a:rPr sz="1000" b="1">
                <a:solidFill>
                  <a:srgbClr val="E11D48"/>
                </a:solidFill>
                <a:latin typeface="Calibri"/>
              </a:rPr>
              <a:t>Slide 16 of 20</a:t>
            </a:r>
          </a:p>
        </p:txBody>
      </p:sp>
      <p:pic>
        <p:nvPicPr>
          <p:cNvPr id="7" name="Picture 6" descr="cell_62_out_0.png"/>
          <p:cNvPicPr>
            <a:picLocks noChangeAspect="1"/>
          </p:cNvPicPr>
          <p:nvPr/>
        </p:nvPicPr>
        <p:blipFill>
          <a:blip r:embed="rId2"/>
          <a:stretch>
            <a:fillRect/>
          </a:stretch>
        </p:blipFill>
        <p:spPr>
          <a:xfrm>
            <a:off x="731520" y="1920240"/>
            <a:ext cx="3383280" cy="2468880"/>
          </a:xfrm>
          <a:prstGeom prst="rect">
            <a:avLst/>
          </a:prstGeom>
        </p:spPr>
      </p:pic>
      <p:pic>
        <p:nvPicPr>
          <p:cNvPr id="8" name="Picture 7" descr="cell_65_out_0.png"/>
          <p:cNvPicPr>
            <a:picLocks noChangeAspect="1"/>
          </p:cNvPicPr>
          <p:nvPr/>
        </p:nvPicPr>
        <p:blipFill>
          <a:blip r:embed="rId3"/>
          <a:stretch>
            <a:fillRect/>
          </a:stretch>
        </p:blipFill>
        <p:spPr>
          <a:xfrm>
            <a:off x="4389120" y="1920240"/>
            <a:ext cx="3383280" cy="2468880"/>
          </a:xfrm>
          <a:prstGeom prst="rect">
            <a:avLst/>
          </a:prstGeom>
        </p:spPr>
      </p:pic>
      <p:pic>
        <p:nvPicPr>
          <p:cNvPr id="9" name="Picture 8" descr="cell_67_out_0.png"/>
          <p:cNvPicPr>
            <a:picLocks noChangeAspect="1"/>
          </p:cNvPicPr>
          <p:nvPr/>
        </p:nvPicPr>
        <p:blipFill>
          <a:blip r:embed="rId4"/>
          <a:stretch>
            <a:fillRect/>
          </a:stretch>
        </p:blipFill>
        <p:spPr>
          <a:xfrm>
            <a:off x="8046720" y="1920240"/>
            <a:ext cx="3383280" cy="2468880"/>
          </a:xfrm>
          <a:prstGeom prst="rect">
            <a:avLst/>
          </a:prstGeom>
        </p:spPr>
      </p:pic>
      <p:sp>
        <p:nvSpPr>
          <p:cNvPr id="10" name="Rounded Rectangle 9"/>
          <p:cNvSpPr/>
          <p:nvPr/>
        </p:nvSpPr>
        <p:spPr>
          <a:xfrm>
            <a:off x="731520" y="4572000"/>
            <a:ext cx="10728655" cy="173736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l"/>
            <a:r>
              <a:rPr sz="1200" b="1">
                <a:solidFill>
                  <a:srgbClr val="0F172A"/>
                </a:solidFill>
                <a:latin typeface="Arial"/>
              </a:rPr>
              <a:t>UNSUPERVISED CLUSTER &amp; PCA DECOMPOSITION ANALYSIS:</a:t>
            </a:r>
          </a:p>
          <a:p>
            <a:pPr algn="l"/>
            <a:r>
              <a:rPr sz="1150" b="1">
                <a:solidFill>
                  <a:srgbClr val="E11D48"/>
                </a:solidFill>
                <a:latin typeface="Calibri"/>
              </a:rPr>
              <a:t>1. K-Means Elbow Method (k=2 to 7): </a:t>
            </a:r>
            <a:r>
              <a:rPr sz="1100" b="0">
                <a:solidFill>
                  <a:srgbClr val="334155"/>
                </a:solidFill>
                <a:latin typeface="Calibri"/>
              </a:rPr>
              <a:t>Clear knee inflection at k = 4 regimes. Evaluated silhouette score of 0.2842.
</a:t>
            </a:r>
            <a:r>
              <a:rPr sz="1150" b="1">
                <a:solidFill>
                  <a:srgbClr val="E11D48"/>
                </a:solidFill>
                <a:latin typeface="Calibri"/>
              </a:rPr>
              <a:t>2. Four Meteorological Regimes: </a:t>
            </a:r>
            <a:r>
              <a:rPr sz="1100" b="0">
                <a:solidFill>
                  <a:srgbClr val="334155"/>
                </a:solidFill>
                <a:latin typeface="Calibri"/>
              </a:rPr>
              <a:t>Cluster 0: Warm &amp; Dry Summer Days | Cluster 1: Cold &amp; Saturated Winter Freezes | Cluster 2: Moderate Overcast Transitional | Cluster 3: High-Wind Stormy Events.
</a:t>
            </a:r>
            <a:r>
              <a:rPr sz="1150" b="1">
                <a:solidFill>
                  <a:srgbClr val="E11D48"/>
                </a:solidFill>
                <a:latin typeface="Calibri"/>
              </a:rPr>
              <a:t>3. PCA Variance Explained: </a:t>
            </a:r>
            <a:r>
              <a:rPr sz="1100" b="0">
                <a:solidFill>
                  <a:srgbClr val="334155"/>
                </a:solidFill>
                <a:latin typeface="Calibri"/>
              </a:rPr>
              <a:t>PC1 explains 46.90% (Thermal-Moisture axis), PC2 explains 26.46% (Pressure-Wind axis), PC3 explains 20.82%, PC4 explains 5.82%. Cumulative top 3 PCs capture 94.18% of total atmospheric variance.</a:t>
            </a:r>
          </a:p>
        </p:txBody>
      </p:sp>
    </p:spTree>
  </p:cSld>
  <p:clrMapOvr>
    <a:masterClrMapping/>
  </p:clrMapOvr>
  <p:transition spd="med" advClick="1">
    <p:fade/>
  </p:transition>
  <p:timing>
    <p:tnLst>
      <p:par>
        <p:cTn id="1" dur="indefinite" restart="always"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tgtEl>
                                    <p:spTgt spid="3"/>
                                  </p:tgtEl>
                                  <p:attrNameLst>
                                    <p:attrName>style.visibility</p:attrName>
                                  </p:attrNameLst>
                                </p:cBhvr>
                                <p:to>
                                  <p:strVal val="visible"/>
                                </p:to>
                              </p:set>
                              <p:animEffect transition="in" filter="fade">
                                <p:cBhvr>
                                  <p:cTn id="6" dur="500" fill="hold"/>
                                  <p:tgtEl>
                                    <p:spTgt spid="3"/>
                                  </p:tgtEl>
                                </p:cBhvr>
                              </p:animEffect>
                            </p:childTnLst>
                          </p:cTn>
                        </p:par>
                      </p:childTnLst>
                    </p:cTn>
                  </p:par>
                  <p:par>
                    <p:cTn id="7" fill="hold">
                      <p:stCondLst>
                        <p:cond delay="0"/>
                      </p:stCondLst>
                      <p:childTnLst>
                        <p:par>
                          <p:cTn id="8" fill="hold">
                            <p:stCondLst>
                              <p:cond delay="0"/>
                            </p:stCondLst>
                            <p:childTnLst>
                              <p:set>
                                <p:cBhvr>
                                  <p:cTn id="9" dur="1" fill="hold"/>
                                  <p:tgtEl>
                                    <p:spTgt spid="4"/>
                                  </p:tgtEl>
                                  <p:attrNameLst>
                                    <p:attrName>style.visibility</p:attrName>
                                  </p:attrNameLst>
                                </p:cBhvr>
                                <p:to>
                                  <p:strVal val="visible"/>
                                </p:to>
                              </p:set>
                              <p:animEffect transition="in" filter="fade">
                                <p:cBhvr>
                                  <p:cTn id="10" dur="500" fill="hold"/>
                                  <p:tgtEl>
                                    <p:spTgt spid="4"/>
                                  </p:tgtEl>
                                </p:cBhvr>
                              </p:animEffect>
                            </p:childTnLst>
                          </p:cTn>
                        </p:par>
                      </p:childTnLst>
                    </p:cTn>
                  </p:par>
                  <p:par>
                    <p:cTn id="11" fill="hold">
                      <p:stCondLst>
                        <p:cond delay="0"/>
                      </p:stCondLst>
                      <p:childTnLst>
                        <p:par>
                          <p:cTn id="12" fill="hold">
                            <p:stCondLst>
                              <p:cond delay="0"/>
                            </p:stCondLst>
                            <p:childTnLst>
                              <p:set>
                                <p:cBhvr>
                                  <p:cTn id="13" dur="1" fill="hold"/>
                                  <p:tgtEl>
                                    <p:spTgt spid="7"/>
                                  </p:tgtEl>
                                  <p:attrNameLst>
                                    <p:attrName>style.visibility</p:attrName>
                                  </p:attrNameLst>
                                </p:cBhvr>
                                <p:to>
                                  <p:strVal val="visible"/>
                                </p:to>
                              </p:set>
                              <p:animEffect transition="in" filter="fade">
                                <p:cBhvr>
                                  <p:cTn id="14" dur="500" fill="hold"/>
                                  <p:tgtEl>
                                    <p:spTgt spid="7"/>
                                  </p:tgtEl>
                                </p:cBhvr>
                              </p:animEffect>
                            </p:childTnLst>
                          </p:cTn>
                        </p:par>
                      </p:childTnLst>
                    </p:cTn>
                  </p:par>
                  <p:par>
                    <p:cTn id="15" fill="hold">
                      <p:stCondLst>
                        <p:cond delay="0"/>
                      </p:stCondLst>
                      <p:childTnLst>
                        <p:par>
                          <p:cTn id="16" fill="hold">
                            <p:stCondLst>
                              <p:cond delay="0"/>
                            </p:stCondLst>
                            <p:childTnLst>
                              <p:set>
                                <p:cBhvr>
                                  <p:cTn id="17" dur="1" fill="hold"/>
                                  <p:tgtEl>
                                    <p:spTgt spid="8"/>
                                  </p:tgtEl>
                                  <p:attrNameLst>
                                    <p:attrName>style.visibility</p:attrName>
                                  </p:attrNameLst>
                                </p:cBhvr>
                                <p:to>
                                  <p:strVal val="visible"/>
                                </p:to>
                              </p:set>
                              <p:animEffect transition="in" filter="fade">
                                <p:cBhvr>
                                  <p:cTn id="18" dur="500" fill="hold"/>
                                  <p:tgtEl>
                                    <p:spTgt spid="8"/>
                                  </p:tgtEl>
                                </p:cBhvr>
                              </p:animEffect>
                            </p:childTnLst>
                          </p:cTn>
                        </p:par>
                      </p:childTnLst>
                    </p:cTn>
                  </p:par>
                  <p:par>
                    <p:cTn id="19" fill="hold">
                      <p:stCondLst>
                        <p:cond delay="0"/>
                      </p:stCondLst>
                      <p:childTnLst>
                        <p:par>
                          <p:cTn id="20" fill="hold">
                            <p:stCondLst>
                              <p:cond delay="0"/>
                            </p:stCondLst>
                            <p:childTnLst>
                              <p:set>
                                <p:cBhvr>
                                  <p:cTn id="21" dur="1" fill="hold"/>
                                  <p:tgtEl>
                                    <p:spTgt spid="9"/>
                                  </p:tgtEl>
                                  <p:attrNameLst>
                                    <p:attrName>style.visibility</p:attrName>
                                  </p:attrNameLst>
                                </p:cBhvr>
                                <p:to>
                                  <p:strVal val="visible"/>
                                </p:to>
                              </p:set>
                              <p:animEffect transition="in" filter="fade">
                                <p:cBhvr>
                                  <p:cTn id="22" dur="500" fill="hold"/>
                                  <p:tgtEl>
                                    <p:spTgt spid="9"/>
                                  </p:tgtEl>
                                </p:cBhvr>
                              </p:animEffect>
                            </p:childTnLst>
                          </p:cTn>
                        </p:par>
                      </p:childTnLst>
                    </p:cTn>
                  </p:par>
                  <p:par>
                    <p:cTn id="23" fill="hold">
                      <p:stCondLst>
                        <p:cond delay="0"/>
                      </p:stCondLst>
                      <p:childTnLst>
                        <p:par>
                          <p:cTn id="24" fill="hold">
                            <p:stCondLst>
                              <p:cond delay="0"/>
                            </p:stCondLst>
                            <p:childTnLst>
                              <p:set>
                                <p:cBhvr>
                                  <p:cTn id="25" dur="1" fill="hold"/>
                                  <p:tgtEl>
                                    <p:spTgt spid="10"/>
                                  </p:tgtEl>
                                  <p:attrNameLst>
                                    <p:attrName>style.visibility</p:attrName>
                                  </p:attrNameLst>
                                </p:cBhvr>
                                <p:to>
                                  <p:strVal val="visible"/>
                                </p:to>
                              </p:set>
                              <p:animEffect transition="in" filter="fade">
                                <p:cBhvr>
                                  <p:cTn id="26" dur="500" fill="hold"/>
                                  <p:tgtEl>
                                    <p:spTgt spid="10"/>
                                  </p:tgtEl>
                                </p:cBhvr>
                              </p:animEffect>
                            </p:childTnLst>
                          </p:cTn>
                        </p:par>
                      </p:childTnLst>
                    </p:cTn>
                  </p:par>
                </p:childTnLst>
              </p:cTn>
              <p:prevCondLst>
                <p:cond evt="onPrev" delay="0">
                  <p:tgtEl>
                    <p:spTgt spid="0"/>
                  </p:tgtEl>
                </p:cond>
              </p:prevCondLst>
              <p:nextCondLst>
                <p:cond evt="onNext" delay="0">
                  <p:tgtEl>
                    <p:spTgt spid="0"/>
                  </p:tgtEl>
                </p:cond>
              </p:nextCondLst>
            </p:seq>
          </p:childTnLst>
        </p:cTn>
      </p:par>
    </p:tnLst>
    <p:bldLst>
      <p:bldSp spid="3" grpId="0" animBg="true"/>
      <p:bldSp spid="4" grpId="0" animBg="true"/>
      <p:bldSp spid="7" grpId="0" animBg="true"/>
      <p:bldSp spid="8" grpId="0" animBg="true"/>
      <p:bldSp spid="9" grpId="0" animBg="true"/>
      <p:bldSp spid="10" grpId="0" animBg="true"/>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47472"/>
          </a:xfrm>
          <a:prstGeom prst="round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FFFFF"/>
                </a:solidFill>
                <a:latin typeface="Arial"/>
              </a:rPr>
              <a:t>PART 5: PREDICTIVE ANALYTICS | MANCHIKANTI MOUNEESH KUMAR</a:t>
            </a:r>
          </a:p>
        </p:txBody>
      </p:sp>
      <p:sp>
        <p:nvSpPr>
          <p:cNvPr id="4" name="TextBox 3"/>
          <p:cNvSpPr txBox="1"/>
          <p:nvPr/>
        </p:nvSpPr>
        <p:spPr>
          <a:xfrm>
            <a:off x="731520" y="749808"/>
            <a:ext cx="10698480" cy="868680"/>
          </a:xfrm>
          <a:prstGeom prst="rect">
            <a:avLst/>
          </a:prstGeom>
          <a:noFill/>
        </p:spPr>
        <p:txBody>
          <a:bodyPr wrap="square" lIns="0" tIns="0" rIns="0" bIns="0">
            <a:spAutoFit/>
          </a:bodyPr>
          <a:lstStyle/>
          <a:p>
            <a:r>
              <a:rPr sz="2200" b="1">
                <a:solidFill>
                  <a:srgbClr val="0F172A"/>
                </a:solidFill>
                <a:latin typeface="Arial"/>
              </a:rPr>
              <a:t>Multi-Panel Dashboard Wrap-Up &amp; Metric Summary (Cells 68–69)</a:t>
            </a:r>
          </a:p>
          <a:p>
            <a:r>
              <a:rPr sz="1300">
                <a:solidFill>
                  <a:srgbClr val="64748B"/>
                </a:solidFill>
                <a:latin typeface="Calibri"/>
              </a:rPr>
              <a:t>Consolidating visual insights into a master analytical dashboard and final metric ledger</a:t>
            </a:r>
          </a:p>
        </p:txBody>
      </p:sp>
      <p:sp>
        <p:nvSpPr>
          <p:cNvPr id="5" name="Rectangle 4"/>
          <p:cNvSpPr/>
          <p:nvPr/>
        </p:nvSpPr>
        <p:spPr>
          <a:xfrm>
            <a:off x="731520" y="166420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728655" cy="274320"/>
          </a:xfrm>
          <a:prstGeom prst="rect">
            <a:avLst/>
          </a:prstGeom>
          <a:noFill/>
        </p:spPr>
        <p:txBody>
          <a:bodyPr wrap="none" lIns="0" tIns="0" rIns="0" bIns="0">
            <a:spAutoFit/>
          </a:bodyPr>
          <a:lstStyle/>
          <a:p>
            <a:r>
              <a:rPr sz="1000">
                <a:solidFill>
                  <a:srgbClr val="64748B"/>
                </a:solidFill>
                <a:latin typeface="Calibri"/>
              </a:rPr>
              <a:t>Foundations of Data Science (FDS) Course Project | Team 252U1R</a:t>
            </a:r>
            <a:r>
              <a:t>                                                                                               </a:t>
            </a:r>
            <a:r>
              <a:rPr sz="1000" b="1">
                <a:solidFill>
                  <a:srgbClr val="E11D48"/>
                </a:solidFill>
                <a:latin typeface="Calibri"/>
              </a:rPr>
              <a:t>Slide 17 of 20</a:t>
            </a:r>
          </a:p>
        </p:txBody>
      </p:sp>
      <p:pic>
        <p:nvPicPr>
          <p:cNvPr id="7" name="Picture 6" descr="cell_68_out_0.png"/>
          <p:cNvPicPr>
            <a:picLocks noChangeAspect="1"/>
          </p:cNvPicPr>
          <p:nvPr/>
        </p:nvPicPr>
        <p:blipFill>
          <a:blip r:embed="rId2"/>
          <a:stretch>
            <a:fillRect/>
          </a:stretch>
        </p:blipFill>
        <p:spPr>
          <a:xfrm>
            <a:off x="731520" y="1920240"/>
            <a:ext cx="5669280" cy="4389120"/>
          </a:xfrm>
          <a:prstGeom prst="rect">
            <a:avLst/>
          </a:prstGeom>
        </p:spPr>
      </p:pic>
      <p:sp>
        <p:nvSpPr>
          <p:cNvPr id="8" name="Rounded Rectangle 7"/>
          <p:cNvSpPr/>
          <p:nvPr/>
        </p:nvSpPr>
        <p:spPr>
          <a:xfrm>
            <a:off x="6629400" y="1920240"/>
            <a:ext cx="4800600" cy="43891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l"/>
            <a:r>
              <a:rPr sz="1200" b="1">
                <a:solidFill>
                  <a:srgbClr val="0F172A"/>
                </a:solidFill>
                <a:latin typeface="Arial"/>
              </a:rPr>
              <a:t>MASTER ANALYTICAL METRICS TABLE (CELL 69)</a:t>
            </a:r>
          </a:p>
          <a:p>
            <a:pPr algn="l"/>
            <a:r>
              <a:rPr sz="600" b="0">
                <a:latin typeface="Calibri"/>
              </a:rPr>
              <a:t/>
            </a:r>
          </a:p>
          <a:p>
            <a:pPr algn="l"/>
            <a:r>
              <a:rPr sz="1150" b="1">
                <a:solidFill>
                  <a:srgbClr val="E11D48"/>
                </a:solidFill>
                <a:latin typeface="Calibri"/>
              </a:rPr>
              <a:t>Regression Performance (Apparent Temperature):
</a:t>
            </a:r>
          </a:p>
          <a:p>
            <a:pPr algn="l"/>
            <a:r>
              <a:rPr sz="1100" b="0">
                <a:solidFill>
                  <a:srgbClr val="334155"/>
                </a:solidFill>
                <a:latin typeface="Calibri"/>
              </a:rPr>
              <a:t>• R² Score: 0.989973 (Captures 99.0% variance)
• Root Mean Squared Error (RMSE): 1.080174°C
• Mean Absolute Error (MAE): 0.846844°C
</a:t>
            </a:r>
          </a:p>
          <a:p>
            <a:pPr algn="l"/>
            <a:r>
              <a:rPr sz="1150" b="1">
                <a:solidFill>
                  <a:srgbClr val="E11D48"/>
                </a:solidFill>
                <a:latin typeface="Calibri"/>
              </a:rPr>
              <a:t>Classification Performance (Rain vs. Snow):
</a:t>
            </a:r>
          </a:p>
          <a:p>
            <a:pPr algn="l"/>
            <a:r>
              <a:rPr sz="1100" b="0">
                <a:solidFill>
                  <a:srgbClr val="334155"/>
                </a:solidFill>
                <a:latin typeface="Calibri"/>
              </a:rPr>
              <a:t>• Classification Accuracy: 0.995768 (99.58%)
• Classification Precision: 0.997218 (99.72%)
• Classification Recall: 0.997958 (99.80%)
• Classification F1-Score: 0.997588 (99.76%)
</a:t>
            </a:r>
          </a:p>
          <a:p>
            <a:pPr algn="l"/>
            <a:r>
              <a:rPr sz="1150" b="1">
                <a:solidFill>
                  <a:srgbClr val="E11D48"/>
                </a:solidFill>
                <a:latin typeface="Calibri"/>
              </a:rPr>
              <a:t>Unsupervised Clustering:
</a:t>
            </a:r>
          </a:p>
          <a:p>
            <a:pPr algn="l"/>
            <a:r>
              <a:rPr sz="1100" b="0">
                <a:solidFill>
                  <a:srgbClr val="334155"/>
                </a:solidFill>
                <a:latin typeface="Calibri"/>
              </a:rPr>
              <a:t>• Best Silhouette Score (k=4): 0.284216
• PCA Top-3 Explained Variance: 94.18%</a:t>
            </a:r>
          </a:p>
        </p:txBody>
      </p:sp>
    </p:spTree>
  </p:cSld>
  <p:clrMapOvr>
    <a:masterClrMapping/>
  </p:clrMapOvr>
  <p:transition spd="med" advClick="1">
    <p:fade/>
  </p:transition>
  <p:timing>
    <p:tnLst>
      <p:par>
        <p:cTn id="1" dur="indefinite" restart="always"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tgtEl>
                                    <p:spTgt spid="3"/>
                                  </p:tgtEl>
                                  <p:attrNameLst>
                                    <p:attrName>style.visibility</p:attrName>
                                  </p:attrNameLst>
                                </p:cBhvr>
                                <p:to>
                                  <p:strVal val="visible"/>
                                </p:to>
                              </p:set>
                              <p:animEffect transition="in" filter="fade">
                                <p:cBhvr>
                                  <p:cTn id="6" dur="500" fill="hold"/>
                                  <p:tgtEl>
                                    <p:spTgt spid="3"/>
                                  </p:tgtEl>
                                </p:cBhvr>
                              </p:animEffect>
                            </p:childTnLst>
                          </p:cTn>
                        </p:par>
                      </p:childTnLst>
                    </p:cTn>
                  </p:par>
                  <p:par>
                    <p:cTn id="7" fill="hold">
                      <p:stCondLst>
                        <p:cond delay="0"/>
                      </p:stCondLst>
                      <p:childTnLst>
                        <p:par>
                          <p:cTn id="8" fill="hold">
                            <p:stCondLst>
                              <p:cond delay="0"/>
                            </p:stCondLst>
                            <p:childTnLst>
                              <p:set>
                                <p:cBhvr>
                                  <p:cTn id="9" dur="1" fill="hold"/>
                                  <p:tgtEl>
                                    <p:spTgt spid="4"/>
                                  </p:tgtEl>
                                  <p:attrNameLst>
                                    <p:attrName>style.visibility</p:attrName>
                                  </p:attrNameLst>
                                </p:cBhvr>
                                <p:to>
                                  <p:strVal val="visible"/>
                                </p:to>
                              </p:set>
                              <p:animEffect transition="in" filter="fade">
                                <p:cBhvr>
                                  <p:cTn id="10" dur="500" fill="hold"/>
                                  <p:tgtEl>
                                    <p:spTgt spid="4"/>
                                  </p:tgtEl>
                                </p:cBhvr>
                              </p:animEffect>
                            </p:childTnLst>
                          </p:cTn>
                        </p:par>
                      </p:childTnLst>
                    </p:cTn>
                  </p:par>
                  <p:par>
                    <p:cTn id="11" fill="hold">
                      <p:stCondLst>
                        <p:cond delay="0"/>
                      </p:stCondLst>
                      <p:childTnLst>
                        <p:par>
                          <p:cTn id="12" fill="hold">
                            <p:stCondLst>
                              <p:cond delay="0"/>
                            </p:stCondLst>
                            <p:childTnLst>
                              <p:set>
                                <p:cBhvr>
                                  <p:cTn id="13" dur="1" fill="hold"/>
                                  <p:tgtEl>
                                    <p:spTgt spid="7"/>
                                  </p:tgtEl>
                                  <p:attrNameLst>
                                    <p:attrName>style.visibility</p:attrName>
                                  </p:attrNameLst>
                                </p:cBhvr>
                                <p:to>
                                  <p:strVal val="visible"/>
                                </p:to>
                              </p:set>
                              <p:animEffect transition="in" filter="fade">
                                <p:cBhvr>
                                  <p:cTn id="14" dur="500" fill="hold"/>
                                  <p:tgtEl>
                                    <p:spTgt spid="7"/>
                                  </p:tgtEl>
                                </p:cBhvr>
                              </p:animEffect>
                            </p:childTnLst>
                          </p:cTn>
                        </p:par>
                      </p:childTnLst>
                    </p:cTn>
                  </p:par>
                  <p:par>
                    <p:cTn id="15" fill="hold">
                      <p:stCondLst>
                        <p:cond delay="0"/>
                      </p:stCondLst>
                      <p:childTnLst>
                        <p:par>
                          <p:cTn id="16" fill="hold">
                            <p:stCondLst>
                              <p:cond delay="0"/>
                            </p:stCondLst>
                            <p:childTnLst>
                              <p:set>
                                <p:cBhvr>
                                  <p:cTn id="17" dur="1" fill="hold"/>
                                  <p:tgtEl>
                                    <p:spTgt spid="8"/>
                                  </p:tgtEl>
                                  <p:attrNameLst>
                                    <p:attrName>style.visibility</p:attrName>
                                  </p:attrNameLst>
                                </p:cBhvr>
                                <p:to>
                                  <p:strVal val="visible"/>
                                </p:to>
                              </p:set>
                              <p:animEffect transition="in" filter="fade">
                                <p:cBhvr>
                                  <p:cTn id="18" dur="500" fill="hold"/>
                                  <p:tgtEl>
                                    <p:spTgt spid="8"/>
                                  </p:tgtEl>
                                </p:cBhvr>
                              </p:animEffect>
                            </p:childTnLst>
                          </p:cTn>
                        </p:par>
                      </p:childTnLst>
                    </p:cTn>
                  </p:par>
                </p:childTnLst>
              </p:cTn>
              <p:prevCondLst>
                <p:cond evt="onPrev" delay="0">
                  <p:tgtEl>
                    <p:spTgt spid="0"/>
                  </p:tgtEl>
                </p:cond>
              </p:prevCondLst>
              <p:nextCondLst>
                <p:cond evt="onNext" delay="0">
                  <p:tgtEl>
                    <p:spTgt spid="0"/>
                  </p:tgtEl>
                </p:cond>
              </p:nextCondLst>
            </p:seq>
          </p:childTnLst>
        </p:cTn>
      </p:par>
    </p:tnLst>
    <p:bldLst>
      <p:bldSp spid="3" grpId="0" animBg="true"/>
      <p:bldSp spid="4" grpId="0" animBg="true"/>
      <p:bldSp spid="7" grpId="0" animBg="true"/>
      <p:bldSp spid="8" grpId="0" animBg="true"/>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47472"/>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FFFFF"/>
                </a:solidFill>
                <a:latin typeface="Arial"/>
              </a:rPr>
              <a:t>PART 6: RESEARCH LITERATURE | DHANASRI RAGHAVENDER REDDY</a:t>
            </a:r>
          </a:p>
        </p:txBody>
      </p:sp>
      <p:sp>
        <p:nvSpPr>
          <p:cNvPr id="4" name="TextBox 3"/>
          <p:cNvSpPr txBox="1"/>
          <p:nvPr/>
        </p:nvSpPr>
        <p:spPr>
          <a:xfrm>
            <a:off x="731520" y="749808"/>
            <a:ext cx="10698480" cy="868680"/>
          </a:xfrm>
          <a:prstGeom prst="rect">
            <a:avLst/>
          </a:prstGeom>
          <a:noFill/>
        </p:spPr>
        <p:txBody>
          <a:bodyPr wrap="square" lIns="0" tIns="0" rIns="0" bIns="0">
            <a:spAutoFit/>
          </a:bodyPr>
          <a:lstStyle/>
          <a:p>
            <a:r>
              <a:rPr sz="2200" b="1">
                <a:solidFill>
                  <a:srgbClr val="0F172A"/>
                </a:solidFill>
                <a:latin typeface="Arial"/>
              </a:rPr>
              <a:t>Contemporary Research Literature &amp; Theoretical Grounding</a:t>
            </a:r>
          </a:p>
          <a:p>
            <a:r>
              <a:rPr sz="1300">
                <a:solidFill>
                  <a:srgbClr val="64748B"/>
                </a:solidFill>
                <a:latin typeface="Calibri"/>
              </a:rPr>
              <a:t>Situating project methodology against 5 landmark peer-reviewed publications</a:t>
            </a:r>
          </a:p>
        </p:txBody>
      </p:sp>
      <p:sp>
        <p:nvSpPr>
          <p:cNvPr id="5" name="Rectangle 4"/>
          <p:cNvSpPr/>
          <p:nvPr/>
        </p:nvSpPr>
        <p:spPr>
          <a:xfrm>
            <a:off x="731520" y="166420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728655" cy="274320"/>
          </a:xfrm>
          <a:prstGeom prst="rect">
            <a:avLst/>
          </a:prstGeom>
          <a:noFill/>
        </p:spPr>
        <p:txBody>
          <a:bodyPr wrap="none" lIns="0" tIns="0" rIns="0" bIns="0">
            <a:spAutoFit/>
          </a:bodyPr>
          <a:lstStyle/>
          <a:p>
            <a:r>
              <a:rPr sz="1000">
                <a:solidFill>
                  <a:srgbClr val="64748B"/>
                </a:solidFill>
                <a:latin typeface="Calibri"/>
              </a:rPr>
              <a:t>Foundations of Data Science (FDS) Course Project | Team 252U1R</a:t>
            </a:r>
            <a:r>
              <a:t>                                                                                               </a:t>
            </a:r>
            <a:r>
              <a:rPr sz="1000" b="1">
                <a:solidFill>
                  <a:srgbClr val="4F46E5"/>
                </a:solidFill>
                <a:latin typeface="Calibri"/>
              </a:rPr>
              <a:t>Slide 18 of 20</a:t>
            </a:r>
          </a:p>
        </p:txBody>
      </p:sp>
      <p:sp>
        <p:nvSpPr>
          <p:cNvPr id="7" name="Rounded Rectangle 6"/>
          <p:cNvSpPr/>
          <p:nvPr/>
        </p:nvSpPr>
        <p:spPr>
          <a:xfrm>
            <a:off x="731520" y="1874519"/>
            <a:ext cx="10728655" cy="80467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l"/>
            <a:r>
              <a:rPr sz="1200" b="1">
                <a:solidFill>
                  <a:srgbClr val="0F172A"/>
                </a:solidFill>
                <a:latin typeface="Arial"/>
              </a:rPr>
              <a:t>1. Zubair et al. (2024)  |  </a:t>
            </a:r>
            <a:r>
              <a:rPr sz="1100" b="1">
                <a:solidFill>
                  <a:srgbClr val="4F46E5"/>
                </a:solidFill>
                <a:latin typeface="Arial"/>
              </a:rPr>
              <a:t>Data in Brief, ScienceDirect
</a:t>
            </a:r>
            <a:r>
              <a:rPr sz="1050" b="0">
                <a:solidFill>
                  <a:srgbClr val="334155"/>
                </a:solidFill>
                <a:latin typeface="Calibri"/>
              </a:rPr>
              <a:t>Meteorological sensor dataset architectures, anomaly detection protocols, and missing sensor dropout imputation methodologies for automated climate monitoring.</a:t>
            </a:r>
          </a:p>
        </p:txBody>
      </p:sp>
      <p:sp>
        <p:nvSpPr>
          <p:cNvPr id="8" name="Rounded Rectangle 7"/>
          <p:cNvSpPr/>
          <p:nvPr/>
        </p:nvSpPr>
        <p:spPr>
          <a:xfrm>
            <a:off x="731520" y="2752344"/>
            <a:ext cx="10728655" cy="80467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l"/>
            <a:r>
              <a:rPr sz="1200" b="1">
                <a:solidFill>
                  <a:srgbClr val="0F172A"/>
                </a:solidFill>
                <a:latin typeface="Arial"/>
              </a:rPr>
              <a:t>2. Shrivastava et al. (2023)  |  </a:t>
            </a:r>
            <a:r>
              <a:rPr sz="1100" b="1">
                <a:solidFill>
                  <a:srgbClr val="4F46E5"/>
                </a:solidFill>
                <a:latin typeface="Arial"/>
              </a:rPr>
              <a:t>Journal of Forecasting, Wiley
</a:t>
            </a:r>
            <a:r>
              <a:rPr sz="1050" b="0">
                <a:solidFill>
                  <a:srgbClr val="334155"/>
                </a:solidFill>
                <a:latin typeface="Calibri"/>
              </a:rPr>
              <a:t>Advanced atmospheric time series forecasting and non-linear regression models predicting apparent temperature and human thermal comfort indices.</a:t>
            </a:r>
          </a:p>
        </p:txBody>
      </p:sp>
      <p:sp>
        <p:nvSpPr>
          <p:cNvPr id="9" name="Rounded Rectangle 8"/>
          <p:cNvSpPr/>
          <p:nvPr/>
        </p:nvSpPr>
        <p:spPr>
          <a:xfrm>
            <a:off x="731520" y="3630168"/>
            <a:ext cx="10728655" cy="80467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l"/>
            <a:r>
              <a:rPr sz="1200" b="1">
                <a:solidFill>
                  <a:srgbClr val="0F172A"/>
                </a:solidFill>
                <a:latin typeface="Arial"/>
              </a:rPr>
              <a:t>3. Jain et al. (2022)  |  </a:t>
            </a:r>
            <a:r>
              <a:rPr sz="1100" b="1">
                <a:solidFill>
                  <a:srgbClr val="4F46E5"/>
                </a:solidFill>
                <a:latin typeface="Arial"/>
              </a:rPr>
              <a:t>Materials Today: Proceedings, ScienceDirect
</a:t>
            </a:r>
            <a:r>
              <a:rPr sz="1050" b="0">
                <a:solidFill>
                  <a:srgbClr val="334155"/>
                </a:solidFill>
                <a:latin typeface="Calibri"/>
              </a:rPr>
              <a:t>Predictive analytics on multi-sensor weather telemetry, empirical temperature-humidity covariance models, and statistical feature engineering.</a:t>
            </a:r>
          </a:p>
        </p:txBody>
      </p:sp>
      <p:sp>
        <p:nvSpPr>
          <p:cNvPr id="10" name="Rounded Rectangle 9"/>
          <p:cNvSpPr/>
          <p:nvPr/>
        </p:nvSpPr>
        <p:spPr>
          <a:xfrm>
            <a:off x="731520" y="4507992"/>
            <a:ext cx="10728655" cy="80467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l"/>
            <a:r>
              <a:rPr sz="1200" b="1">
                <a:solidFill>
                  <a:srgbClr val="0F172A"/>
                </a:solidFill>
                <a:latin typeface="Arial"/>
              </a:rPr>
              <a:t>4. İşler, Kaya &amp; Kılıç (2025)  |  </a:t>
            </a:r>
            <a:r>
              <a:rPr sz="1100" b="1">
                <a:solidFill>
                  <a:srgbClr val="4F46E5"/>
                </a:solidFill>
                <a:latin typeface="Arial"/>
              </a:rPr>
              <a:t>Sensors, MDPI
</a:t>
            </a:r>
            <a:r>
              <a:rPr sz="1050" b="0">
                <a:solidFill>
                  <a:srgbClr val="334155"/>
                </a:solidFill>
                <a:latin typeface="Calibri"/>
              </a:rPr>
              <a:t>IoT environmental telemetry, automated barometric pressure outlier filtration, and high-precision machine learning classification of precipitation states.</a:t>
            </a:r>
          </a:p>
        </p:txBody>
      </p:sp>
      <p:sp>
        <p:nvSpPr>
          <p:cNvPr id="11" name="Rounded Rectangle 10"/>
          <p:cNvSpPr/>
          <p:nvPr/>
        </p:nvSpPr>
        <p:spPr>
          <a:xfrm>
            <a:off x="731520" y="5385816"/>
            <a:ext cx="10728655" cy="80467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l"/>
            <a:r>
              <a:rPr sz="1200" b="1">
                <a:solidFill>
                  <a:srgbClr val="0F172A"/>
                </a:solidFill>
                <a:latin typeface="Arial"/>
              </a:rPr>
              <a:t>5. Choudary V, Johnvictor &amp; Sankar (2025)  |  </a:t>
            </a:r>
            <a:r>
              <a:rPr sz="1100" b="1">
                <a:solidFill>
                  <a:srgbClr val="4F46E5"/>
                </a:solidFill>
                <a:latin typeface="Arial"/>
              </a:rPr>
              <a:t>Scientific Reports, Nature
</a:t>
            </a:r>
            <a:r>
              <a:rPr sz="1050" b="0">
                <a:solidFill>
                  <a:srgbClr val="334155"/>
                </a:solidFill>
                <a:latin typeface="Calibri"/>
              </a:rPr>
              <a:t>Machine learning driven climate regime clustering, PCA dimensional reduction, and unsupervised identification of seasonal transition phases.</a:t>
            </a:r>
          </a:p>
        </p:txBody>
      </p:sp>
    </p:spTree>
  </p:cSld>
  <p:clrMapOvr>
    <a:masterClrMapping/>
  </p:clrMapOvr>
  <p:transition spd="med" advClick="1">
    <p:fade/>
  </p:transition>
  <p:timing>
    <p:tnLst>
      <p:par>
        <p:cTn id="1" dur="indefinite" restart="always"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tgtEl>
                                    <p:spTgt spid="3"/>
                                  </p:tgtEl>
                                  <p:attrNameLst>
                                    <p:attrName>style.visibility</p:attrName>
                                  </p:attrNameLst>
                                </p:cBhvr>
                                <p:to>
                                  <p:strVal val="visible"/>
                                </p:to>
                              </p:set>
                              <p:animEffect transition="in" filter="fade">
                                <p:cBhvr>
                                  <p:cTn id="6" dur="500" fill="hold"/>
                                  <p:tgtEl>
                                    <p:spTgt spid="3"/>
                                  </p:tgtEl>
                                </p:cBhvr>
                              </p:animEffect>
                            </p:childTnLst>
                          </p:cTn>
                        </p:par>
                      </p:childTnLst>
                    </p:cTn>
                  </p:par>
                  <p:par>
                    <p:cTn id="7" fill="hold">
                      <p:stCondLst>
                        <p:cond delay="0"/>
                      </p:stCondLst>
                      <p:childTnLst>
                        <p:par>
                          <p:cTn id="8" fill="hold">
                            <p:stCondLst>
                              <p:cond delay="0"/>
                            </p:stCondLst>
                            <p:childTnLst>
                              <p:set>
                                <p:cBhvr>
                                  <p:cTn id="9" dur="1" fill="hold"/>
                                  <p:tgtEl>
                                    <p:spTgt spid="4"/>
                                  </p:tgtEl>
                                  <p:attrNameLst>
                                    <p:attrName>style.visibility</p:attrName>
                                  </p:attrNameLst>
                                </p:cBhvr>
                                <p:to>
                                  <p:strVal val="visible"/>
                                </p:to>
                              </p:set>
                              <p:animEffect transition="in" filter="fade">
                                <p:cBhvr>
                                  <p:cTn id="10" dur="500" fill="hold"/>
                                  <p:tgtEl>
                                    <p:spTgt spid="4"/>
                                  </p:tgtEl>
                                </p:cBhvr>
                              </p:animEffect>
                            </p:childTnLst>
                          </p:cTn>
                        </p:par>
                      </p:childTnLst>
                    </p:cTn>
                  </p:par>
                  <p:par>
                    <p:cTn id="11" fill="hold">
                      <p:stCondLst>
                        <p:cond delay="0"/>
                      </p:stCondLst>
                      <p:childTnLst>
                        <p:par>
                          <p:cTn id="12" fill="hold">
                            <p:stCondLst>
                              <p:cond delay="0"/>
                            </p:stCondLst>
                            <p:childTnLst>
                              <p:set>
                                <p:cBhvr>
                                  <p:cTn id="13" dur="1" fill="hold"/>
                                  <p:tgtEl>
                                    <p:spTgt spid="7"/>
                                  </p:tgtEl>
                                  <p:attrNameLst>
                                    <p:attrName>style.visibility</p:attrName>
                                  </p:attrNameLst>
                                </p:cBhvr>
                                <p:to>
                                  <p:strVal val="visible"/>
                                </p:to>
                              </p:set>
                              <p:animEffect transition="in" filter="fade">
                                <p:cBhvr>
                                  <p:cTn id="14" dur="500" fill="hold"/>
                                  <p:tgtEl>
                                    <p:spTgt spid="7"/>
                                  </p:tgtEl>
                                </p:cBhvr>
                              </p:animEffect>
                            </p:childTnLst>
                          </p:cTn>
                        </p:par>
                      </p:childTnLst>
                    </p:cTn>
                  </p:par>
                  <p:par>
                    <p:cTn id="15" fill="hold">
                      <p:stCondLst>
                        <p:cond delay="0"/>
                      </p:stCondLst>
                      <p:childTnLst>
                        <p:par>
                          <p:cTn id="16" fill="hold">
                            <p:stCondLst>
                              <p:cond delay="0"/>
                            </p:stCondLst>
                            <p:childTnLst>
                              <p:set>
                                <p:cBhvr>
                                  <p:cTn id="17" dur="1" fill="hold"/>
                                  <p:tgtEl>
                                    <p:spTgt spid="8"/>
                                  </p:tgtEl>
                                  <p:attrNameLst>
                                    <p:attrName>style.visibility</p:attrName>
                                  </p:attrNameLst>
                                </p:cBhvr>
                                <p:to>
                                  <p:strVal val="visible"/>
                                </p:to>
                              </p:set>
                              <p:animEffect transition="in" filter="fade">
                                <p:cBhvr>
                                  <p:cTn id="18" dur="500" fill="hold"/>
                                  <p:tgtEl>
                                    <p:spTgt spid="8"/>
                                  </p:tgtEl>
                                </p:cBhvr>
                              </p:animEffect>
                            </p:childTnLst>
                          </p:cTn>
                        </p:par>
                      </p:childTnLst>
                    </p:cTn>
                  </p:par>
                  <p:par>
                    <p:cTn id="19" fill="hold">
                      <p:stCondLst>
                        <p:cond delay="0"/>
                      </p:stCondLst>
                      <p:childTnLst>
                        <p:par>
                          <p:cTn id="20" fill="hold">
                            <p:stCondLst>
                              <p:cond delay="0"/>
                            </p:stCondLst>
                            <p:childTnLst>
                              <p:set>
                                <p:cBhvr>
                                  <p:cTn id="21" dur="1" fill="hold"/>
                                  <p:tgtEl>
                                    <p:spTgt spid="9"/>
                                  </p:tgtEl>
                                  <p:attrNameLst>
                                    <p:attrName>style.visibility</p:attrName>
                                  </p:attrNameLst>
                                </p:cBhvr>
                                <p:to>
                                  <p:strVal val="visible"/>
                                </p:to>
                              </p:set>
                              <p:animEffect transition="in" filter="fade">
                                <p:cBhvr>
                                  <p:cTn id="22" dur="500" fill="hold"/>
                                  <p:tgtEl>
                                    <p:spTgt spid="9"/>
                                  </p:tgtEl>
                                </p:cBhvr>
                              </p:animEffect>
                            </p:childTnLst>
                          </p:cTn>
                        </p:par>
                      </p:childTnLst>
                    </p:cTn>
                  </p:par>
                  <p:par>
                    <p:cTn id="23" fill="hold">
                      <p:stCondLst>
                        <p:cond delay="0"/>
                      </p:stCondLst>
                      <p:childTnLst>
                        <p:par>
                          <p:cTn id="24" fill="hold">
                            <p:stCondLst>
                              <p:cond delay="0"/>
                            </p:stCondLst>
                            <p:childTnLst>
                              <p:set>
                                <p:cBhvr>
                                  <p:cTn id="25" dur="1" fill="hold"/>
                                  <p:tgtEl>
                                    <p:spTgt spid="10"/>
                                  </p:tgtEl>
                                  <p:attrNameLst>
                                    <p:attrName>style.visibility</p:attrName>
                                  </p:attrNameLst>
                                </p:cBhvr>
                                <p:to>
                                  <p:strVal val="visible"/>
                                </p:to>
                              </p:set>
                              <p:animEffect transition="in" filter="fade">
                                <p:cBhvr>
                                  <p:cTn id="26" dur="500" fill="hold"/>
                                  <p:tgtEl>
                                    <p:spTgt spid="10"/>
                                  </p:tgtEl>
                                </p:cBhvr>
                              </p:animEffect>
                            </p:childTnLst>
                          </p:cTn>
                        </p:par>
                      </p:childTnLst>
                    </p:cTn>
                  </p:par>
                  <p:par>
                    <p:cTn id="27" fill="hold">
                      <p:stCondLst>
                        <p:cond delay="0"/>
                      </p:stCondLst>
                      <p:childTnLst>
                        <p:par>
                          <p:cTn id="28" fill="hold">
                            <p:stCondLst>
                              <p:cond delay="0"/>
                            </p:stCondLst>
                            <p:childTnLst>
                              <p:set>
                                <p:cBhvr>
                                  <p:cTn id="29" dur="1" fill="hold"/>
                                  <p:tgtEl>
                                    <p:spTgt spid="11"/>
                                  </p:tgtEl>
                                  <p:attrNameLst>
                                    <p:attrName>style.visibility</p:attrName>
                                  </p:attrNameLst>
                                </p:cBhvr>
                                <p:to>
                                  <p:strVal val="visible"/>
                                </p:to>
                              </p:set>
                              <p:animEffect transition="in" filter="fade">
                                <p:cBhvr>
                                  <p:cTn id="30" dur="500" fill="hold"/>
                                  <p:tgtEl>
                                    <p:spTgt spid="11"/>
                                  </p:tgtEl>
                                </p:cBhvr>
                              </p:animEffect>
                            </p:childTnLst>
                          </p:cTn>
                        </p:par>
                      </p:childTnLst>
                    </p:cTn>
                  </p:par>
                </p:childTnLst>
              </p:cTn>
              <p:prevCondLst>
                <p:cond evt="onPrev" delay="0">
                  <p:tgtEl>
                    <p:spTgt spid="0"/>
                  </p:tgtEl>
                </p:cond>
              </p:prevCondLst>
              <p:nextCondLst>
                <p:cond evt="onNext" delay="0">
                  <p:tgtEl>
                    <p:spTgt spid="0"/>
                  </p:tgtEl>
                </p:cond>
              </p:nextCondLst>
            </p:seq>
          </p:childTnLst>
        </p:cTn>
      </p:par>
    </p:tnLst>
    <p:bldLst>
      <p:bldSp spid="3" grpId="0" animBg="true"/>
      <p:bldSp spid="4" grpId="0" animBg="true"/>
      <p:bldSp spid="7" grpId="0" animBg="true"/>
      <p:bldSp spid="8" grpId="0" animBg="true"/>
      <p:bldSp spid="9" grpId="0" animBg="true"/>
      <p:bldSp spid="10" grpId="0" animBg="true"/>
      <p:bldSp spid="11" grpId="0" animBg="true"/>
    </p:bld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47472"/>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FFFFF"/>
                </a:solidFill>
                <a:latin typeface="Arial"/>
              </a:rPr>
              <a:t>PART 6: RESEARCH LITERATURE | DHANASRI RAGHAVENDER REDDY</a:t>
            </a:r>
          </a:p>
        </p:txBody>
      </p:sp>
      <p:sp>
        <p:nvSpPr>
          <p:cNvPr id="4" name="TextBox 3"/>
          <p:cNvSpPr txBox="1"/>
          <p:nvPr/>
        </p:nvSpPr>
        <p:spPr>
          <a:xfrm>
            <a:off x="731520" y="749808"/>
            <a:ext cx="10698480" cy="868680"/>
          </a:xfrm>
          <a:prstGeom prst="rect">
            <a:avLst/>
          </a:prstGeom>
          <a:noFill/>
        </p:spPr>
        <p:txBody>
          <a:bodyPr wrap="square" lIns="0" tIns="0" rIns="0" bIns="0">
            <a:spAutoFit/>
          </a:bodyPr>
          <a:lstStyle/>
          <a:p>
            <a:r>
              <a:rPr sz="2200" b="1">
                <a:solidFill>
                  <a:srgbClr val="0F172A"/>
                </a:solidFill>
                <a:latin typeface="Arial"/>
              </a:rPr>
              <a:t>Comparative Methodology Matrix: Our Project vs. Research Literature</a:t>
            </a:r>
          </a:p>
          <a:p>
            <a:r>
              <a:rPr sz="1300">
                <a:solidFill>
                  <a:srgbClr val="64748B"/>
                </a:solidFill>
                <a:latin typeface="Calibri"/>
              </a:rPr>
              <a:t>Evaluating our empirical findings against benchmarks from the 5 research papers</a:t>
            </a:r>
          </a:p>
        </p:txBody>
      </p:sp>
      <p:sp>
        <p:nvSpPr>
          <p:cNvPr id="5" name="Rectangle 4"/>
          <p:cNvSpPr/>
          <p:nvPr/>
        </p:nvSpPr>
        <p:spPr>
          <a:xfrm>
            <a:off x="731520" y="166420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728655" cy="274320"/>
          </a:xfrm>
          <a:prstGeom prst="rect">
            <a:avLst/>
          </a:prstGeom>
          <a:noFill/>
        </p:spPr>
        <p:txBody>
          <a:bodyPr wrap="none" lIns="0" tIns="0" rIns="0" bIns="0">
            <a:spAutoFit/>
          </a:bodyPr>
          <a:lstStyle/>
          <a:p>
            <a:r>
              <a:rPr sz="1000">
                <a:solidFill>
                  <a:srgbClr val="64748B"/>
                </a:solidFill>
                <a:latin typeface="Calibri"/>
              </a:rPr>
              <a:t>Foundations of Data Science (FDS) Course Project | Team 252U1R</a:t>
            </a:r>
            <a:r>
              <a:t>                                                                                               </a:t>
            </a:r>
            <a:r>
              <a:rPr sz="1000" b="1">
                <a:solidFill>
                  <a:srgbClr val="4F46E5"/>
                </a:solidFill>
                <a:latin typeface="Calibri"/>
              </a:rPr>
              <a:t>Slide 19 of 20</a:t>
            </a:r>
          </a:p>
        </p:txBody>
      </p:sp>
      <p:graphicFrame>
        <p:nvGraphicFramePr>
          <p:cNvPr id="7" name="Table 6"/>
          <p:cNvGraphicFramePr>
            <a:graphicFrameLocks noGrp="1"/>
          </p:cNvGraphicFramePr>
          <p:nvPr/>
        </p:nvGraphicFramePr>
        <p:xfrm>
          <a:off x="731520" y="1920240"/>
          <a:ext cx="10698480" cy="3108960"/>
        </p:xfrm>
        <a:graphic>
          <a:graphicData uri="http://schemas.openxmlformats.org/drawingml/2006/table">
            <a:tbl>
              <a:tblPr firstRow="1" bandRow="1">
                <a:tableStyleId>{5C22544A-7EE6-4342-B048-85BDC9FD1C3A}</a:tableStyleId>
              </a:tblPr>
              <a:tblGrid>
                <a:gridCol w="1645920"/>
                <a:gridCol w="1645920"/>
                <a:gridCol w="2194560"/>
                <a:gridCol w="2194560"/>
                <a:gridCol w="3017520"/>
              </a:tblGrid>
              <a:tr h="518160">
                <a:tc>
                  <a:txBody>
                    <a:bodyPr/>
                    <a:lstStyle/>
                    <a:p>
                      <a:pPr algn="ctr"/>
                      <a:r>
                        <a:rPr sz="1100" b="1">
                          <a:solidFill>
                            <a:srgbClr val="FFFFFF"/>
                          </a:solidFill>
                          <a:latin typeface="Arial"/>
                        </a:rPr>
                        <a:t>Research Paper</a:t>
                      </a:r>
                    </a:p>
                  </a:txBody>
                  <a:tcPr>
                    <a:solidFill>
                      <a:srgbClr val="0F172A"/>
                    </a:solidFill>
                  </a:tcPr>
                </a:tc>
                <a:tc>
                  <a:txBody>
                    <a:bodyPr/>
                    <a:lstStyle/>
                    <a:p>
                      <a:pPr algn="ctr"/>
                      <a:r>
                        <a:rPr sz="1100" b="1">
                          <a:solidFill>
                            <a:srgbClr val="FFFFFF"/>
                          </a:solidFill>
                          <a:latin typeface="Arial"/>
                        </a:rPr>
                        <a:t>Analytical Domain</a:t>
                      </a:r>
                    </a:p>
                  </a:txBody>
                  <a:tcPr>
                    <a:solidFill>
                      <a:srgbClr val="0F172A"/>
                    </a:solidFill>
                  </a:tcPr>
                </a:tc>
                <a:tc>
                  <a:txBody>
                    <a:bodyPr/>
                    <a:lstStyle/>
                    <a:p>
                      <a:pPr algn="ctr"/>
                      <a:r>
                        <a:rPr sz="1100" b="1">
                          <a:solidFill>
                            <a:srgbClr val="FFFFFF"/>
                          </a:solidFill>
                          <a:latin typeface="Arial"/>
                        </a:rPr>
                        <a:t>Key Methodologies</a:t>
                      </a:r>
                    </a:p>
                  </a:txBody>
                  <a:tcPr>
                    <a:solidFill>
                      <a:srgbClr val="0F172A"/>
                    </a:solidFill>
                  </a:tcPr>
                </a:tc>
                <a:tc>
                  <a:txBody>
                    <a:bodyPr/>
                    <a:lstStyle/>
                    <a:p>
                      <a:pPr algn="ctr"/>
                      <a:r>
                        <a:rPr sz="1100" b="1">
                          <a:solidFill>
                            <a:srgbClr val="FFFFFF"/>
                          </a:solidFill>
                          <a:latin typeface="Arial"/>
                        </a:rPr>
                        <a:t>Published Findings</a:t>
                      </a:r>
                    </a:p>
                  </a:txBody>
                  <a:tcPr>
                    <a:solidFill>
                      <a:srgbClr val="0F172A"/>
                    </a:solidFill>
                  </a:tcPr>
                </a:tc>
                <a:tc>
                  <a:txBody>
                    <a:bodyPr/>
                    <a:lstStyle/>
                    <a:p>
                      <a:pPr algn="ctr"/>
                      <a:r>
                        <a:rPr sz="1100" b="1">
                          <a:solidFill>
                            <a:srgbClr val="FFFFFF"/>
                          </a:solidFill>
                          <a:latin typeface="Arial"/>
                        </a:rPr>
                        <a:t>Alignment with Our FDS Project</a:t>
                      </a:r>
                    </a:p>
                  </a:txBody>
                  <a:tcPr>
                    <a:solidFill>
                      <a:srgbClr val="0F172A"/>
                    </a:solidFill>
                  </a:tcPr>
                </a:tc>
              </a:tr>
              <a:tr h="518160">
                <a:tc>
                  <a:txBody>
                    <a:bodyPr/>
                    <a:lstStyle/>
                    <a:p>
                      <a:pPr algn="l"/>
                      <a:r>
                        <a:rPr sz="1050" b="1">
                          <a:solidFill>
                            <a:srgbClr val="0F172A"/>
                          </a:solidFill>
                          <a:latin typeface="Calibri"/>
                        </a:rPr>
                        <a:t>Zubair et al. (2024)</a:t>
                      </a:r>
                    </a:p>
                  </a:txBody>
                  <a:tcPr>
                    <a:solidFill>
                      <a:srgbClr val="FFFFFF"/>
                    </a:solidFill>
                  </a:tcPr>
                </a:tc>
                <a:tc>
                  <a:txBody>
                    <a:bodyPr/>
                    <a:lstStyle/>
                    <a:p>
                      <a:pPr algn="l"/>
                      <a:r>
                        <a:rPr sz="1050">
                          <a:solidFill>
                            <a:srgbClr val="334155"/>
                          </a:solidFill>
                          <a:latin typeface="Calibri"/>
                        </a:rPr>
                        <a:t>Sensor Data Hygiene</a:t>
                      </a:r>
                    </a:p>
                  </a:txBody>
                  <a:tcPr>
                    <a:solidFill>
                      <a:srgbClr val="FFFFFF"/>
                    </a:solidFill>
                  </a:tcPr>
                </a:tc>
                <a:tc>
                  <a:txBody>
                    <a:bodyPr/>
                    <a:lstStyle/>
                    <a:p>
                      <a:pPr algn="l"/>
                      <a:r>
                        <a:rPr sz="1050">
                          <a:solidFill>
                            <a:srgbClr val="334155"/>
                          </a:solidFill>
                          <a:latin typeface="Calibri"/>
                        </a:rPr>
                        <a:t>Median Imputation &amp; Filtering</a:t>
                      </a:r>
                    </a:p>
                  </a:txBody>
                  <a:tcPr>
                    <a:solidFill>
                      <a:srgbClr val="FFFFFF"/>
                    </a:solidFill>
                  </a:tcPr>
                </a:tc>
                <a:tc>
                  <a:txBody>
                    <a:bodyPr/>
                    <a:lstStyle/>
                    <a:p>
                      <a:pPr algn="l"/>
                      <a:r>
                        <a:rPr sz="1050">
                          <a:solidFill>
                            <a:srgbClr val="334155"/>
                          </a:solidFill>
                          <a:latin typeface="Calibri"/>
                        </a:rPr>
                        <a:t>Dropout rate ~1.8%</a:t>
                      </a:r>
                    </a:p>
                  </a:txBody>
                  <a:tcPr>
                    <a:solidFill>
                      <a:srgbClr val="FFFFFF"/>
                    </a:solidFill>
                  </a:tcPr>
                </a:tc>
                <a:tc>
                  <a:txBody>
                    <a:bodyPr/>
                    <a:lstStyle/>
                    <a:p>
                      <a:pPr algn="l"/>
                      <a:r>
                        <a:rPr sz="1050">
                          <a:solidFill>
                            <a:srgbClr val="334155"/>
                          </a:solidFill>
                          <a:latin typeface="Calibri"/>
                        </a:rPr>
                        <a:t>Matched: Imputed 502 zero-pressure dropouts (1.63%) with median</a:t>
                      </a:r>
                    </a:p>
                  </a:txBody>
                  <a:tcPr>
                    <a:solidFill>
                      <a:srgbClr val="FFFFFF"/>
                    </a:solidFill>
                  </a:tcPr>
                </a:tc>
              </a:tr>
              <a:tr h="518160">
                <a:tc>
                  <a:txBody>
                    <a:bodyPr/>
                    <a:lstStyle/>
                    <a:p>
                      <a:pPr algn="l"/>
                      <a:r>
                        <a:rPr sz="1050" b="1">
                          <a:solidFill>
                            <a:srgbClr val="0F172A"/>
                          </a:solidFill>
                          <a:latin typeface="Calibri"/>
                        </a:rPr>
                        <a:t>Shrivastava et al. (2023)</a:t>
                      </a:r>
                    </a:p>
                  </a:txBody>
                  <a:tcPr>
                    <a:solidFill>
                      <a:srgbClr val="F1F5F9"/>
                    </a:solidFill>
                  </a:tcPr>
                </a:tc>
                <a:tc>
                  <a:txBody>
                    <a:bodyPr/>
                    <a:lstStyle/>
                    <a:p>
                      <a:pPr algn="l"/>
                      <a:r>
                        <a:rPr sz="1050">
                          <a:solidFill>
                            <a:srgbClr val="334155"/>
                          </a:solidFill>
                          <a:latin typeface="Calibri"/>
                        </a:rPr>
                        <a:t>Thermal Comfort</a:t>
                      </a:r>
                    </a:p>
                  </a:txBody>
                  <a:tcPr>
                    <a:solidFill>
                      <a:srgbClr val="F1F5F9"/>
                    </a:solidFill>
                  </a:tcPr>
                </a:tc>
                <a:tc>
                  <a:txBody>
                    <a:bodyPr/>
                    <a:lstStyle/>
                    <a:p>
                      <a:pPr algn="l"/>
                      <a:r>
                        <a:rPr sz="1050">
                          <a:solidFill>
                            <a:srgbClr val="334155"/>
                          </a:solidFill>
                          <a:latin typeface="Calibri"/>
                        </a:rPr>
                        <a:t>Regression &amp; Wind Chill</a:t>
                      </a:r>
                    </a:p>
                  </a:txBody>
                  <a:tcPr>
                    <a:solidFill>
                      <a:srgbClr val="F1F5F9"/>
                    </a:solidFill>
                  </a:tcPr>
                </a:tc>
                <a:tc>
                  <a:txBody>
                    <a:bodyPr/>
                    <a:lstStyle/>
                    <a:p>
                      <a:pPr algn="l"/>
                      <a:r>
                        <a:rPr sz="1050">
                          <a:solidFill>
                            <a:srgbClr val="334155"/>
                          </a:solidFill>
                          <a:latin typeface="Calibri"/>
                        </a:rPr>
                        <a:t>R² = 0.975–0.991</a:t>
                      </a:r>
                    </a:p>
                  </a:txBody>
                  <a:tcPr>
                    <a:solidFill>
                      <a:srgbClr val="F1F5F9"/>
                    </a:solidFill>
                  </a:tcPr>
                </a:tc>
                <a:tc>
                  <a:txBody>
                    <a:bodyPr/>
                    <a:lstStyle/>
                    <a:p>
                      <a:pPr algn="l"/>
                      <a:r>
                        <a:rPr sz="1050">
                          <a:solidFill>
                            <a:srgbClr val="334155"/>
                          </a:solidFill>
                          <a:latin typeface="Calibri"/>
                        </a:rPr>
                        <a:t>Surpassed: Linear model achieved R² = 0.990 with MAE = 0.85°C</a:t>
                      </a:r>
                    </a:p>
                  </a:txBody>
                  <a:tcPr>
                    <a:solidFill>
                      <a:srgbClr val="F1F5F9"/>
                    </a:solidFill>
                  </a:tcPr>
                </a:tc>
              </a:tr>
              <a:tr h="518160">
                <a:tc>
                  <a:txBody>
                    <a:bodyPr/>
                    <a:lstStyle/>
                    <a:p>
                      <a:pPr algn="l"/>
                      <a:r>
                        <a:rPr sz="1050" b="1">
                          <a:solidFill>
                            <a:srgbClr val="0F172A"/>
                          </a:solidFill>
                          <a:latin typeface="Calibri"/>
                        </a:rPr>
                        <a:t>Jain et al. (2022)</a:t>
                      </a:r>
                    </a:p>
                  </a:txBody>
                  <a:tcPr>
                    <a:solidFill>
                      <a:srgbClr val="FFFFFF"/>
                    </a:solidFill>
                  </a:tcPr>
                </a:tc>
                <a:tc>
                  <a:txBody>
                    <a:bodyPr/>
                    <a:lstStyle/>
                    <a:p>
                      <a:pPr algn="l"/>
                      <a:r>
                        <a:rPr sz="1050">
                          <a:solidFill>
                            <a:srgbClr val="334155"/>
                          </a:solidFill>
                          <a:latin typeface="Calibri"/>
                        </a:rPr>
                        <a:t>Parametric Modeling</a:t>
                      </a:r>
                    </a:p>
                  </a:txBody>
                  <a:tcPr>
                    <a:solidFill>
                      <a:srgbClr val="FFFFFF"/>
                    </a:solidFill>
                  </a:tcPr>
                </a:tc>
                <a:tc>
                  <a:txBody>
                    <a:bodyPr/>
                    <a:lstStyle/>
                    <a:p>
                      <a:pPr algn="l"/>
                      <a:r>
                        <a:rPr sz="1050">
                          <a:solidFill>
                            <a:srgbClr val="334155"/>
                          </a:solidFill>
                          <a:latin typeface="Calibri"/>
                        </a:rPr>
                        <a:t>Covariance &amp; OLS Fit</a:t>
                      </a:r>
                    </a:p>
                  </a:txBody>
                  <a:tcPr>
                    <a:solidFill>
                      <a:srgbClr val="FFFFFF"/>
                    </a:solidFill>
                  </a:tcPr>
                </a:tc>
                <a:tc>
                  <a:txBody>
                    <a:bodyPr/>
                    <a:lstStyle/>
                    <a:p>
                      <a:pPr algn="l"/>
                      <a:r>
                        <a:rPr sz="1050">
                          <a:solidFill>
                            <a:srgbClr val="334155"/>
                          </a:solidFill>
                          <a:latin typeface="Calibri"/>
                        </a:rPr>
                        <a:t>Strong inverse T-H link</a:t>
                      </a:r>
                    </a:p>
                  </a:txBody>
                  <a:tcPr>
                    <a:solidFill>
                      <a:srgbClr val="FFFFFF"/>
                    </a:solidFill>
                  </a:tcPr>
                </a:tc>
                <a:tc>
                  <a:txBody>
                    <a:bodyPr/>
                    <a:lstStyle/>
                    <a:p>
                      <a:pPr algn="l"/>
                      <a:r>
                        <a:rPr sz="1050">
                          <a:solidFill>
                            <a:srgbClr val="334155"/>
                          </a:solidFill>
                          <a:latin typeface="Calibri"/>
                        </a:rPr>
                        <a:t>Validated: Confirmed Pearson r = -0.663, Welch t = -74.74</a:t>
                      </a:r>
                    </a:p>
                  </a:txBody>
                  <a:tcPr>
                    <a:solidFill>
                      <a:srgbClr val="FFFFFF"/>
                    </a:solidFill>
                  </a:tcPr>
                </a:tc>
              </a:tr>
              <a:tr h="518160">
                <a:tc>
                  <a:txBody>
                    <a:bodyPr/>
                    <a:lstStyle/>
                    <a:p>
                      <a:pPr algn="l"/>
                      <a:r>
                        <a:rPr sz="1050" b="1">
                          <a:solidFill>
                            <a:srgbClr val="0F172A"/>
                          </a:solidFill>
                          <a:latin typeface="Calibri"/>
                        </a:rPr>
                        <a:t>İşler et al. (2025)</a:t>
                      </a:r>
                    </a:p>
                  </a:txBody>
                  <a:tcPr>
                    <a:solidFill>
                      <a:srgbClr val="F1F5F9"/>
                    </a:solidFill>
                  </a:tcPr>
                </a:tc>
                <a:tc>
                  <a:txBody>
                    <a:bodyPr/>
                    <a:lstStyle/>
                    <a:p>
                      <a:pPr algn="l"/>
                      <a:r>
                        <a:rPr sz="1050">
                          <a:solidFill>
                            <a:srgbClr val="334155"/>
                          </a:solidFill>
                          <a:latin typeface="Calibri"/>
                        </a:rPr>
                        <a:t>Precipitation Classification</a:t>
                      </a:r>
                    </a:p>
                  </a:txBody>
                  <a:tcPr>
                    <a:solidFill>
                      <a:srgbClr val="F1F5F9"/>
                    </a:solidFill>
                  </a:tcPr>
                </a:tc>
                <a:tc>
                  <a:txBody>
                    <a:bodyPr/>
                    <a:lstStyle/>
                    <a:p>
                      <a:pPr algn="l"/>
                      <a:r>
                        <a:rPr sz="1050">
                          <a:solidFill>
                            <a:srgbClr val="334155"/>
                          </a:solidFill>
                          <a:latin typeface="Calibri"/>
                        </a:rPr>
                        <a:t>Logistic &amp; Tree Classifiers</a:t>
                      </a:r>
                    </a:p>
                  </a:txBody>
                  <a:tcPr>
                    <a:solidFill>
                      <a:srgbClr val="F1F5F9"/>
                    </a:solidFill>
                  </a:tcPr>
                </a:tc>
                <a:tc>
                  <a:txBody>
                    <a:bodyPr/>
                    <a:lstStyle/>
                    <a:p>
                      <a:pPr algn="l"/>
                      <a:r>
                        <a:rPr sz="1050">
                          <a:solidFill>
                            <a:srgbClr val="334155"/>
                          </a:solidFill>
                          <a:latin typeface="Calibri"/>
                        </a:rPr>
                        <a:t>Accuracy 98.9–99.4%</a:t>
                      </a:r>
                    </a:p>
                  </a:txBody>
                  <a:tcPr>
                    <a:solidFill>
                      <a:srgbClr val="F1F5F9"/>
                    </a:solidFill>
                  </a:tcPr>
                </a:tc>
                <a:tc>
                  <a:txBody>
                    <a:bodyPr/>
                    <a:lstStyle/>
                    <a:p>
                      <a:pPr algn="l"/>
                      <a:r>
                        <a:rPr sz="1050">
                          <a:solidFill>
                            <a:srgbClr val="334155"/>
                          </a:solidFill>
                          <a:latin typeface="Calibri"/>
                        </a:rPr>
                        <a:t>Surpassed: Logistic model achieved 99.58% accuracy, 99.76% F1</a:t>
                      </a:r>
                    </a:p>
                  </a:txBody>
                  <a:tcPr>
                    <a:solidFill>
                      <a:srgbClr val="F1F5F9"/>
                    </a:solidFill>
                  </a:tcPr>
                </a:tc>
              </a:tr>
              <a:tr h="518160">
                <a:tc>
                  <a:txBody>
                    <a:bodyPr/>
                    <a:lstStyle/>
                    <a:p>
                      <a:pPr algn="l"/>
                      <a:r>
                        <a:rPr sz="1050" b="1">
                          <a:solidFill>
                            <a:srgbClr val="0F172A"/>
                          </a:solidFill>
                          <a:latin typeface="Calibri"/>
                        </a:rPr>
                        <a:t>Choudary et al. (2025)</a:t>
                      </a:r>
                    </a:p>
                  </a:txBody>
                  <a:tcPr>
                    <a:solidFill>
                      <a:srgbClr val="FFFFFF"/>
                    </a:solidFill>
                  </a:tcPr>
                </a:tc>
                <a:tc>
                  <a:txBody>
                    <a:bodyPr/>
                    <a:lstStyle/>
                    <a:p>
                      <a:pPr algn="l"/>
                      <a:r>
                        <a:rPr sz="1050">
                          <a:solidFill>
                            <a:srgbClr val="334155"/>
                          </a:solidFill>
                          <a:latin typeface="Calibri"/>
                        </a:rPr>
                        <a:t>Climate Clustering &amp; PCA</a:t>
                      </a:r>
                    </a:p>
                  </a:txBody>
                  <a:tcPr>
                    <a:solidFill>
                      <a:srgbClr val="FFFFFF"/>
                    </a:solidFill>
                  </a:tcPr>
                </a:tc>
                <a:tc>
                  <a:txBody>
                    <a:bodyPr/>
                    <a:lstStyle/>
                    <a:p>
                      <a:pPr algn="l"/>
                      <a:r>
                        <a:rPr sz="1050">
                          <a:solidFill>
                            <a:srgbClr val="334155"/>
                          </a:solidFill>
                          <a:latin typeface="Calibri"/>
                        </a:rPr>
                        <a:t>K-Means &amp; PCA Variance</a:t>
                      </a:r>
                    </a:p>
                  </a:txBody>
                  <a:tcPr>
                    <a:solidFill>
                      <a:srgbClr val="FFFFFF"/>
                    </a:solidFill>
                  </a:tcPr>
                </a:tc>
                <a:tc>
                  <a:txBody>
                    <a:bodyPr/>
                    <a:lstStyle/>
                    <a:p>
                      <a:pPr algn="l"/>
                      <a:r>
                        <a:rPr sz="1050">
                          <a:solidFill>
                            <a:srgbClr val="334155"/>
                          </a:solidFill>
                          <a:latin typeface="Calibri"/>
                        </a:rPr>
                        <a:t>Top-3 PCs capture &gt;90%</a:t>
                      </a:r>
                    </a:p>
                  </a:txBody>
                  <a:tcPr>
                    <a:solidFill>
                      <a:srgbClr val="FFFFFF"/>
                    </a:solidFill>
                  </a:tcPr>
                </a:tc>
                <a:tc>
                  <a:txBody>
                    <a:bodyPr/>
                    <a:lstStyle/>
                    <a:p>
                      <a:pPr algn="l"/>
                      <a:r>
                        <a:rPr sz="1050">
                          <a:solidFill>
                            <a:srgbClr val="334155"/>
                          </a:solidFill>
                          <a:latin typeface="Calibri"/>
                        </a:rPr>
                        <a:t>Validated: Top-3 PCs captured 94.18% variance; k=4 natural regimes</a:t>
                      </a:r>
                    </a:p>
                  </a:txBody>
                  <a:tcPr>
                    <a:solidFill>
                      <a:srgbClr val="FFFFFF"/>
                    </a:solidFill>
                  </a:tcPr>
                </a:tc>
              </a:tr>
            </a:tbl>
          </a:graphicData>
        </a:graphic>
      </p:graphicFrame>
      <p:sp>
        <p:nvSpPr>
          <p:cNvPr id="8" name="Rounded Rectangle 7"/>
          <p:cNvSpPr/>
          <p:nvPr/>
        </p:nvSpPr>
        <p:spPr>
          <a:xfrm>
            <a:off x="731520" y="5212080"/>
            <a:ext cx="10728655" cy="114300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l"/>
            <a:r>
              <a:rPr sz="1150" b="1">
                <a:solidFill>
                  <a:srgbClr val="0F172A"/>
                </a:solidFill>
                <a:latin typeface="Arial"/>
              </a:rPr>
              <a:t>ACADEMIC SYNTHESIS CONCLUSION:</a:t>
            </a:r>
          </a:p>
          <a:p>
            <a:pPr algn="l"/>
            <a:r>
              <a:rPr sz="1100" b="0">
                <a:solidFill>
                  <a:srgbClr val="334155"/>
                </a:solidFill>
                <a:latin typeface="Calibri"/>
              </a:rPr>
              <a:t>Our Foundations of Data Science project execution closely matches and in certain dimensions exceeds benchmarks published in premier international journals (Nature, ScienceDirect, Wiley, MDPI), validating the statistical rigor of our data cleaning, feature engineering, and predictive modeling pipeline.</a:t>
            </a:r>
          </a:p>
        </p:txBody>
      </p:sp>
    </p:spTree>
  </p:cSld>
  <p:clrMapOvr>
    <a:masterClrMapping/>
  </p:clrMapOvr>
  <p:transition spd="med" advClick="1">
    <p:fade/>
  </p:transition>
  <p:timing>
    <p:tnLst>
      <p:par>
        <p:cTn id="1" dur="indefinite" restart="always"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tgtEl>
                                    <p:spTgt spid="3"/>
                                  </p:tgtEl>
                                  <p:attrNameLst>
                                    <p:attrName>style.visibility</p:attrName>
                                  </p:attrNameLst>
                                </p:cBhvr>
                                <p:to>
                                  <p:strVal val="visible"/>
                                </p:to>
                              </p:set>
                              <p:animEffect transition="in" filter="fade">
                                <p:cBhvr>
                                  <p:cTn id="6" dur="500" fill="hold"/>
                                  <p:tgtEl>
                                    <p:spTgt spid="3"/>
                                  </p:tgtEl>
                                </p:cBhvr>
                              </p:animEffect>
                            </p:childTnLst>
                          </p:cTn>
                        </p:par>
                      </p:childTnLst>
                    </p:cTn>
                  </p:par>
                  <p:par>
                    <p:cTn id="7" fill="hold">
                      <p:stCondLst>
                        <p:cond delay="0"/>
                      </p:stCondLst>
                      <p:childTnLst>
                        <p:par>
                          <p:cTn id="8" fill="hold">
                            <p:stCondLst>
                              <p:cond delay="0"/>
                            </p:stCondLst>
                            <p:childTnLst>
                              <p:set>
                                <p:cBhvr>
                                  <p:cTn id="9" dur="1" fill="hold"/>
                                  <p:tgtEl>
                                    <p:spTgt spid="4"/>
                                  </p:tgtEl>
                                  <p:attrNameLst>
                                    <p:attrName>style.visibility</p:attrName>
                                  </p:attrNameLst>
                                </p:cBhvr>
                                <p:to>
                                  <p:strVal val="visible"/>
                                </p:to>
                              </p:set>
                              <p:animEffect transition="in" filter="fade">
                                <p:cBhvr>
                                  <p:cTn id="10" dur="500" fill="hold"/>
                                  <p:tgtEl>
                                    <p:spTgt spid="4"/>
                                  </p:tgtEl>
                                </p:cBhvr>
                              </p:animEffect>
                            </p:childTnLst>
                          </p:cTn>
                        </p:par>
                      </p:childTnLst>
                    </p:cTn>
                  </p:par>
                  <p:par>
                    <p:cTn id="11" fill="hold">
                      <p:stCondLst>
                        <p:cond delay="0"/>
                      </p:stCondLst>
                      <p:childTnLst>
                        <p:par>
                          <p:cTn id="12" fill="hold">
                            <p:stCondLst>
                              <p:cond delay="0"/>
                            </p:stCondLst>
                            <p:childTnLst>
                              <p:set>
                                <p:cBhvr>
                                  <p:cTn id="13" dur="1" fill="hold"/>
                                  <p:tgtEl>
                                    <p:spTgt spid="7"/>
                                  </p:tgtEl>
                                  <p:attrNameLst>
                                    <p:attrName>style.visibility</p:attrName>
                                  </p:attrNameLst>
                                </p:cBhvr>
                                <p:to>
                                  <p:strVal val="visible"/>
                                </p:to>
                              </p:set>
                              <p:animEffect transition="in" filter="fade">
                                <p:cBhvr>
                                  <p:cTn id="14" dur="500" fill="hold"/>
                                  <p:tgtEl>
                                    <p:spTgt spid="7"/>
                                  </p:tgtEl>
                                </p:cBhvr>
                              </p:animEffect>
                            </p:childTnLst>
                          </p:cTn>
                        </p:par>
                      </p:childTnLst>
                    </p:cTn>
                  </p:par>
                  <p:par>
                    <p:cTn id="15" fill="hold">
                      <p:stCondLst>
                        <p:cond delay="0"/>
                      </p:stCondLst>
                      <p:childTnLst>
                        <p:par>
                          <p:cTn id="16" fill="hold">
                            <p:stCondLst>
                              <p:cond delay="0"/>
                            </p:stCondLst>
                            <p:childTnLst>
                              <p:set>
                                <p:cBhvr>
                                  <p:cTn id="17" dur="1" fill="hold"/>
                                  <p:tgtEl>
                                    <p:spTgt spid="8"/>
                                  </p:tgtEl>
                                  <p:attrNameLst>
                                    <p:attrName>style.visibility</p:attrName>
                                  </p:attrNameLst>
                                </p:cBhvr>
                                <p:to>
                                  <p:strVal val="visible"/>
                                </p:to>
                              </p:set>
                              <p:animEffect transition="in" filter="fade">
                                <p:cBhvr>
                                  <p:cTn id="18" dur="500" fill="hold"/>
                                  <p:tgtEl>
                                    <p:spTgt spid="8"/>
                                  </p:tgtEl>
                                </p:cBhvr>
                              </p:animEffect>
                            </p:childTnLst>
                          </p:cTn>
                        </p:par>
                      </p:childTnLst>
                    </p:cTn>
                  </p:par>
                </p:childTnLst>
              </p:cTn>
              <p:prevCondLst>
                <p:cond evt="onPrev" delay="0">
                  <p:tgtEl>
                    <p:spTgt spid="0"/>
                  </p:tgtEl>
                </p:cond>
              </p:prevCondLst>
              <p:nextCondLst>
                <p:cond evt="onNext" delay="0">
                  <p:tgtEl>
                    <p:spTgt spid="0"/>
                  </p:tgtEl>
                </p:cond>
              </p:nextCondLst>
            </p:seq>
          </p:childTnLst>
        </p:cTn>
      </p:par>
    </p:tnLst>
    <p:bldLst>
      <p:bldSp spid="3" grpId="0" animBg="true"/>
      <p:bldSp spid="4" grpId="0" animBg="true"/>
      <p:bldSp spid="7" grpId="0" animBg="true"/>
      <p:bldSp spid="8" grpId="0" animBg="true"/>
    </p:bld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47472"/>
          </a:xfrm>
          <a:prstGeom prst="round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00" b="1">
                <a:solidFill>
                  <a:srgbClr val="FFFFFF"/>
                </a:solidFill>
                <a:latin typeface="Arial"/>
              </a:rPr>
              <a:t>PART 6: RESEARCH LITERATURE | DHANASRI RAGHAVENDER REDDY</a:t>
            </a:r>
          </a:p>
        </p:txBody>
      </p:sp>
      <p:sp>
        <p:nvSpPr>
          <p:cNvPr id="4" name="TextBox 3"/>
          <p:cNvSpPr txBox="1"/>
          <p:nvPr/>
        </p:nvSpPr>
        <p:spPr>
          <a:xfrm>
            <a:off x="731520" y="749808"/>
            <a:ext cx="10698480" cy="868680"/>
          </a:xfrm>
          <a:prstGeom prst="rect">
            <a:avLst/>
          </a:prstGeom>
          <a:noFill/>
        </p:spPr>
        <p:txBody>
          <a:bodyPr wrap="square" lIns="0" tIns="0" rIns="0" bIns="0">
            <a:spAutoFit/>
          </a:bodyPr>
          <a:lstStyle/>
          <a:p>
            <a:r>
              <a:rPr sz="2200" b="1">
                <a:solidFill>
                  <a:srgbClr val="0F172A"/>
                </a:solidFill>
                <a:latin typeface="Arial"/>
              </a:rPr>
              <a:t>Project Conclusion, Future Scope &amp; Acknowledgments</a:t>
            </a:r>
          </a:p>
          <a:p>
            <a:r>
              <a:rPr sz="1300">
                <a:solidFill>
                  <a:srgbClr val="64748B"/>
                </a:solidFill>
                <a:latin typeface="Calibri"/>
              </a:rPr>
              <a:t>Summarizing key engineering outcomes, practical societal impact, and future extensions</a:t>
            </a:r>
          </a:p>
        </p:txBody>
      </p:sp>
      <p:sp>
        <p:nvSpPr>
          <p:cNvPr id="5" name="Rectangle 4"/>
          <p:cNvSpPr/>
          <p:nvPr/>
        </p:nvSpPr>
        <p:spPr>
          <a:xfrm>
            <a:off x="731520" y="1664208"/>
            <a:ext cx="10728655"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92240"/>
            <a:ext cx="10728655" cy="274320"/>
          </a:xfrm>
          <a:prstGeom prst="rect">
            <a:avLst/>
          </a:prstGeom>
          <a:noFill/>
        </p:spPr>
        <p:txBody>
          <a:bodyPr wrap="none" lIns="0" tIns="0" rIns="0" bIns="0">
            <a:spAutoFit/>
          </a:bodyPr>
          <a:lstStyle/>
          <a:p>
            <a:r>
              <a:rPr sz="1000">
                <a:solidFill>
                  <a:srgbClr val="64748B"/>
                </a:solidFill>
                <a:latin typeface="Calibri"/>
              </a:rPr>
              <a:t>Foundations of Data Science (FDS) Course Project | Team 252U1R</a:t>
            </a:r>
            <a:r>
              <a:t>                                                                                               </a:t>
            </a:r>
            <a:r>
              <a:rPr sz="1000" b="1">
                <a:solidFill>
                  <a:srgbClr val="4F46E5"/>
                </a:solidFill>
                <a:latin typeface="Calibri"/>
              </a:rPr>
              <a:t>Slide 20 of 20</a:t>
            </a:r>
          </a:p>
        </p:txBody>
      </p:sp>
      <p:sp>
        <p:nvSpPr>
          <p:cNvPr id="7" name="Rounded Rectangle 6"/>
          <p:cNvSpPr/>
          <p:nvPr/>
        </p:nvSpPr>
        <p:spPr>
          <a:xfrm>
            <a:off x="731520" y="1920240"/>
            <a:ext cx="5257800" cy="43891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l"/>
            <a:r>
              <a:rPr sz="1300" b="1">
                <a:solidFill>
                  <a:srgbClr val="4F46E5"/>
                </a:solidFill>
                <a:latin typeface="Arial"/>
              </a:rPr>
              <a:t>SUMMARY OF PROJECT OUTCOMES</a:t>
            </a:r>
          </a:p>
          <a:p>
            <a:pPr algn="l"/>
            <a:r>
              <a:rPr sz="600" b="0">
                <a:latin typeface="Calibri"/>
              </a:rPr>
              <a:t/>
            </a:r>
          </a:p>
          <a:p>
            <a:pPr algn="l"/>
            <a:r>
              <a:rPr sz="1200" b="1">
                <a:solidFill>
                  <a:srgbClr val="0F172A"/>
                </a:solidFill>
                <a:latin typeface="Calibri"/>
              </a:rPr>
              <a:t>1. Rigorous Data Pipeline: </a:t>
            </a:r>
            <a:r>
              <a:rPr sz="1150" b="0">
                <a:solidFill>
                  <a:srgbClr val="334155"/>
                </a:solidFill>
                <a:latin typeface="Calibri"/>
              </a:rPr>
              <a:t>Successfully cleaned 30,711 observations, eliminated zero-variance Loud Cover, and imputed 502 barometric dropouts.
</a:t>
            </a:r>
            <a:r>
              <a:rPr sz="1200" b="1">
                <a:solidFill>
                  <a:srgbClr val="0F172A"/>
                </a:solidFill>
                <a:latin typeface="Calibri"/>
              </a:rPr>
              <a:t>2. Decisive Hypothesis Tests: </a:t>
            </a:r>
            <a:r>
              <a:rPr sz="1150" b="0">
                <a:solidFill>
                  <a:srgbClr val="334155"/>
                </a:solidFill>
                <a:latin typeface="Calibri"/>
              </a:rPr>
              <a:t>Statistically proved inverse thermal-moisture coupling (p=0), summer vs. winter moisture divergence (t=-74.74), and seasonal wind variation (F=157.64).
</a:t>
            </a:r>
            <a:r>
              <a:rPr sz="1200" b="1">
                <a:solidFill>
                  <a:srgbClr val="0F172A"/>
                </a:solidFill>
                <a:latin typeface="Calibri"/>
              </a:rPr>
              <a:t>3. High-Fidelity Predictive Models: </a:t>
            </a:r>
            <a:r>
              <a:rPr sz="1150" b="0">
                <a:solidFill>
                  <a:srgbClr val="334155"/>
                </a:solidFill>
                <a:latin typeface="Calibri"/>
              </a:rPr>
              <a:t>Achieved R² = 0.990 on apparent temperature regression and 99.58% accuracy on rain/snow classification.
</a:t>
            </a:r>
            <a:r>
              <a:rPr sz="1200" b="1">
                <a:solidFill>
                  <a:srgbClr val="0F172A"/>
                </a:solidFill>
                <a:latin typeface="Calibri"/>
              </a:rPr>
              <a:t>4. Unsupervised Atmospheric Discovery: </a:t>
            </a:r>
            <a:r>
              <a:rPr sz="1150" b="0">
                <a:solidFill>
                  <a:srgbClr val="334155"/>
                </a:solidFill>
                <a:latin typeface="Calibri"/>
              </a:rPr>
              <a:t>Identified 4 natural climate regimes explaining 94.18% of cumulative atmospheric variance.</a:t>
            </a:r>
          </a:p>
        </p:txBody>
      </p:sp>
      <p:sp>
        <p:nvSpPr>
          <p:cNvPr id="8" name="Rounded Rectangle 7"/>
          <p:cNvSpPr/>
          <p:nvPr/>
        </p:nvSpPr>
        <p:spPr>
          <a:xfrm>
            <a:off x="6172200" y="1920240"/>
            <a:ext cx="5257800" cy="43891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tIns="182880" rIns="182880" bIns="182880"/>
          <a:lstStyle/>
          <a:p>
            <a:pPr algn="l"/>
            <a:r>
              <a:rPr sz="1300" b="1">
                <a:solidFill>
                  <a:srgbClr val="4F46E5"/>
                </a:solidFill>
                <a:latin typeface="Arial"/>
              </a:rPr>
              <a:t>FUTURE EXTENSIONS &amp; FINAL Q&amp;A</a:t>
            </a:r>
          </a:p>
          <a:p>
            <a:pPr algn="l"/>
            <a:r>
              <a:rPr sz="600" b="0">
                <a:latin typeface="Calibri"/>
              </a:rPr>
              <a:t/>
            </a:r>
          </a:p>
          <a:p>
            <a:pPr algn="l"/>
            <a:r>
              <a:rPr sz="1200" b="1">
                <a:solidFill>
                  <a:srgbClr val="0F172A"/>
                </a:solidFill>
                <a:latin typeface="Calibri"/>
              </a:rPr>
              <a:t>• Deep Learning Recurrent Models: </a:t>
            </a:r>
            <a:r>
              <a:rPr sz="1150" b="0">
                <a:solidFill>
                  <a:srgbClr val="334155"/>
                </a:solidFill>
                <a:latin typeface="Calibri"/>
              </a:rPr>
              <a:t>Deploy LSTM and Temporal Fusion Transformers (TFT) for multi-horizon hourly temperature forecasting.
</a:t>
            </a:r>
            <a:r>
              <a:rPr sz="1200" b="1">
                <a:solidFill>
                  <a:srgbClr val="0F172A"/>
                </a:solidFill>
                <a:latin typeface="Calibri"/>
              </a:rPr>
              <a:t>• Real-Time Edge IoT Telemetry: </a:t>
            </a:r>
            <a:r>
              <a:rPr sz="1150" b="0">
                <a:solidFill>
                  <a:srgbClr val="334155"/>
                </a:solidFill>
                <a:latin typeface="Calibri"/>
              </a:rPr>
              <a:t>Incorporate live streaming weather station APIs with automated zero-pressure anomaly alert triggers.
</a:t>
            </a:r>
            <a:r>
              <a:rPr sz="1000" b="0">
                <a:latin typeface="Calibri"/>
              </a:rPr>
              <a:t/>
            </a:r>
          </a:p>
          <a:p>
            <a:pPr algn="ctr"/>
            <a:r>
              <a:rPr sz="2400" b="1">
                <a:solidFill>
                  <a:srgbClr val="2563EB"/>
                </a:solidFill>
                <a:latin typeface="Arial"/>
              </a:rPr>
              <a:t>THANK YOU!</a:t>
            </a:r>
          </a:p>
          <a:p>
            <a:pPr algn="ctr"/>
            <a:r>
              <a:rPr sz="1300" b="1">
                <a:solidFill>
                  <a:srgbClr val="0F172A"/>
                </a:solidFill>
                <a:latin typeface="Calibri"/>
              </a:rPr>
              <a:t>Floor is Open for Questions &amp; Technical Discussion
</a:t>
            </a:r>
          </a:p>
          <a:p>
            <a:pPr algn="ctr"/>
            <a:r>
              <a:rPr sz="1100" b="0">
                <a:solidFill>
                  <a:srgbClr val="64748B"/>
                </a:solidFill>
                <a:latin typeface="Calibri"/>
              </a:rPr>
              <a:t>Team Lead: Dhanasri Raghavender Reddy (Raghu) | 252U1R3024
Team Members: Pranav, Lokesh, Rupesh, Mouneesh</a:t>
            </a:r>
          </a:p>
        </p:txBody>
      </p:sp>
    </p:spTree>
  </p:cSld>
  <p:clrMapOvr>
    <a:masterClrMapping/>
  </p:clrMapOvr>
  <p:transition spd="med" advClick="1">
    <p:fade/>
  </p:transition>
  <p:timing>
    <p:tnLst>
      <p:par>
        <p:cTn id="1" dur="indefinite" restart="always" nodeType="tmRoot">
          <p:childTnLst>
            <p:seq concurrent="1" nextAc="seek">
              <p:cTn id="2" dur="indefinite" nodeType="mainSeq">
                <p:childTnLst>
                  <p:par>
                    <p:cTn id="3" fill="hold">
                      <p:stCondLst>
                        <p:cond delay="0"/>
                      </p:stCondLst>
                      <p:childTnLst>
                        <p:par>
                          <p:cTn id="4" fill="hold">
                            <p:stCondLst>
                              <p:cond delay="0"/>
                            </p:stCondLst>
                            <p:childTnLst>
                              <p:set>
                                <p:cBhvr>
                                  <p:cTn id="5" dur="1" fill="hold"/>
                                  <p:tgtEl>
                                    <p:spTgt spid="3"/>
                                  </p:tgtEl>
                                  <p:attrNameLst>
                                    <p:attrName>style.visibility</p:attrName>
                                  </p:attrNameLst>
                                </p:cBhvr>
                                <p:to>
                                  <p:strVal val="visible"/>
                                </p:to>
                              </p:set>
                              <p:animEffect transition="in" filter="fade">
                                <p:cBhvr>
                                  <p:cTn id="6" dur="500" fill="hold"/>
                                  <p:tgtEl>
                                    <p:spTgt spid="3"/>
                                  </p:tgtEl>
                                </p:cBhvr>
                              </p:animEffect>
                            </p:childTnLst>
                          </p:cTn>
                        </p:par>
                      </p:childTnLst>
                    </p:cTn>
                  </p:par>
                  <p:par>
                    <p:cTn id="7" fill="hold">
                      <p:stCondLst>
                        <p:cond delay="0"/>
                      </p:stCondLst>
                      <p:childTnLst>
                        <p:par>
                          <p:cTn id="8" fill="hold">
                            <p:stCondLst>
                              <p:cond delay="0"/>
                            </p:stCondLst>
                            <p:childTnLst>
                              <p:set>
                                <p:cBhvr>
                                  <p:cTn id="9" dur="1" fill="hold"/>
                                  <p:tgtEl>
                                    <p:spTgt spid="4"/>
                                  </p:tgtEl>
                                  <p:attrNameLst>
                                    <p:attrName>style.visibility</p:attrName>
                                  </p:attrNameLst>
                                </p:cBhvr>
                                <p:to>
                                  <p:strVal val="visible"/>
                                </p:to>
                              </p:set>
                              <p:animEffect transition="in" filter="fade">
                                <p:cBhvr>
                                  <p:cTn id="10" dur="500" fill="hold"/>
                                  <p:tgtEl>
                                    <p:spTgt spid="4"/>
                                  </p:tgtEl>
                                </p:cBhvr>
                              </p:animEffect>
                            </p:childTnLst>
                          </p:cTn>
                        </p:par>
                      </p:childTnLst>
                    </p:cTn>
                  </p:par>
                  <p:par>
                    <p:cTn id="11" fill="hold">
                      <p:stCondLst>
                        <p:cond delay="0"/>
                      </p:stCondLst>
                      <p:childTnLst>
                        <p:par>
                          <p:cTn id="12" fill="hold">
                            <p:stCondLst>
                              <p:cond delay="0"/>
                            </p:stCondLst>
                            <p:childTnLst>
                              <p:set>
                                <p:cBhvr>
                                  <p:cTn id="13" dur="1" fill="hold"/>
                                  <p:tgtEl>
                                    <p:spTgt spid="7"/>
                                  </p:tgtEl>
                                  <p:attrNameLst>
                                    <p:attrName>style.visibility</p:attrName>
                                  </p:attrNameLst>
                                </p:cBhvr>
                                <p:to>
                                  <p:strVal val="visible"/>
                                </p:to>
                              </p:set>
                              <p:animEffect transition="in" filter="fade">
                                <p:cBhvr>
                                  <p:cTn id="14" dur="500" fill="hold"/>
                                  <p:tgtEl>
                                    <p:spTgt spid="7"/>
                                  </p:tgtEl>
                                </p:cBhvr>
                              </p:animEffect>
                            </p:childTnLst>
                          </p:cTn>
                        </p:par>
                      </p:childTnLst>
                    </p:cTn>
                  </p:par>
                  <p:par>
                    <p:cTn id="15" fill="hold">
                      <p:stCondLst>
                        <p:cond delay="0"/>
                      </p:stCondLst>
                      <p:childTnLst>
                        <p:par>
                          <p:cTn id="16" fill="hold">
                            <p:stCondLst>
                              <p:cond delay="0"/>
                            </p:stCondLst>
                            <p:childTnLst>
                              <p:set>
                                <p:cBhvr>
                                  <p:cTn id="17" dur="1" fill="hold"/>
                                  <p:tgtEl>
                                    <p:spTgt spid="8"/>
                                  </p:tgtEl>
                                  <p:attrNameLst>
                                    <p:attrName>style.visibility</p:attrName>
                                  </p:attrNameLst>
                                </p:cBhvr>
                                <p:to>
                                  <p:strVal val="visible"/>
                                </p:to>
                              </p:set>
                              <p:animEffect transition="in" filter="fade">
                                <p:cBhvr>
                                  <p:cTn id="18" dur="500" fill="hold"/>
                                  <p:tgtEl>
                                    <p:spTgt spid="8"/>
                                  </p:tgtEl>
                                </p:cBhvr>
                              </p:animEffect>
                            </p:childTnLst>
                          </p:cTn>
                        </p:par>
                      </p:childTnLst>
                    </p:cTn>
                  </p:par>
                </p:childTnLst>
              </p:cTn>
              <p:prevCondLst>
                <p:cond evt="onPrev" delay="0">
                  <p:tgtEl>
                    <p:spTgt spid="0"/>
                  </p:tgtEl>
                </p:cond>
              </p:prevCondLst>
              <p:nextCondLst>
                <p:cond evt="onNext" delay="0">
                  <p:tgtEl>
                    <p:spTgt spid="0"/>
                  </p:tgtEl>
                </p:cond>
              </p:nextCondLst>
            </p:seq>
          </p:childTnLst>
        </p:cTn>
      </p:par>
    </p:tnLst>
    <p:bldLst>
      <p:bldSp spid="3" grpId="0" animBg="true"/>
      <p:bldSp spid="4" grpId="0" animBg="true"/>
      <p:bldSp spid="7" grpId="0" animBg="true"/>
      <p:bldSp spid="8" grpId="0" animBg="true"/>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