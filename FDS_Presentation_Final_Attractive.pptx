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METEOROLOGICAL DATA ANALYTICS &amp; PREDICTIVE MODELING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94A3B8"/>
                </a:solidFill>
                <a:latin typeface="Calibri"/>
              </a:rPr>
              <a:t>Foundations of Data Science Course Project | Empirical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5760720" cy="3840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PROJECT TEAM MEMBERS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1. Dhanasri Raghavender Reddy (252U1R3024)
</a:t>
            </a:r>
            <a:r>
              <a:rPr sz="1000">
                <a:solidFill>
                  <a:srgbClr val="94A3B8"/>
                </a:solidFill>
                <a:latin typeface="Calibri"/>
              </a:rPr>
              <a:t>   Data Product &amp; Problem Lead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2. Kasam Pranav Reddy (252U1R3039)
</a:t>
            </a:r>
            <a:r>
              <a:rPr sz="1000">
                <a:solidFill>
                  <a:srgbClr val="94A3B8"/>
                </a:solidFill>
                <a:latin typeface="Calibri"/>
              </a:rPr>
              <a:t>   Visualization, Dashboard &amp; Storytelling Lead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3. Kota Sai Mani Rupesh (252U1R3045)
</a:t>
            </a:r>
            <a:r>
              <a:rPr sz="1000">
                <a:solidFill>
                  <a:srgbClr val="94A3B8"/>
                </a:solidFill>
                <a:latin typeface="Calibri"/>
              </a:rPr>
              <a:t>   Data Preparation &amp; Feature Engineering Lead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4. Kuncham Lokesh (252U1R3046)
</a:t>
            </a:r>
            <a:r>
              <a:rPr sz="1000">
                <a:solidFill>
                  <a:srgbClr val="94A3B8"/>
                </a:solidFill>
                <a:latin typeface="Calibri"/>
              </a:rPr>
              <a:t>   Visualization, Dashboard &amp; Storytelling Lead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5. Manchikanti Venkata Mouneesh Kumar (252U1R3049)
</a:t>
            </a:r>
            <a:r>
              <a:rPr sz="1000">
                <a:solidFill>
                  <a:srgbClr val="94A3B8"/>
                </a:solidFill>
                <a:latin typeface="Calibri"/>
              </a:rPr>
              <a:t>   Statistical &amp; Predictive Analytics Lead</a:t>
            </a:r>
          </a:p>
        </p:txBody>
      </p:sp>
      <p:pic>
        <p:nvPicPr>
          <p:cNvPr id="5" name="Picture 4" descr="weather_cover_art_1791199800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66344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</a:rPr>
              <a:t>Department of Computer Science &amp; Engineering | Academic Year 2026 | Slide 01 of 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4" grpId="0" animBg="true"/>
      <p:bldSp spid="5" grpId="0" animBg="true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01 / INTRODUCTION &amp; ROADMAP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End-to-End Analytical Workflow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High-level architectural pipeline from sensor ingestion to predictive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2563EB"/>
                </a:solidFill>
                <a:latin typeface="Arial"/>
              </a:rPr>
              <a:t>02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SYSTEM ARCHITECTURE OVERVIEW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01. Raw Data Ingestion &amp; Schema Profiling
</a:t>
            </a:r>
            <a:r>
              <a:rPr sz="1000" b="0">
                <a:solidFill>
                  <a:srgbClr val="334155"/>
                </a:solidFill>
                <a:latin typeface="Calibri"/>
              </a:rPr>
              <a:t>Loading 30,711 hourly observations, verifying matrix shape, and classifying attribute data types.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02. Data Storytelling &amp; Sensor Anomaly Audit
</a:t>
            </a:r>
            <a:r>
              <a:rPr sz="1000" b="0">
                <a:solidFill>
                  <a:srgbClr val="334155"/>
                </a:solidFill>
                <a:latin typeface="Calibri"/>
              </a:rPr>
              <a:t>Exploring weather label frequencies, precipitation ratios, invariant features, and barometric dropouts.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03. Data Hygiene &amp; Feature Engineering
</a:t>
            </a:r>
            <a:r>
              <a:rPr sz="1000" b="0">
                <a:solidFill>
                  <a:srgbClr val="334155"/>
                </a:solidFill>
                <a:latin typeface="Calibri"/>
              </a:rPr>
              <a:t>Median imputation of pressure zeros, cyclical temporal decomposition, and thermodynamic divergence.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04. Statistical Testing &amp; Machine Learning
</a:t>
            </a:r>
            <a:r>
              <a:rPr sz="1000" b="0">
                <a:solidFill>
                  <a:srgbClr val="334155"/>
                </a:solidFill>
                <a:latin typeface="Calibri"/>
              </a:rPr>
              <a:t>Parametric hypothesis tests, apparent temperature regression (OLS), and rain/snow classification.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05. Unsupervised Discovery &amp; Academic Synthesis
</a:t>
            </a:r>
            <a:r>
              <a:rPr sz="1000" b="0">
                <a:solidFill>
                  <a:srgbClr val="334155"/>
                </a:solidFill>
                <a:latin typeface="Calibri"/>
              </a:rPr>
              <a:t>K-Means climate regimes, PCA dimensionality reduction, and peer-reviewed literature benchmarking.</a:t>
            </a:r>
          </a:p>
        </p:txBody>
      </p:sp>
      <p:pic>
        <p:nvPicPr>
          <p:cNvPr id="7" name="Picture 6" descr="pipeline_flow_art_1791199824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01 / PROBLEM FORMULATION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Core Objectives &amp; Scientific Motivation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Thermal perception divergence and precipitation phase boundary sensitivity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2563EB"/>
                </a:solidFill>
                <a:latin typeface="Arial"/>
              </a:rP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THE THREE CORE RESEARCH OBJECTIVES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01. Apparent Temperature Regression Modeling
</a:t>
            </a:r>
            <a:r>
              <a:rPr sz="1000" b="0">
                <a:solidFill>
                  <a:srgbClr val="334155"/>
                </a:solidFill>
                <a:latin typeface="Calibri"/>
              </a:rPr>
              <a:t>Ambient dry-bulb temperature fails to reflect true human thermal sensation due to evaporative cooling. We construct predictive regression models using multi-sensor environmental features to accurately forecast "feels-like" temperature with R² &gt; 0.98.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02. Freezing Threshold Precipitation Classification
</a:t>
            </a:r>
            <a:r>
              <a:rPr sz="1000" b="0">
                <a:solidFill>
                  <a:srgbClr val="334155"/>
                </a:solidFill>
                <a:latin typeface="Calibri"/>
              </a:rPr>
              <a:t>Precipitation phase (liquid rain vs. frozen snow) exhibits critical non-linear behavior near the 0°C freezing point. We build high-precision classifiers capable of separating precipitation states despite significant natural class imbalance.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03. Unsupervised Climate Regime Discovery
</a:t>
            </a:r>
            <a:r>
              <a:rPr sz="1000" b="0">
                <a:solidFill>
                  <a:srgbClr val="334155"/>
                </a:solidFill>
                <a:latin typeface="Calibri"/>
              </a:rPr>
              <a:t>Natural weather patterns cluster into discrete seasonal regimes. Using K-Means clustering and PCA decomposition, we extract macro-scale atmospheric patterns without requiring target label supervision.</a:t>
            </a:r>
          </a:p>
        </p:txBody>
      </p:sp>
      <p:pic>
        <p:nvPicPr>
          <p:cNvPr id="7" name="Picture 6" descr="problem_statement_art_17911998486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01 / DATASET ARCHITECTURE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Atmospheric Sensor Attribute Taxonomy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Profile of the 30,711 hourly historical sensory logs in weatherHistory.csv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2563EB"/>
                </a:solidFill>
                <a:latin typeface="Arial"/>
              </a:rP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DATASET SCHEMA &amp; ATTRIBUTE TAXONOMY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Telemetry Record Volume: </a:t>
            </a:r>
            <a:r>
              <a:rPr sz="1000" b="0">
                <a:solidFill>
                  <a:srgbClr val="334155"/>
                </a:solidFill>
                <a:latin typeface="Calibri"/>
              </a:rPr>
              <a:t>30,711 hourly historical readings spanning continuous multi-year environmental logging.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Feature Dimensionality: </a:t>
            </a:r>
            <a:r>
              <a:rPr sz="1000" b="0">
                <a:solidFill>
                  <a:srgbClr val="334155"/>
                </a:solidFill>
                <a:latin typeface="Calibri"/>
              </a:rPr>
              <a:t>12 raw features spanning thermodynamic, aerodynamic, and sky observation domains.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Continuous Predictors: </a:t>
            </a:r>
            <a:r>
              <a:rPr sz="1000" b="0">
                <a:solidFill>
                  <a:srgbClr val="334155"/>
                </a:solidFill>
                <a:latin typeface="Calibri"/>
              </a:rPr>
              <a:t>Temperature (°C), Apparent Temperature (°C), Humidity (0–1), Wind Speed (km/h), Wind Bearing (0–360°), Visibility (km), and Pressure (millibars).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Categorical Variables: </a:t>
            </a:r>
            <a:r>
              <a:rPr sz="1000" b="0">
                <a:solidFill>
                  <a:srgbClr val="334155"/>
                </a:solidFill>
                <a:latin typeface="Calibri"/>
              </a:rPr>
              <a:t>Precip Type (rain/snow), Summary (hourly sky state), and Daily Summary.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Analytical Targets: </a:t>
            </a:r>
            <a:r>
              <a:rPr sz="1000" b="0">
                <a:solidFill>
                  <a:srgbClr val="334155"/>
                </a:solidFill>
                <a:latin typeface="Calibri"/>
              </a:rPr>
              <a:t>Apparent Temperature for continuous regression; Precip Type for binary classification.</a:t>
            </a:r>
          </a:p>
        </p:txBody>
      </p:sp>
      <p:pic>
        <p:nvPicPr>
          <p:cNvPr id="7" name="Picture 6" descr="weather_station_art_17911998904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02 / DATA INSPECTION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Environment Setup &amp; Raw Data Ingestion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1–4: Package imports, CSV loading, and dimension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7C3AED"/>
                </a:solidFill>
                <a:latin typeface="Arial"/>
              </a:rP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DATA INGESTION PIPELINE (CELLS 1–4)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01. Package Ecosystem Initialization (Cells 1–2)
</a:t>
            </a:r>
            <a:r>
              <a:rPr sz="1000" b="0">
                <a:solidFill>
                  <a:srgbClr val="334155"/>
                </a:solidFill>
                <a:latin typeface="Calibri"/>
              </a:rPr>
              <a:t>Imported pandas, numpy, matplotlib.pyplot, and seaborn. Configured standardized plot aesthetics (whitegrid, 10x5 aspect ratio).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02. Tabular Data Loading (Cell 3)
</a:t>
            </a:r>
            <a:r>
              <a:rPr sz="1000" b="0">
                <a:solidFill>
                  <a:srgbClr val="334155"/>
                </a:solidFill>
                <a:latin typeface="Calibri"/>
              </a:rPr>
              <a:t>df = pd.read_csv("weatherHistory.csv") ingested the raw CSV file into an in-memory Pandas DataFrame.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03. Shape Verification (Cell 4)
</a:t>
            </a:r>
            <a:r>
              <a:rPr sz="1000" b="0">
                <a:solidFill>
                  <a:srgbClr val="334155"/>
                </a:solidFill>
                <a:latin typeface="Calibri"/>
              </a:rPr>
              <a:t>df.shape confirmed an exact matrix dimension of (30711, 12) — exactly 30,711 rows and 12 columns.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04. Record Density &amp; Head Verification (Cell 5)
</a:t>
            </a:r>
            <a:r>
              <a:rPr sz="1000" b="0">
                <a:solidFill>
                  <a:srgbClr val="334155"/>
                </a:solidFill>
                <a:latin typeface="Calibri"/>
              </a:rPr>
              <a:t>df.head() confirmed unbroken hourly telemetry logs without truncation across the initial observations.</a:t>
            </a:r>
          </a:p>
        </p:txBody>
      </p:sp>
      <p:pic>
        <p:nvPicPr>
          <p:cNvPr id="7" name="Picture 6" descr="data_ingestion_art_17911999688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02 / DATA INSPECTION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Schema Architecture &amp; Feature Data Types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5–6: Data types profiling and feature categorizations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7C3AED"/>
                </a:solidFill>
                <a:latin typeface="Arial"/>
              </a:rP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ATTRIBUTE TYPE PROFILING (CELLS 5–6)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7 Continuous Numeric Features (float64):
</a:t>
            </a:r>
            <a:r>
              <a:rPr sz="1000" b="0">
                <a:solidFill>
                  <a:srgbClr val="334155"/>
                </a:solidFill>
                <a:latin typeface="Calibri"/>
              </a:rPr>
              <a:t>Temperature, Apparent Temperature, Humidity, Wind Speed, Wind Bearing, Visibility, and Pressure.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3 Categorical Text Features (object):
</a:t>
            </a:r>
            <a:r>
              <a:rPr sz="1000" b="0">
                <a:solidFill>
                  <a:srgbClr val="334155"/>
                </a:solidFill>
                <a:latin typeface="Calibri"/>
              </a:rPr>
              <a:t>Precip Type (discrete target), Summary (hourly weather condition), and Daily Summary.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1 Constant Zero Column (float64):
</a:t>
            </a:r>
            <a:r>
              <a:rPr sz="1000" b="0">
                <a:solidFill>
                  <a:srgbClr val="334155"/>
                </a:solidFill>
                <a:latin typeface="Calibri"/>
              </a:rPr>
              <a:t>Loud Cover stores numeric 0.0 across nearly all rows, representing an uninformative constant.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1 Temporal String Field (object):
</a:t>
            </a:r>
            <a:r>
              <a:rPr sz="1000" b="0">
                <a:solidFill>
                  <a:srgbClr val="334155"/>
                </a:solidFill>
                <a:latin typeface="Calibri"/>
              </a:rPr>
              <a:t>Formatted Date contains timestamp strings with timezone offsets requiring datetime conversion.</a:t>
            </a:r>
          </a:p>
        </p:txBody>
      </p:sp>
      <p:pic>
        <p:nvPicPr>
          <p:cNvPr id="7" name="Picture 6" descr="slide6_schema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7C3AED"/>
                </a:solidFill>
                <a:latin typeface="Arial"/>
              </a:rPr>
              <a:t>02 / DATA INSPECTION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Parametric Spread &amp; Descriptive Statistics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 7: df.describe() metric ranges, dispersion, and anomaly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7C3AED"/>
                </a:solidFill>
                <a:latin typeface="Arial"/>
              </a:rP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KEY FINDINGS FROM DF.DESCRIBE()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Ambient Temperature: </a:t>
            </a:r>
            <a:r>
              <a:rPr sz="1000" b="0">
                <a:solidFill>
                  <a:srgbClr val="334155"/>
                </a:solidFill>
                <a:latin typeface="Calibri"/>
              </a:rPr>
              <a:t>Mean 11.70°C, Range -21.82°C to +39.91°C. Standard deviation of 9.57°C highlights broad temperate seasonality.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Apparent Temperature: </a:t>
            </a:r>
            <a:r>
              <a:rPr sz="1000" b="0">
                <a:solidFill>
                  <a:srgbClr val="334155"/>
                </a:solidFill>
                <a:latin typeface="Calibri"/>
              </a:rPr>
              <a:t>Mean 10.56°C, Range -27.72°C to +39.35°C. Lower extreme demonstrates substantial evaporative wind chill.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Relative Humidity: </a:t>
            </a:r>
            <a:r>
              <a:rPr sz="1000" b="0">
                <a:solidFill>
                  <a:srgbClr val="334155"/>
                </a:solidFill>
                <a:latin typeface="Calibri"/>
              </a:rPr>
              <a:t>Mean 0.72, Median 0.78 (IQR: 0.60 to 0.89), demonstrating a moist continental climate.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Surface Wind Speed: </a:t>
            </a:r>
            <a:r>
              <a:rPr sz="1000" b="0">
                <a:solidFill>
                  <a:srgbClr val="334155"/>
                </a:solidFill>
                <a:latin typeface="Calibri"/>
              </a:rPr>
              <a:t>Mean 10.82 km/h, Std 6.92 km/h, Max 63.85 km/h, with significant positive skewness.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• Critical Pressure Anomaly Discovered: </a:t>
            </a:r>
            <a:r>
              <a:rPr sz="1000" b="0">
                <a:solidFill>
                  <a:srgbClr val="334155"/>
                </a:solidFill>
                <a:latin typeface="Calibri"/>
              </a:rPr>
              <a:t>Minimum reading is exactly 0.00 mbar (physically impossible vacuum at sea level indicating sensor dropout).</a:t>
            </a:r>
          </a:p>
        </p:txBody>
      </p:sp>
      <p:pic>
        <p:nvPicPr>
          <p:cNvPr id="7" name="Picture 6" descr="slide7_describe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03 / DATA STORYTELLING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Weather Summary Label Distribution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 8: Frequency analysis of sky condition labels (df['Summary'].value_counts())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059669"/>
                </a:solidFill>
                <a:latin typeface="Arial"/>
              </a:rP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SKY CONDITION FREQUENCY ANALYSIS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01. Partly Cloudy Dominance
</a:t>
            </a:r>
            <a:r>
              <a:rPr sz="1000" b="0">
                <a:solidFill>
                  <a:srgbClr val="334155"/>
                </a:solidFill>
                <a:latin typeface="Calibri"/>
              </a:rPr>
              <a:t>The most common weather summary with 10,440 readings (34.0% of total observation volume).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02. Heavy Cloud Regimes
</a:t>
            </a:r>
            <a:r>
              <a:rPr sz="1000" b="0">
                <a:solidFill>
                  <a:srgbClr val="334155"/>
                </a:solidFill>
                <a:latin typeface="Calibri"/>
              </a:rPr>
              <a:t>Mostly Cloudy (7,978 logs) and Overcast (5,185 logs) form the second and third most prevalent weather states.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03. Clear Sky Frequency
</a:t>
            </a:r>
            <a:r>
              <a:rPr sz="1000" b="0">
                <a:solidFill>
                  <a:srgbClr val="334155"/>
                </a:solidFill>
                <a:latin typeface="Calibri"/>
              </a:rPr>
              <a:t>Clear skies occurred in 4,371 hourly observations (14.2% share).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04. Atmospheric Synthesis
</a:t>
            </a:r>
            <a:r>
              <a:rPr sz="1000" b="0">
                <a:solidFill>
                  <a:srgbClr val="334155"/>
                </a:solidFill>
                <a:latin typeface="Calibri"/>
              </a:rPr>
              <a:t>Over 76.9% of all logged intervals feature active cloud coverage, showing high cloud persistence in the region.</a:t>
            </a:r>
          </a:p>
        </p:txBody>
      </p:sp>
      <p:pic>
        <p:nvPicPr>
          <p:cNvPr id="7" name="Picture 6" descr="slide8_weath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03 / DATA STORYTELLING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Precipitation Phase Distribution &amp; Imbalance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 9: Evaluating rain vs. snow counts and the 7.1 : 1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059669"/>
                </a:solidFill>
                <a:latin typeface="Arial"/>
              </a:rP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PRECIPITATION FREQUENCY &amp; CLASS RATIO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Rain Occurrence (Cell 9): </a:t>
            </a:r>
            <a:r>
              <a:rPr sz="1000" b="0">
                <a:solidFill>
                  <a:srgbClr val="334155"/>
                </a:solidFill>
                <a:latin typeface="Calibri"/>
              </a:rPr>
              <a:t>26,929 events, constituting 87.7% of all recorded precipitation episodes.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Snow Occurrence (Cell 9): </a:t>
            </a:r>
            <a:r>
              <a:rPr sz="1000" b="0">
                <a:solidFill>
                  <a:srgbClr val="334155"/>
                </a:solidFill>
                <a:latin typeface="Calibri"/>
              </a:rPr>
              <a:t>3,782 events, constituting 12.3% of all recorded precipitation episodes.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• Target Completeness: </a:t>
            </a:r>
            <a:r>
              <a:rPr sz="1000" b="0">
                <a:solidFill>
                  <a:srgbClr val="334155"/>
                </a:solidFill>
                <a:latin typeface="Calibri"/>
              </a:rPr>
              <a:t>Exactly 0 missing values (dropna=False confirmed full target coverage).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• Severe 7.1 : 1 Class Imbalance: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heavy skew toward rain requires stratified cross-validation and evaluation metrics beyond raw accuracy (precision, recall, F1).</a:t>
            </a:r>
          </a:p>
        </p:txBody>
      </p:sp>
      <p:pic>
        <p:nvPicPr>
          <p:cNvPr id="7" name="Picture 6" descr="slide9_precip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059669"/>
                </a:solidFill>
                <a:latin typeface="Arial"/>
              </a:rPr>
              <a:t>03 / DATA STORYTELLING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Sensor Anomaly &amp; Data Integrity Audit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10–13: Null audit, zero duplicates, invariant noise, and pressure dropouts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059669"/>
                </a:solidFill>
                <a:latin typeface="Arial"/>
              </a:rP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INTEGRITY AUDIT &amp; DEFECT DISCOVERY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01. Duplicate Record Check (Cell 11)
</a:t>
            </a:r>
            <a:r>
              <a:rPr sz="1000" b="0">
                <a:solidFill>
                  <a:srgbClr val="334155"/>
                </a:solidFill>
                <a:latin typeface="Calibri"/>
              </a:rPr>
              <a:t>df.duplicated().sum() returned 0. The dataset has zero duplicate rows, confirming unique temporal observation points.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02. Column Null Audit (Cell 10)
</a:t>
            </a:r>
            <a:r>
              <a:rPr sz="1000" b="0">
                <a:solidFill>
                  <a:srgbClr val="334155"/>
                </a:solidFill>
                <a:latin typeface="Calibri"/>
              </a:rPr>
              <a:t>Only Loud Cover, Pressure, and Daily Summary contain 1 null each. Core physical predictors have zero missing values.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03. Invariant "Loud Cover" Artifact (Cell 12)
</a:t>
            </a:r>
            <a:r>
              <a:rPr sz="1000" b="0">
                <a:solidFill>
                  <a:srgbClr val="334155"/>
                </a:solidFill>
                <a:latin typeface="Calibri"/>
              </a:rPr>
              <a:t>(df["Loud Cover"] == 0).mean() is 99.997%. The column carries zero variance and must be purged.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04. The 502 Impossible Pressure Zeros (Cell 13)
</a:t>
            </a:r>
            <a:r>
              <a:rPr sz="1000" b="0">
                <a:solidFill>
                  <a:srgbClr val="334155"/>
                </a:solidFill>
                <a:latin typeface="Calibri"/>
              </a:rPr>
              <a:t>(df["Pressure"] == 0).sum() flagged 502 zero readings. Terrestrial surface pressure cannot reach 0 mbar (telemetry sensor dropouts).</a:t>
            </a:r>
          </a:p>
        </p:txBody>
      </p:sp>
      <p:pic>
        <p:nvPicPr>
          <p:cNvPr id="7" name="Picture 6" descr="slide10_pressure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04 / DATA PREPARATION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Systematic Data Hygiene Pipeline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14–21: Deduplication, column pruning, datetime UTC parsing, and median imputation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D97706"/>
                </a:solidFill>
                <a:latin typeface="Arial"/>
              </a:rP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TRANSFORMATION PIPELINE EXECUTION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Step 1: Duplicate Purge (Cell 14): </a:t>
            </a:r>
            <a:r>
              <a:rPr sz="1000" b="0">
                <a:solidFill>
                  <a:srgbClr val="334155"/>
                </a:solidFill>
                <a:latin typeface="Calibri"/>
              </a:rPr>
              <a:t>Executed df.drop_duplicates().reset_index(drop=True) to establish verified baseline hygiene.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Step 2: Target Defensive Imputation (Cell 15): </a:t>
            </a:r>
            <a:r>
              <a:rPr sz="1000" b="0">
                <a:solidFill>
                  <a:srgbClr val="334155"/>
                </a:solidFill>
                <a:latin typeface="Calibri"/>
              </a:rPr>
              <a:t>df["Precip Type"].fillna("none") applied as defensive programming against missing categorical labels.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Step 3: Invariant Feature Dropping (Cell 16): </a:t>
            </a:r>
            <a:r>
              <a:rPr sz="1000" b="0">
                <a:solidFill>
                  <a:srgbClr val="334155"/>
                </a:solidFill>
                <a:latin typeface="Calibri"/>
              </a:rPr>
              <a:t>df.drop(columns=["Loud Cover"]) removed the zero-variance column to reduce dimensionality.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Steps 4–5: Temporal UTC Parsing (Cells 17–18): </a:t>
            </a:r>
            <a:r>
              <a:rPr sz="1000" b="0">
                <a:solidFill>
                  <a:srgbClr val="334155"/>
                </a:solidFill>
                <a:latin typeface="Calibri"/>
              </a:rPr>
              <a:t>pd.to_datetime(utc=True) transformed date strings into datetime and sorted chronologically.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Step 6: Barometric Median Imputation (Cells 19–21): </a:t>
            </a:r>
            <a:r>
              <a:rPr sz="1000" b="0">
                <a:solidFill>
                  <a:srgbClr val="334155"/>
                </a:solidFill>
                <a:latin typeface="Calibri"/>
              </a:rPr>
              <a:t>Replaced 502 impossible zero pressures with NaN, then imputed using robust median of 1,016.45 mbar.</a:t>
            </a:r>
          </a:p>
        </p:txBody>
      </p:sp>
      <p:pic>
        <p:nvPicPr>
          <p:cNvPr id="7" name="Picture 6" descr="data_cleaning_art_1791199992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04 / DATA PREPARATION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Domain-Driven Feature Engineering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22–28: Temporal decomposition, seasonal mapping, and thermodynamic divergence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D97706"/>
                </a:solidFill>
                <a:latin typeface="Arial"/>
              </a:rP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DERIVED METEOROLOGICAL FEATURES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01. Temporal Decomposition (Cells 22–24)
</a:t>
            </a:r>
            <a:r>
              <a:rPr sz="1000" b="0">
                <a:solidFill>
                  <a:srgbClr val="334155"/>
                </a:solidFill>
                <a:latin typeface="Calibri"/>
              </a:rPr>
              <a:t>Extracted Year, Month, and Hour from UTC datetime timestamps to enable cyclical analysis.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02. Meteorological Season Mapping (Cells 25–26)
</a:t>
            </a:r>
            <a:r>
              <a:rPr sz="1000" b="0">
                <a:solidFill>
                  <a:srgbClr val="334155"/>
                </a:solidFill>
                <a:latin typeface="Calibri"/>
              </a:rPr>
              <a:t>Constructed month_to_season mapping: Winter (Dec–Feb), Spring (Mar–May), Summer (Jun–Aug), Autumn (Sep–Nov).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03. Temperature Divergence Index (Cell 27)
</a:t>
            </a:r>
            <a:r>
              <a:rPr sz="1000" b="0">
                <a:solidFill>
                  <a:srgbClr val="334155"/>
                </a:solidFill>
                <a:latin typeface="Calibri"/>
              </a:rPr>
              <a:t>Created Temp Diff = Temperature - Apparent Temperature, quantifying evaporative wind-chill cooling magnitude.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04. Diurnal Solar Binary Flag (Cell 28)
</a:t>
            </a:r>
            <a:r>
              <a:rPr sz="1000" b="0">
                <a:solidFill>
                  <a:srgbClr val="334155"/>
                </a:solidFill>
                <a:latin typeface="Calibri"/>
              </a:rPr>
              <a:t>Derived Is Daytime = Hour.between(6, 18), distinguishing solar radiative heating from nocturnal cooling.</a:t>
            </a:r>
          </a:p>
        </p:txBody>
      </p:sp>
      <p:pic>
        <p:nvPicPr>
          <p:cNvPr id="7" name="Picture 6" descr="feature_engineering_art_17912000177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D97706"/>
                </a:solidFill>
                <a:latin typeface="Arial"/>
              </a:rPr>
              <a:t>04 / DATA PREPARATION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Outlier Diagnostics &amp; Feature Distributions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29–33: Tukey IQR outlier rule (2.9% retained) and feature histograms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D97706"/>
                </a:solidFill>
                <a:latin typeface="Arial"/>
              </a:rP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D97706"/>
                </a:solidFill>
                <a:latin typeface="Arial"/>
              </a:rPr>
              <a:t>IQR OUTLIER DETECTION (CELLS 29–30): </a:t>
            </a:r>
            <a:r>
              <a:rPr sz="1000" b="0">
                <a:solidFill>
                  <a:srgbClr val="334155"/>
                </a:solidFill>
                <a:latin typeface="Calibri"/>
              </a:rPr>
              <a:t>Applied standard rule: Outliers &lt; Q1 - 1.5*IQR or &gt; Q3 + 1.5*IQR. Wind speed has 899 outliers (2.93% share). Retained as legitimate extreme weather gusts.</a:t>
            </a:r>
          </a:p>
        </p:txBody>
      </p:sp>
      <p:pic>
        <p:nvPicPr>
          <p:cNvPr id="7" name="Picture 6" descr="cell_31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3383280" cy="2560320"/>
          </a:xfrm>
          <a:prstGeom prst="rect">
            <a:avLst/>
          </a:prstGeom>
        </p:spPr>
      </p:pic>
      <p:pic>
        <p:nvPicPr>
          <p:cNvPr id="8" name="Picture 7" descr="cell_32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514600"/>
            <a:ext cx="3383280" cy="2560320"/>
          </a:xfrm>
          <a:prstGeom prst="rect">
            <a:avLst/>
          </a:prstGeom>
        </p:spPr>
      </p:pic>
      <p:pic>
        <p:nvPicPr>
          <p:cNvPr id="9" name="Picture 8" descr="cell_33_ou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514600"/>
            <a:ext cx="338328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2578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WIND SPEED BOXPLOT (CELL 31)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Upper threshold 24.2 km/h; storm tail reaches 63.85 km/h.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2578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TEMPERATURE HISTOGRAM (CELL 32)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Bimodal profile reflecting distinct summer and winter regimes.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2578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HUMIDITY HISTOGRAM (CELL 33)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Pronounced left-skew with 0.78 median dampness level.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30" fill="hold">
                      <p:stCondLst>
                        <p:cond delay="540"/>
                      </p:stCondLst>
                      <p:childTnLst>
                        <p:set>
                          <p:cBhvr>
                            <p:cTn id="13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" dur="3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0" fill="hold">
                      <p:stCondLst>
                        <p:cond delay="720"/>
                      </p:stCondLst>
                      <p:childTnLst>
                        <p:set>
                          <p:cBhvr>
                            <p:cTn id="14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3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  <p:bldSp spid="8" grpId="0" animBg="true"/>
      <p:bldSp spid="9" grpId="0" animBg="true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05 / STATISTICAL &amp; PREDICTIVE ANALYTICS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Covariance Matrix &amp; Annual Seasonality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34–40: 7-feature correlation heatmap and 10-year monthly temperature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E11D48"/>
                </a:solidFill>
                <a:latin typeface="Arial"/>
              </a:rPr>
              <a:t>14 / 22</a:t>
            </a:r>
          </a:p>
        </p:txBody>
      </p:sp>
      <p:pic>
        <p:nvPicPr>
          <p:cNvPr id="6" name="Picture 5" descr="cell_35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3931920" cy="3291840"/>
          </a:xfrm>
          <a:prstGeom prst="rect">
            <a:avLst/>
          </a:prstGeom>
        </p:spPr>
      </p:pic>
      <p:pic>
        <p:nvPicPr>
          <p:cNvPr id="7" name="Picture 6" descr="cell_37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83080"/>
            <a:ext cx="39319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0" y="1783080"/>
            <a:ext cx="2499055" cy="3291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E11D48"/>
                </a:solidFill>
                <a:latin typeface="Arial"/>
              </a:rPr>
              <a:t>KEY CORRELATIONS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Temp &amp; Apparent:
</a:t>
            </a:r>
            <a:r>
              <a:rPr sz="950" b="0">
                <a:solidFill>
                  <a:srgbClr val="334155"/>
                </a:solidFill>
                <a:latin typeface="Calibri"/>
              </a:rPr>
              <a:t>r = +0.992 collinearity.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Temp &amp; Humidity:
</a:t>
            </a:r>
            <a:r>
              <a:rPr sz="950" b="0">
                <a:solidFill>
                  <a:srgbClr val="334155"/>
                </a:solidFill>
                <a:latin typeface="Calibri"/>
              </a:rPr>
              <a:t>r = -0.663 inverse link.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Monthly Cycle:
</a:t>
            </a:r>
            <a:r>
              <a:rPr sz="950" b="0">
                <a:solidFill>
                  <a:srgbClr val="334155"/>
                </a:solidFill>
                <a:latin typeface="Calibri"/>
              </a:rPr>
              <a:t>Jan nadir (0.7°C) to July apex (23.1°C).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E11D48"/>
                </a:solidFill>
                <a:latin typeface="Arial"/>
              </a:rPr>
              <a:t>MULTIVARIATE CORRELATION ANALYSIS (CELLS 34–40): </a:t>
            </a:r>
            <a:r>
              <a:rPr sz="950" b="0">
                <a:solidFill>
                  <a:srgbClr val="334155"/>
                </a:solidFill>
                <a:latin typeface="Calibri"/>
              </a:rPr>
              <a:t>Temperature and apparent temperature form the primary collinear axis (r = 0.992), while relative humidity provides orthogonal variance essential for regression modeling. Annual cycle confirms consistent oscillation over the 10-year span.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30" fill="hold">
                      <p:stCondLst>
                        <p:cond delay="540"/>
                      </p:stCondLst>
                      <p:childTnLst>
                        <p:set>
                          <p:cBhvr>
                            <p:cTn id="13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" dur="3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0" fill="hold">
                      <p:stCondLst>
                        <p:cond delay="720"/>
                      </p:stCondLst>
                      <p:childTnLst>
                        <p:set>
                          <p:cBhvr>
                            <p:cTn id="14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3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  <p:bldSp spid="8" grpId="0" animBg="true"/>
      <p:bldSp spid="9" grpId="0" animBg="true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05 / STATISTICAL &amp; PREDICTIVE ANALYTICS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Parametric Hypothesis Testing Framework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41–43: Pearson correlation, Welch two-sample t-test, and one-way ANOVA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E11D48"/>
                </a:solidFill>
                <a:latin typeface="Arial"/>
              </a:rP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11D48"/>
                </a:solidFill>
                <a:latin typeface="Arial"/>
              </a:rPr>
              <a:t>HYPOTHESIS TESTING &amp; P-VALUE AUDIT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Test 1: Pearson Correlation (Cell 41)
</a:t>
            </a:r>
            <a:r>
              <a:rPr sz="1000" b="0">
                <a:solidFill>
                  <a:srgbClr val="334155"/>
                </a:solidFill>
                <a:latin typeface="Calibri"/>
              </a:rPr>
              <a:t>• Target: Temperature vs. Relative Humidity
• Result: r = -0.66347, p-value ≈ 0.0 (p &lt; 1e-15)
• Scientific Inference: Decisively rejects H₀. Warmer air sustains higher moisture capacity without reaching saturation ("hotter means drier").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Test 2: Welch Two-Sample t-Test (Cell 42)
</a:t>
            </a:r>
            <a:r>
              <a:rPr sz="1000" b="0">
                <a:solidFill>
                  <a:srgbClr val="334155"/>
                </a:solidFill>
                <a:latin typeface="Calibri"/>
              </a:rPr>
              <a:t>• Target: Summer Humidity vs. Winter Humidity
• Result: t = -74.74, p-value ≈ 0.0
• Scientific Inference: Decisively rejects H₀. Summer humidity is profoundly lower than winter humidity.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Test 3: One-Way ANOVA across Seasons (Cell 43)
</a:t>
            </a:r>
            <a:r>
              <a:rPr sz="1000" b="0">
                <a:solidFill>
                  <a:srgbClr val="334155"/>
                </a:solidFill>
                <a:latin typeface="Calibri"/>
              </a:rPr>
              <a:t>• Target: Surface Wind Speed across 4 Seasons
• Result: F = 157.64, p-value = 2.11e-101
• Scientific Inference: Rejects H₀. Wind kinetic energy varies substantially across seasons.</a:t>
            </a:r>
          </a:p>
        </p:txBody>
      </p:sp>
      <p:pic>
        <p:nvPicPr>
          <p:cNvPr id="7" name="Picture 6" descr="cell_40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05 / STATISTICAL &amp; PREDICTIVE ANALYTICS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Linear Regression: Apparent Temperature Modeling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44–51: OLS regression model: R² = 0.990, RMSE = 1.08°C, MAE = 0.85°C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E11D48"/>
                </a:solidFill>
                <a:latin typeface="Arial"/>
              </a:rPr>
              <a:t>16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E11D48"/>
                </a:solidFill>
                <a:latin typeface="Arial"/>
              </a:rPr>
              <a:t>0.98997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R² SCORE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Explains 99.0% variance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rial"/>
              </a:rPr>
              <a:t>1.080°C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RMSE ERROR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Tight residual dispersion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059669"/>
                </a:solidFill>
                <a:latin typeface="Arial"/>
              </a:rPr>
              <a:t>0.847°C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MAE ERROR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Average error &lt; 1°C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80 / 20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TRAIN/TEST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Random state = 42</a:t>
            </a:r>
          </a:p>
        </p:txBody>
      </p:sp>
      <p:pic>
        <p:nvPicPr>
          <p:cNvPr id="10" name="Picture 9" descr="slide14_reg_co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5212080" cy="3520440"/>
          </a:xfrm>
          <a:prstGeom prst="rect">
            <a:avLst/>
          </a:prstGeom>
        </p:spPr>
      </p:pic>
      <p:pic>
        <p:nvPicPr>
          <p:cNvPr id="11" name="Picture 10" descr="cell_50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88920"/>
            <a:ext cx="5212080" cy="35204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30" fill="hold">
                      <p:stCondLst>
                        <p:cond delay="540"/>
                      </p:stCondLst>
                      <p:childTnLst>
                        <p:set>
                          <p:cBhvr>
                            <p:cTn id="13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" dur="3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0" fill="hold">
                      <p:stCondLst>
                        <p:cond delay="720"/>
                      </p:stCondLst>
                      <p:childTnLst>
                        <p:set>
                          <p:cBhvr>
                            <p:cTn id="14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3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0" fill="hold">
                      <p:stCondLst>
                        <p:cond delay="900"/>
                      </p:stCondLst>
                      <p:childTnLst>
                        <p:set>
                          <p:cBhvr>
                            <p:cTn id="151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2" dur="3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60" fill="hold">
                      <p:stCondLst>
                        <p:cond delay="1080"/>
                      </p:stCondLst>
                      <p:childTnLst>
                        <p:set>
                          <p:cBhvr>
                            <p:cTn id="16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2" dur="3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  <p:bldSp spid="8" grpId="0" animBg="true"/>
      <p:bldSp spid="9" grpId="0" animBg="true"/>
      <p:bldSp spid="10" grpId="0" animBg="true"/>
      <p:bldSp spid="11" grpId="0" animBg="true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05 / STATISTICAL &amp; PREDICTIVE ANALYTICS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Logistic Classification: Rain vs. Snow Prediction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52–59: Binary phase boundary classification with 99.58% test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E11D48"/>
                </a:solidFill>
                <a:latin typeface="Arial"/>
              </a:rPr>
              <a:t>17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059669"/>
                </a:solidFill>
                <a:latin typeface="Arial"/>
              </a:rPr>
              <a:t>99.58%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ACCURACY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Test partition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rial"/>
              </a:rPr>
              <a:t>99.72%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PRECISION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Positive class: 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99.80%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RECALL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High sensitivity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91640"/>
            <a:ext cx="24688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>
            <a:normAutofit/>
          </a:bodyPr>
          <a:lstStyle/>
          <a:p>
            <a:pPr algn="ctr"/>
            <a:r>
              <a:rPr sz="2200" b="1">
                <a:solidFill>
                  <a:srgbClr val="E11D48"/>
                </a:solidFill>
                <a:latin typeface="Arial"/>
              </a:rPr>
              <a:t>99.76%</a:t>
            </a:r>
          </a:p>
          <a:p>
            <a:pPr algn="ctr"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F1-SCORE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  <a:latin typeface="Calibri"/>
              </a:rPr>
              <a:t>Harmonic balance</a:t>
            </a:r>
          </a:p>
        </p:txBody>
      </p:sp>
      <p:pic>
        <p:nvPicPr>
          <p:cNvPr id="10" name="Picture 9" descr="cell_59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5120640" cy="3520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2788920"/>
            <a:ext cx="5212080" cy="3520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E11D48"/>
                </a:solidFill>
                <a:latin typeface="Arial"/>
              </a:rPr>
              <a:t>PHASE BOUNDARY RESOLUTION (CELLS 52–59)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Target Definition: </a:t>
            </a:r>
            <a:r>
              <a:rPr sz="1000" b="0">
                <a:solidFill>
                  <a:srgbClr val="334155"/>
                </a:solidFill>
                <a:latin typeface="Calibri"/>
              </a:rPr>
              <a:t>Is Rain = 1 (26,929 events), Is Rain = 0 (3,782 snow events).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Stratified Sampling: </a:t>
            </a:r>
            <a:r>
              <a:rPr sz="1000" b="0">
                <a:solidFill>
                  <a:srgbClr val="334155"/>
                </a:solidFill>
                <a:latin typeface="Calibri"/>
              </a:rPr>
              <a:t>Preserved exact 87.7% rain / 12.3% snow class balance in test set.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Model Training: </a:t>
            </a:r>
            <a:r>
              <a:rPr sz="1000" b="0">
                <a:solidFill>
                  <a:srgbClr val="334155"/>
                </a:solidFill>
                <a:latin typeface="Calibri"/>
              </a:rPr>
              <a:t>LogisticRegression(max_iter=1000) on scaled features (Temp, Humidity, Wind, Pressure).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Freezing Point Detection: </a:t>
            </a:r>
            <a:r>
              <a:rPr sz="1000" b="0">
                <a:solidFill>
                  <a:srgbClr val="334155"/>
                </a:solidFill>
                <a:latin typeface="Calibri"/>
              </a:rPr>
              <a:t>Virtually zero false positives or false negatives. The logistic sigmoid cleanly isolates the sharp 0°C freezing point.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30" fill="hold">
                      <p:stCondLst>
                        <p:cond delay="540"/>
                      </p:stCondLst>
                      <p:childTnLst>
                        <p:set>
                          <p:cBhvr>
                            <p:cTn id="13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" dur="3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0" fill="hold">
                      <p:stCondLst>
                        <p:cond delay="720"/>
                      </p:stCondLst>
                      <p:childTnLst>
                        <p:set>
                          <p:cBhvr>
                            <p:cTn id="14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3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0" fill="hold">
                      <p:stCondLst>
                        <p:cond delay="900"/>
                      </p:stCondLst>
                      <p:childTnLst>
                        <p:set>
                          <p:cBhvr>
                            <p:cTn id="151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2" dur="3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60" fill="hold">
                      <p:stCondLst>
                        <p:cond delay="1080"/>
                      </p:stCondLst>
                      <p:childTnLst>
                        <p:set>
                          <p:cBhvr>
                            <p:cTn id="16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2" dur="3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  <p:bldSp spid="8" grpId="0" animBg="true"/>
      <p:bldSp spid="9" grpId="0" animBg="true"/>
      <p:bldSp spid="10" grpId="0" animBg="true"/>
      <p:bldSp spid="11" grpId="0" animBg="true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05 / STATISTICAL &amp; PREDICTIVE ANALYTICS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Unsupervised Learning: K-Means &amp; PCA Decomposition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60–67: Elbow method (k=4), silhouette score 0.284, PCA top-3 components (94.18%)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E11D48"/>
                </a:solidFill>
                <a:latin typeface="Arial"/>
              </a:rPr>
              <a:t>18 / 22</a:t>
            </a:r>
          </a:p>
        </p:txBody>
      </p:sp>
      <p:pic>
        <p:nvPicPr>
          <p:cNvPr id="6" name="Picture 5" descr="cell_62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3383280" cy="2514600"/>
          </a:xfrm>
          <a:prstGeom prst="rect">
            <a:avLst/>
          </a:prstGeom>
        </p:spPr>
      </p:pic>
      <p:pic>
        <p:nvPicPr>
          <p:cNvPr id="7" name="Picture 6" descr="cell_65_ou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91640"/>
            <a:ext cx="3383280" cy="2514600"/>
          </a:xfrm>
          <a:prstGeom prst="rect">
            <a:avLst/>
          </a:prstGeom>
        </p:spPr>
      </p:pic>
      <p:pic>
        <p:nvPicPr>
          <p:cNvPr id="8" name="Picture 7" descr="cell_67_ou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91640"/>
            <a:ext cx="338328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389120"/>
            <a:ext cx="10728655" cy="19202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11D48"/>
                </a:solidFill>
                <a:latin typeface="Arial"/>
              </a:rPr>
              <a:t>UNSUPERVISED CLUSTER &amp; PCA DECOMPOSITION ANALYSIS: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1. K-Means Elbow Inflection (k=2 to 7): </a:t>
            </a:r>
            <a:r>
              <a:rPr sz="1000" b="0">
                <a:solidFill>
                  <a:srgbClr val="334155"/>
                </a:solidFill>
                <a:latin typeface="Calibri"/>
              </a:rPr>
              <a:t>Clear knee inflection at k = 4 regimes. Evaluated silhouette score of 0.2842.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2. Four Meteorological Regimes: </a:t>
            </a:r>
            <a:r>
              <a:rPr sz="1000" b="0">
                <a:solidFill>
                  <a:srgbClr val="334155"/>
                </a:solidFill>
                <a:latin typeface="Calibri"/>
              </a:rPr>
              <a:t>Cluster 0: Warm &amp; Dry Summer Days | Cluster 1: Cold &amp; Saturated Freezes | Cluster 2: Moderate Overcast | Cluster 3: High-Wind Storms.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3. PCA Variance Decomposition: </a:t>
            </a:r>
            <a:r>
              <a:rPr sz="1000" b="0">
                <a:solidFill>
                  <a:srgbClr val="334155"/>
                </a:solidFill>
                <a:latin typeface="Calibri"/>
              </a:rPr>
              <a:t>PC1 explains 46.90% (Thermal-Moisture axis), PC2 explains 26.46% (Pressure-Wind axis), PC3 explains 20.82%, PC4 explains 5.82%. Cumulative top 3 PCs capture 94.18% of total atmospheric variance.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30" fill="hold">
                      <p:stCondLst>
                        <p:cond delay="540"/>
                      </p:stCondLst>
                      <p:childTnLst>
                        <p:set>
                          <p:cBhvr>
                            <p:cTn id="13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" dur="3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0" fill="hold">
                      <p:stCondLst>
                        <p:cond delay="720"/>
                      </p:stCondLst>
                      <p:childTnLst>
                        <p:set>
                          <p:cBhvr>
                            <p:cTn id="14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3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  <p:bldSp spid="8" grpId="0" animBg="true"/>
      <p:bldSp spid="9" grpId="0" animBg="true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E11D48"/>
                </a:solidFill>
                <a:latin typeface="Arial"/>
              </a:rPr>
              <a:t>05 / STATISTICAL &amp; PREDICTIVE ANALYTICS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Multi-Panel Dashboard Wrap-Up &amp; Summary Ledger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Notebook Cells 68–69: Consolidated 2x2 dashboard and master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E11D48"/>
                </a:solidFill>
                <a:latin typeface="Arial"/>
              </a:rPr>
              <a:t>19 / 22</a:t>
            </a:r>
          </a:p>
        </p:txBody>
      </p:sp>
      <p:pic>
        <p:nvPicPr>
          <p:cNvPr id="6" name="Picture 5" descr="cell_68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39496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78308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E11D48"/>
                </a:solidFill>
                <a:latin typeface="Arial"/>
              </a:rPr>
              <a:t>MASTER ANALYTICAL METRICS (CELL 69)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Regression Metrics (Apparent Temperature):
</a:t>
            </a:r>
            <a:r>
              <a:rPr sz="1000" b="0">
                <a:solidFill>
                  <a:srgbClr val="334155"/>
                </a:solidFill>
                <a:latin typeface="Calibri"/>
              </a:rPr>
              <a:t>• R² Score: 0.989973 (Captures 99.0% apparent temp variance)
• Root Mean Squared Error (RMSE): 1.080174°C
• Mean Absolute Error (MAE): 0.846844°C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Classification Metrics (Rain vs. Snow):
</a:t>
            </a:r>
            <a:r>
              <a:rPr sz="1000" b="0">
                <a:solidFill>
                  <a:srgbClr val="334155"/>
                </a:solidFill>
                <a:latin typeface="Calibri"/>
              </a:rPr>
              <a:t>• Classification Accuracy: 0.995768 (99.58%)
• Classification Precision: 0.997218 (99.72%)
• Classification Recall: 0.997958 (99.80%)
• Classification F1-Score: 0.997588 (99.76%)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Unsupervised Clustering &amp; PCA:
</a:t>
            </a:r>
            <a:r>
              <a:rPr sz="1000" b="0">
                <a:solidFill>
                  <a:srgbClr val="334155"/>
                </a:solidFill>
                <a:latin typeface="Calibri"/>
              </a:rPr>
              <a:t>• Best Silhouette Score (k=4): 0.284216
• Cumulative Top-3 PCA Variance: 94.18%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06 / RESEARCH SYNTHESIS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Contemporary Research Literature Grounding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Situating project methodology against 5 landmark peer-reviewed publications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2563EB"/>
                </a:solidFill>
                <a:latin typeface="Arial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THE 5 PEER-REVIEWED RESEARCH PAPERS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1. Zubair et al. (2024, Data in Brief):
</a:t>
            </a:r>
            <a:r>
              <a:rPr sz="950" b="0">
                <a:solidFill>
                  <a:srgbClr val="334155"/>
                </a:solidFill>
                <a:latin typeface="Calibri"/>
              </a:rPr>
              <a:t>Meteorological sensor dataset architectures, anomaly detection protocols, and missing sensor dropout imputation.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2. Shrivastava et al. (2023, J. Forecasting):
</a:t>
            </a:r>
            <a:r>
              <a:rPr sz="950" b="0">
                <a:solidFill>
                  <a:srgbClr val="334155"/>
                </a:solidFill>
                <a:latin typeface="Calibri"/>
              </a:rPr>
              <a:t>Atmospheric time series forecasting and apparent temperature modeling using non-linear machine learning.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3. Jain et al. (2022, ScienceDirect):
</a:t>
            </a:r>
            <a:r>
              <a:rPr sz="950" b="0">
                <a:solidFill>
                  <a:srgbClr val="334155"/>
                </a:solidFill>
                <a:latin typeface="Calibri"/>
              </a:rPr>
              <a:t>Predictive analytics on weather parameters, thermal covariance models, and statistical feature engineering.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4. İşler, Kaya &amp; Kılıç (2025, MDPI Sensors):
</a:t>
            </a:r>
            <a:r>
              <a:rPr sz="950" b="0">
                <a:solidFill>
                  <a:srgbClr val="334155"/>
                </a:solidFill>
                <a:latin typeface="Calibri"/>
              </a:rPr>
              <a:t>IoT environmental telemetry anomaly detection and precipitation state classification.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5. Choudary et al. (2025, Nature Sci Rep):
</a:t>
            </a:r>
            <a:r>
              <a:rPr sz="950" b="0">
                <a:solidFill>
                  <a:srgbClr val="334155"/>
                </a:solidFill>
                <a:latin typeface="Calibri"/>
              </a:rPr>
              <a:t>Machine learning climate regime clustering, PCA dimensional reduction, and seasonal transition analysis.</a:t>
            </a:r>
          </a:p>
        </p:txBody>
      </p:sp>
      <p:pic>
        <p:nvPicPr>
          <p:cNvPr id="7" name="Picture 6" descr="research_literature_art_1791199913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06 / RESEARCH SYNTHESIS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Comparative Methodology Matrix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Evaluating our empirical findings against published benchmarks from the 5 research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2563EB"/>
                </a:solidFill>
                <a:latin typeface="Arial"/>
              </a:rPr>
              <a:t>21 /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58521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280160"/>
                <a:gridCol w="210312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Research Paper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Published Benchmark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Our Project Alignment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Zubair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Sensor Hygiene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Dropout ~1.8%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Matched: Imputed 502 zero-pressure dropouts (1.63%) with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Shrivastava et al. (2023)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Thermal Comfort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R² = 0.975–0.991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Surpassed: Linear model achieved R² = 0.990 with MAE = 0.85°C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Jain et al.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Parametric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Inverse T-H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Validated: Pearson r = -0.663, Welch t = -74.74 (p ≈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İşler et al. (2025)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Precipitation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Accuracy 98.9–99.4%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Surpassed: Logistic model achieved 99.58% accuracy, 99.76% F1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Choudary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Clustering &amp; 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Top-3 PCs &gt;90%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Validated: Top-3 PCs capture 94.18% variance; k=4 regimes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lide19_benchmark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3080"/>
            <a:ext cx="457200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950" b="1">
                <a:solidFill>
                  <a:srgbClr val="2563EB"/>
                </a:solidFill>
                <a:latin typeface="Arial"/>
              </a:rPr>
              <a:t>06 / RESEARCH SYNTHESIS</a:t>
            </a:r>
          </a:p>
          <a:p>
            <a:pPr>
              <a:spcBef>
                <a:spcPts val="300"/>
              </a:spcBef>
            </a:pPr>
            <a:r>
              <a:rPr sz="2100" b="1">
                <a:solidFill>
                  <a:srgbClr val="0F172A"/>
                </a:solidFill>
                <a:latin typeface="Arial"/>
              </a:rPr>
              <a:t>Project Conclusion &amp; Future Scope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  <a:latin typeface="Calibri"/>
              </a:rPr>
              <a:t>Engineering takeaways, real-world utility, and prospective technology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Foundations of Data Science Course Project | Meteorological Telemetry Analytics</a:t>
            </a:r>
            <a:r>
              <a:t>                                                                                </a:t>
            </a:r>
            <a:r>
              <a:rPr sz="950" b="1">
                <a:solidFill>
                  <a:srgbClr val="2563EB"/>
                </a:solidFill>
                <a:latin typeface="Arial"/>
              </a:rP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SUMMARY OF PROJECT OUTCOMES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01. Rigorous Data Cleaning Pipeline
</a:t>
            </a:r>
            <a:r>
              <a:rPr sz="1000" b="0">
                <a:solidFill>
                  <a:srgbClr val="334155"/>
                </a:solidFill>
                <a:latin typeface="Calibri"/>
              </a:rPr>
              <a:t>Cleaned 30,711 observations, eliminated invariant Loud Cover, and imputed 502 barometric dropouts.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02. Decisive Parametric Hypothesis Tests
</a:t>
            </a:r>
            <a:r>
              <a:rPr sz="1000" b="0">
                <a:solidFill>
                  <a:srgbClr val="334155"/>
                </a:solidFill>
                <a:latin typeface="Calibri"/>
              </a:rPr>
              <a:t>Statistically confirmed inverse thermal-moisture coupling (p=0), seasonal moisture divergence (t=-74.74), and wind kinetic variance (F=157.64).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03. State-of-the-Art Predictive Fidelity
</a:t>
            </a:r>
            <a:r>
              <a:rPr sz="1000" b="0">
                <a:solidFill>
                  <a:srgbClr val="334155"/>
                </a:solidFill>
                <a:latin typeface="Calibri"/>
              </a:rPr>
              <a:t>Achieved R² = 0.990 on apparent temperature regression and 99.58% accuracy on rain/snow classification.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04. Smart-City Future Roadmap
</a:t>
            </a:r>
            <a:r>
              <a:rPr sz="1000" b="0">
                <a:solidFill>
                  <a:srgbClr val="334155"/>
                </a:solidFill>
                <a:latin typeface="Calibri"/>
              </a:rPr>
              <a:t>Deployment to edge IoT micro-stations, live real-time municipal flood alerting, and renewable energy wind turbine management.</a:t>
            </a:r>
          </a:p>
        </p:txBody>
      </p:sp>
      <p:pic>
        <p:nvPicPr>
          <p:cNvPr id="7" name="Picture 6" descr="future_deployment_art_17911999357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480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3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" fill="hold">
                      <p:stCondLst>
                        <p:cond delay="18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3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fill="hold">
                      <p:stCondLst>
                        <p:cond delay="36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3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pTgt spid="0"/>
                  </p:tgtEl>
                </p:cond>
              </p:prevCondLst>
              <p:nextCondLst>
                <p:cond evt="onNext" delay="0">
                  <p:tgtEl>
                    <p:spTgt spid="0"/>
                  </p:tgtEl>
                </p:cond>
              </p:nextCondLst>
            </p:seq>
          </p:childTnLst>
        </p:cTn>
      </p:par>
    </p:tnLst>
    <p:bldLst>
      <p:bldSp spid="3" grpId="0" animBg="true"/>
      <p:bldSp spid="6" grpId="0" animBg="true"/>
      <p:bldSp spid="7" grpId="0" animBg="tru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